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Work Sans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CD31F1-C999-4C8B-B3C0-790825E4A1CD}">
  <a:tblStyle styleId="{48CD31F1-C999-4C8B-B3C0-790825E4A1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D9FC766-557D-4ABE-907E-E219CA39F8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WorkSans-regular.fntdata"/><Relationship Id="rId21" Type="http://schemas.openxmlformats.org/officeDocument/2006/relationships/slide" Target="slides/slide15.xml"/><Relationship Id="rId24" Type="http://schemas.openxmlformats.org/officeDocument/2006/relationships/font" Target="fonts/WorkSans-italic.fntdata"/><Relationship Id="rId23" Type="http://schemas.openxmlformats.org/officeDocument/2006/relationships/font" Target="fonts/Work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regular.fntdata"/><Relationship Id="rId25" Type="http://schemas.openxmlformats.org/officeDocument/2006/relationships/font" Target="fonts/WorkSans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643d2a54fead8b7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h643d2a54fead8b76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643d2a54fead8b7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643d2a54fead8b76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643d2a54fead8b7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643d2a54fead8b76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007048"/>
            <a:ext cx="109728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007048"/>
            <a:ext cx="10972800" cy="9525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658350" y="4283273"/>
            <a:ext cx="1924050" cy="352425"/>
          </a:xfrm>
          <a:prstGeom prst="roundRect">
            <a:avLst>
              <a:gd fmla="val 16216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378523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09600" y="2222152"/>
            <a:ext cx="48458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PROYECTO INTERMODULAR · DAW 2026/2027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574577"/>
            <a:ext cx="4013001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StockLink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3359348"/>
            <a:ext cx="781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rPr>
              <a:t>Sistema de gestión de stock multiempresa centralizado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52705" y="4274843"/>
            <a:ext cx="23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Work Sans"/>
                <a:ea typeface="Work Sans"/>
                <a:cs typeface="Work Sans"/>
                <a:sym typeface="Work Sans"/>
              </a:rPr>
              <a:t>Daniel Jiménez · Pepe Gil · Daniel Ortiz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810750" y="4359473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rPr>
              <a:t>Campus Cámara Sevilla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2184188" y="4561900"/>
            <a:ext cx="3505200" cy="1790700"/>
          </a:xfrm>
          <a:prstGeom prst="roundRect">
            <a:avLst>
              <a:gd fmla="val 63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917988" y="4561900"/>
            <a:ext cx="3505200" cy="1790700"/>
          </a:xfrm>
          <a:prstGeom prst="roundRect">
            <a:avLst>
              <a:gd fmla="val 63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425" y="4876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0225" y="4876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4025" y="4876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27962" y="500005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84712" y="500005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ANÁLISIS INICIAL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Identificación del Público Objetivo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2327938" y="5317938"/>
            <a:ext cx="377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¿A quién va dirigido StockLink? 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327951" y="5676325"/>
            <a:ext cx="314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Pequeñas y medianas empresas, empresas con uno o varios locales,  Comercio minorista, hostelería, farmacias..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184688" y="5317950"/>
            <a:ext cx="377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Problemas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184688" y="5588975"/>
            <a:ext cx="297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Muchas de estas empresas todavía gestionan el stock de una forma bastante manual, utilizando hojas de cálculo, papel o incluso de memoria. 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1281750" y="1823738"/>
            <a:ext cx="5353200" cy="198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281750" y="1540250"/>
            <a:ext cx="38100" cy="2853600"/>
          </a:xfrm>
          <a:prstGeom prst="rect">
            <a:avLst/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618000" y="1540250"/>
            <a:ext cx="7327200" cy="3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StockLink está pensado principalmente para pequeñas y medianas empresas que tienen que gestionar su inventario. Por ejemplo, puede ser una tienda, un restaurante, una farmacia o un almacén.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El problema que hemos detectado es que muchas de estas empresas todavía gestionan el stock de una forma bastante manual, utilizando hojas de cálculo, papel o incluso de memoria. Esto puede provocar errores y dificultar saber cuánto stock tienen realmente.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Además, hemos tenido en cuenta empresas que tienen varios locales. En estos casos, con StockLink se podría acceder desde una misma sesión a los diferentes locales y consultar su inventario sin tener que utilizar una cuenta diferente para cada uno.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Por tanto, nuestro objetivo es centralizar toda esta información y hacer que la gestión del stock sea más sencilla.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696225" y="4560200"/>
            <a:ext cx="3875700" cy="828600"/>
          </a:xfrm>
          <a:prstGeom prst="roundRect">
            <a:avLst>
              <a:gd fmla="val 114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96225" y="5541275"/>
            <a:ext cx="3875700" cy="828600"/>
          </a:xfrm>
          <a:prstGeom prst="roundRect">
            <a:avLst>
              <a:gd fmla="val 114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ANÁLISIS INICIAL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Objetivos Principales de la Interfaz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80150" y="4614725"/>
            <a:ext cx="647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🎯 Claridad y usabilidad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34350" y="5017400"/>
            <a:ext cx="616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Interfaz sencilla e intuitiva.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80150" y="5730825"/>
            <a:ext cx="647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🧭 Navegación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281750" y="1301428"/>
            <a:ext cx="7327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Nuestros objetivos específicos están centrados principalmente en conseguir una buena interfaz de usuario.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Primero buscamos que la aplicación sea clara y sencilla, ya que está pensada también para personas con un nivel tecnológico medio-bajo.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Después, queremos conseguir una navegación intuitiva, para que el usuario pueda encontrar rápidamente lo que necesita sin tener que dar muchas vueltas.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Otro punto importante es que sea responsive, es decir, que pueda utilizarse correctamente tanto en ordenador como en tablet o móvil.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También queremos mantener una consistencia visual, utilizando los mismos colores, tipografías y componentes en toda la aplicación.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006675" y="1325075"/>
            <a:ext cx="30000" cy="2431200"/>
          </a:xfrm>
          <a:prstGeom prst="rect">
            <a:avLst/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006675" y="6113550"/>
            <a:ext cx="616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Acceso rápido y organizado a las funciones.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200400" y="4614725"/>
            <a:ext cx="4184700" cy="828600"/>
          </a:xfrm>
          <a:prstGeom prst="roundRect">
            <a:avLst>
              <a:gd fmla="val 114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284325" y="4669250"/>
            <a:ext cx="647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📱 Responsive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438525" y="5071925"/>
            <a:ext cx="616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Adaptación a PC, tablet y móvil.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200401" y="5658975"/>
            <a:ext cx="4184700" cy="828600"/>
          </a:xfrm>
          <a:prstGeom prst="roundRect">
            <a:avLst>
              <a:gd fmla="val 114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284313" y="5713500"/>
            <a:ext cx="647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♿ Accesibilidad y feedback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333638" y="6082525"/>
            <a:ext cx="616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Información sobre acciones, errores y estados del stock.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1000350" y="4876950"/>
            <a:ext cx="10191300" cy="18747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16"/>
          <p:cNvGraphicFramePr/>
          <p:nvPr/>
        </p:nvGraphicFramePr>
        <p:xfrm>
          <a:off x="1000350" y="487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{48CD31F1-C999-4C8B-B3C0-790825E4A1CD}</a:tableStyleId>
              </a:tblPr>
              <a:tblGrid>
                <a:gridCol w="1927175"/>
                <a:gridCol w="3164850"/>
                <a:gridCol w="2581550"/>
                <a:gridCol w="2429850"/>
              </a:tblGrid>
              <a:tr h="46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Plataforma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Aspectos Destacados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 Tomar / Referencia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Debilidad Detectada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6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Zoho Inventory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Gestión multialmacén y órdenes de compra.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Sistema de alertas por umbral.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EF4444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Diseño complejo y genérico.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Holded (Inventario)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Control en tiempo real e informes de valor.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Escalado funcional modular.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EF4444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Cuentas separadas por empresa.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StockLink (Propuesta)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Gestión multiempresa real en 1 sesión.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Interfaz ultrasimple sin formación.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Optimizado para PYMEs.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ANÁLISIS INICIAL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Benchmarking: Análisis de Referencias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879475" y="1155453"/>
            <a:ext cx="7327200" cy="3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Para definir StockLink hemos realizado un pequeño benchmarking, comparándolo con soluciones que ya existen en el mercado, como Zoho Inventory y Holded.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De Zoho Inventory nos interesó especialmente su sistema de alertas cuando el stock llega a un determinado nivel. Sin embargo, vimos que puede resultar una herramienta bastante compleja para usuarios que no tienen mucha experiencia.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De Holded nos interesó su gestión en tiempo real y su estructura modular. En este caso, hemos detectado que la gestión de diferentes empresas no está planteada de la misma forma que nuestra propuesta.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A partir de este análisis decidimos orientar StockLink a un problema concreto: poder gestionar varias empresas o locales desde una misma sesión y hacerlo mediante una interfaz sencilla, pensada especialmente para PYMEs.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¿Qué aporta StockLink?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La principal diferencia es que queremos combinar la gestión multiempresa en una única sesión con una interfaz muy sencilla, pensada para usuarios con poca experiencia tecnológica.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2" name="Google Shape;142;p16"/>
          <p:cNvSpPr/>
          <p:nvPr/>
        </p:nvSpPr>
        <p:spPr>
          <a:xfrm flipH="1">
            <a:off x="1634350" y="1179100"/>
            <a:ext cx="12000" cy="3532500"/>
          </a:xfrm>
          <a:prstGeom prst="rect">
            <a:avLst/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609600" y="2895600"/>
            <a:ext cx="5353050" cy="198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229350" y="2895600"/>
            <a:ext cx="5353050" cy="198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09600" y="2895600"/>
            <a:ext cx="38100" cy="1981200"/>
          </a:xfrm>
          <a:prstGeom prst="rect">
            <a:avLst/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229350" y="2895600"/>
            <a:ext cx="38100" cy="1981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PLAN DE DISEÑO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Requerimientos Funcionales y Estéticos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14400" y="3162300"/>
            <a:ext cx="6275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Requerimientos Funcionales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534150" y="3162300"/>
            <a:ext cx="5657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Requerimientos Estéticos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14400" y="3543300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RF-01: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Registro multiempresa y usuarios.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14400" y="3838575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RF-02: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Alta, edición y bajas de productos.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14400" y="4133850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RF-03: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Control de stock y movimientos.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14400" y="4429125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RF-04: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Alertas automáticas de stock mínimo.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534150" y="3543300"/>
            <a:ext cx="565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Soporte de Temas: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Modo oscuro y claro.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534150" y="3838575"/>
            <a:ext cx="565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Jerarquía Clara: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Tipografía funcional.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34150" y="4133850"/>
            <a:ext cx="565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Uso del Color: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Colores semánticos aislados.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534150" y="4429125"/>
            <a:ext cx="565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Diseño Limpio: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Aspecto profesional y moderno.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609600" y="2976562"/>
            <a:ext cx="3505200" cy="1819275"/>
          </a:xfrm>
          <a:prstGeom prst="roundRect">
            <a:avLst>
              <a:gd fmla="val 62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343400" y="2976562"/>
            <a:ext cx="3505200" cy="1819275"/>
          </a:xfrm>
          <a:prstGeom prst="roundRect">
            <a:avLst>
              <a:gd fmla="val 62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077200" y="2976562"/>
            <a:ext cx="3505200" cy="1819275"/>
          </a:xfrm>
          <a:prstGeom prst="roundRect">
            <a:avLst>
              <a:gd fmla="val 62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066925" y="3243262"/>
            <a:ext cx="590550" cy="228600"/>
          </a:xfrm>
          <a:prstGeom prst="roundRect">
            <a:avLst>
              <a:gd fmla="val 1666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800725" y="3243262"/>
            <a:ext cx="590550" cy="228600"/>
          </a:xfrm>
          <a:prstGeom prst="roundRect">
            <a:avLst>
              <a:gd fmla="val 16666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9534525" y="3243262"/>
            <a:ext cx="590550" cy="228600"/>
          </a:xfrm>
          <a:prstGeom prst="roundRect">
            <a:avLst>
              <a:gd fmla="val 16666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PLAN DE DISEÑO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Bocetos, Mockups y Prototipo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2019300" y="3281362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1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24457" y="3586162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Wireframes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16731" y="3890962"/>
            <a:ext cx="3690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Baja Fidelidad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16731" y="4176712"/>
            <a:ext cx="36909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Estructura básica de Login y Dashboard en blanco y negro.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53100" y="3281362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2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158257" y="3586162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Mockups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4250531" y="3890962"/>
            <a:ext cx="3690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F91F9"/>
                </a:solidFill>
                <a:latin typeface="Work Sans"/>
                <a:ea typeface="Work Sans"/>
                <a:cs typeface="Work Sans"/>
                <a:sym typeface="Work Sans"/>
              </a:rPr>
              <a:t>Alta Fidelidad (Figma)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250531" y="4176712"/>
            <a:ext cx="36909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Diseño detallado con componentes en modo oscuro y claro.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486900" y="3281362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3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892057" y="3586162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Prototipo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984331" y="3890962"/>
            <a:ext cx="3690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Dinámico e Interactivo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984331" y="4176712"/>
            <a:ext cx="36909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Simulación funcional de navegación creada con HTML/CSS/JS.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PLAN DE DISEÑO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Bocetos, Mockups y Prototipo</a:t>
            </a:r>
            <a:endParaRPr/>
          </a:p>
        </p:txBody>
      </p:sp>
      <p:pic>
        <p:nvPicPr>
          <p:cNvPr id="193" name="Google Shape;193;p19" title="StockLink - 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788" y="1237025"/>
            <a:ext cx="8842427" cy="54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PLAN DE DISEÑO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Bocetos, Mockups y Prototipo</a:t>
            </a:r>
            <a:endParaRPr/>
          </a:p>
        </p:txBody>
      </p:sp>
      <p:pic>
        <p:nvPicPr>
          <p:cNvPr id="200" name="Google Shape;200;p20" title="StockLink - 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788" y="1237025"/>
            <a:ext cx="8842427" cy="54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PLAN DE DISEÑO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Bocetos, Mockups y Prototipo</a:t>
            </a:r>
            <a:endParaRPr/>
          </a:p>
        </p:txBody>
      </p:sp>
      <p:pic>
        <p:nvPicPr>
          <p:cNvPr id="207" name="Google Shape;207;p21" title="Dashboard - Almacen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875" y="1237050"/>
            <a:ext cx="8771844" cy="547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609550" y="4893412"/>
            <a:ext cx="5353200" cy="1781100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6229300" y="4893412"/>
            <a:ext cx="5353200" cy="1781100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885775" y="5522062"/>
            <a:ext cx="228600" cy="228600"/>
          </a:xfrm>
          <a:prstGeom prst="roundRect">
            <a:avLst>
              <a:gd fmla="val 16666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885775" y="5845912"/>
            <a:ext cx="228600" cy="228600"/>
          </a:xfrm>
          <a:prstGeom prst="roundRect">
            <a:avLst>
              <a:gd fmla="val 16666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885775" y="6169762"/>
            <a:ext cx="228600" cy="228600"/>
          </a:xfrm>
          <a:prstGeom prst="roundRect">
            <a:avLst>
              <a:gd fmla="val 16666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PLAN DE DISEÑO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09600" y="704850"/>
            <a:ext cx="11582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Justificación de Decisiones de Diseño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85775" y="5169637"/>
            <a:ext cx="630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Paleta de Colores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505525" y="5169637"/>
            <a:ext cx="568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Tipografía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228675" y="5550637"/>
            <a:ext cx="126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Azul: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663425" y="5569687"/>
            <a:ext cx="2381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Fiabilidad y acción principal.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228675" y="5874475"/>
            <a:ext cx="1508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Tono </a:t>
            </a:r>
            <a:r>
              <a:rPr b="1" i="0" lang="en-US" sz="1125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Oscuro Base: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2567025" y="5888762"/>
            <a:ext cx="2274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Confort en uso continuado.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228675" y="6198337"/>
            <a:ext cx="1152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Semánticos: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2209750" y="6207862"/>
            <a:ext cx="263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Verde/Ámbar/Rojo para estados.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505525" y="5522062"/>
            <a:ext cx="568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Work Sans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505525" y="5741137"/>
            <a:ext cx="5686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Fuente principal para interfaz, alta legibilidad.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505525" y="6007837"/>
            <a:ext cx="568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JetBrains Mono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505525" y="6245962"/>
            <a:ext cx="5686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Fuente monoespaciada para marca y métricas.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1564875" y="1725250"/>
            <a:ext cx="5353200" cy="198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1564875" y="1143150"/>
            <a:ext cx="38100" cy="3533400"/>
          </a:xfrm>
          <a:prstGeom prst="rect">
            <a:avLst/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1890625" y="1143138"/>
            <a:ext cx="7327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La elección de los colores y las tipografías no es simplemente estética, sino que está relacionada con la funcionalidad de StockLink.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Hemos elegido el azul como color principal porque transmite confianza, seguridad y profesionalidad, que son características que queremos asociar a una aplicación de gestión empresarial. Para el tema oscuro utilizamos tonos oscuros porque buscamos una interfaz moderna y cómoda para utilizar durante periodos prolongados.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Además, utilizamos verde, ámbar y rojo como colores semánticos. Esto es especialmente importante en nuestra aplicación porque permiten identificar rápidamente el estado del stock: verde cuando está correcto, ámbar cuando hay que prestar atención y rojo cuando el stock es crítico.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En cuanto a las tipografías, utilizamos Work Sans como fuente principal porque es limpia y fácil de leer. Para datos, métricas y algunos elementos de marca utilizamos JetBrains Mono, ya que su aspecto monoespaciado permite diferenciarlos visualmente del resto de la interfaz.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En resumen, hemos elegido los colores y tipografías buscando que el diseño sea atractivo, pero sobre todo que ayude al usuario a interpretar la información rápidamente. </a:t>
            </a:r>
            <a:endParaRPr sz="120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/>
          <p:nvPr/>
        </p:nvSpPr>
        <p:spPr>
          <a:xfrm>
            <a:off x="6892676" y="3286125"/>
            <a:ext cx="549175" cy="1143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7822852" y="3781425"/>
            <a:ext cx="599033" cy="1143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8802885" y="3781425"/>
            <a:ext cx="599033" cy="1143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8671394" y="4717150"/>
            <a:ext cx="615600" cy="1143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704500" y="2309400"/>
            <a:ext cx="8147700" cy="2907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CRONOGRAMA DE EJECUCIÓN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Planificación Temporal del Proyecto (5 Semanas)</a:t>
            </a:r>
            <a:endParaRPr/>
          </a:p>
        </p:txBody>
      </p:sp>
      <p:graphicFrame>
        <p:nvGraphicFramePr>
          <p:cNvPr id="245" name="Google Shape;245;p23"/>
          <p:cNvGraphicFramePr/>
          <p:nvPr/>
        </p:nvGraphicFramePr>
        <p:xfrm>
          <a:off x="1704375" y="2309388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{CD9FC766-557D-4ABE-907E-E219CA39F863}</a:tableStyleId>
              </a:tblPr>
              <a:tblGrid>
                <a:gridCol w="1991675"/>
                <a:gridCol w="1231225"/>
                <a:gridCol w="1231225"/>
                <a:gridCol w="1231225"/>
                <a:gridCol w="1231225"/>
                <a:gridCol w="1231225"/>
              </a:tblGrid>
              <a:tr h="57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Fase</a:t>
                      </a:r>
                      <a:endParaRPr b="1" sz="1200">
                        <a:solidFill>
                          <a:srgbClr val="0F172A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50800" marB="50800" marR="63500" marL="635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S1</a:t>
                      </a:r>
                      <a:endParaRPr b="1" sz="1200">
                        <a:solidFill>
                          <a:srgbClr val="0F172A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50800" marB="50800" marR="63500" marL="635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S2</a:t>
                      </a:r>
                      <a:endParaRPr b="1" sz="1200">
                        <a:solidFill>
                          <a:srgbClr val="0F172A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50800" marB="50800" marR="63500" marL="635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S3</a:t>
                      </a:r>
                      <a:endParaRPr b="1" sz="1200">
                        <a:solidFill>
                          <a:srgbClr val="0F172A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50800" marB="50800" marR="63500" marL="635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S4</a:t>
                      </a:r>
                      <a:endParaRPr b="1" sz="1200">
                        <a:solidFill>
                          <a:srgbClr val="0F172A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50800" marB="50800" marR="63500" marL="635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S5</a:t>
                      </a:r>
                      <a:endParaRPr b="1" sz="1200">
                        <a:solidFill>
                          <a:srgbClr val="0F172A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50800" marB="50800" marR="63500" marL="63500">
                    <a:solidFill>
                      <a:srgbClr val="F2F2F2"/>
                    </a:solidFill>
                  </a:tcPr>
                </a:tc>
              </a:tr>
              <a:tr h="57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Análisis Inicial y Requisitos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</a:tr>
              <a:tr h="57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Plan de Diseño (Wireframes/Mockups)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</a:tr>
              <a:tr h="57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Validación y Pruebas Iniciales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</a:tr>
              <a:tr h="57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Ajustes y Documentación Final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63500" marL="63500"/>
                </a:tc>
              </a:tr>
            </a:tbl>
          </a:graphicData>
        </a:graphic>
      </p:graphicFrame>
      <p:sp>
        <p:nvSpPr>
          <p:cNvPr id="246" name="Google Shape;246;p23"/>
          <p:cNvSpPr/>
          <p:nvPr/>
        </p:nvSpPr>
        <p:spPr>
          <a:xfrm flipH="1" rot="10800000">
            <a:off x="3738675" y="2965869"/>
            <a:ext cx="603000" cy="2130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 flipH="1" rot="10800000">
            <a:off x="5021650" y="3568419"/>
            <a:ext cx="603000" cy="2130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 flipH="1" rot="10800000">
            <a:off x="6243650" y="3656394"/>
            <a:ext cx="603000" cy="2130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 flipH="1" rot="10800000">
            <a:off x="7441850" y="4112919"/>
            <a:ext cx="603000" cy="2130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 flipH="1" rot="10800000">
            <a:off x="8798925" y="4779144"/>
            <a:ext cx="603000" cy="213000"/>
          </a:xfrm>
          <a:prstGeom prst="roundRect">
            <a:avLst>
              <a:gd fmla="val 50000" name="adj"/>
            </a:avLst>
          </a:prstGeom>
          <a:solidFill>
            <a:srgbClr val="2F9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7594550" y="3014662"/>
            <a:ext cx="3987849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09600" y="2971800"/>
            <a:ext cx="6718250" cy="17907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24"/>
          <p:cNvGraphicFramePr/>
          <p:nvPr/>
        </p:nvGraphicFramePr>
        <p:xfrm>
          <a:off x="60960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{48CD31F1-C999-4C8B-B3C0-790825E4A1CD}</a:tableStyleId>
              </a:tblPr>
              <a:tblGrid>
                <a:gridCol w="2800800"/>
                <a:gridCol w="1012325"/>
                <a:gridCol w="1579225"/>
                <a:gridCol w="13163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Integrante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Horas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Coste/Hora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Subtotal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Daniel Jiménez Ramírez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200 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18</a:t>
                      </a: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25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3.600 </a:t>
                      </a: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Pepe Gil Cué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200 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18</a:t>
                      </a: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125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3.600 €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Daniel Ortiz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200 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18</a:t>
                      </a: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125">
                          <a:solidFill>
                            <a:srgbClr val="0F172A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3.600 €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p2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PRESUPUESTO BÁSICO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Estimación de Recursos Humanos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7488975" y="3328987"/>
            <a:ext cx="4198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TOTAL TRABAJO ESTIMADO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7488975" y="3557587"/>
            <a:ext cx="419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b="1" i="0" lang="en-US" sz="36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b="1" lang="en-US" sz="3600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b="1" i="0" lang="en-US" sz="36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00 €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7488975" y="4233862"/>
            <a:ext cx="419899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600 horas totales de dedicación en equipo.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609600" y="2158537"/>
            <a:ext cx="3505200" cy="1609800"/>
          </a:xfrm>
          <a:prstGeom prst="roundRect">
            <a:avLst>
              <a:gd fmla="val 71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4343400" y="2158537"/>
            <a:ext cx="3505200" cy="1609800"/>
          </a:xfrm>
          <a:prstGeom prst="roundRect">
            <a:avLst>
              <a:gd fmla="val 71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8077200" y="2158537"/>
            <a:ext cx="3505200" cy="1609800"/>
          </a:xfrm>
          <a:prstGeom prst="roundRect">
            <a:avLst>
              <a:gd fmla="val 71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PRESUPUESTO BÁSICO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Herramientas, Licencias y Otros Gastos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876300" y="2701462"/>
            <a:ext cx="30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0 € (Open Source)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4610100" y="2701462"/>
            <a:ext cx="30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0 €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8343900" y="2701462"/>
            <a:ext cx="30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15</a:t>
            </a: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 €/año + </a:t>
            </a:r>
            <a:r>
              <a:rPr b="1" lang="en-US" sz="15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300 €/año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885825" y="2434762"/>
            <a:ext cx="38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Herramientas &amp; Software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895350" y="3158662"/>
            <a:ext cx="3048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VS Code, Angular, Node.js, Express, MySQL, Git, GitHub y Figma.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4619625" y="2434762"/>
            <a:ext cx="38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Pruebas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4572000" y="3160312"/>
            <a:ext cx="3048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Pruebas con usuarios cercanos e iconos/recursos de acceso libre.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8353425" y="2434762"/>
            <a:ext cx="383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Hosting &amp; Dominio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8343900" y="3161962"/>
            <a:ext cx="3048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Despliegue y pruebas ejecutados exclusivamente en entorno local.</a:t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1692025" y="4448750"/>
            <a:ext cx="3624600" cy="1609800"/>
          </a:xfrm>
          <a:prstGeom prst="roundRect">
            <a:avLst>
              <a:gd fmla="val 71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1958713" y="4991687"/>
            <a:ext cx="30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120 €/año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881238" y="4620137"/>
            <a:ext cx="387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35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Copias de seguridad y almacenamiento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F172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934050" y="4494275"/>
            <a:ext cx="3624600" cy="1609800"/>
          </a:xfrm>
          <a:prstGeom prst="roundRect">
            <a:avLst>
              <a:gd fmla="val 71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6200738" y="5037212"/>
            <a:ext cx="30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1.080 €/año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6123263" y="4665662"/>
            <a:ext cx="387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Mantenimiento anual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F172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609550" y="2198500"/>
            <a:ext cx="5334000" cy="2067000"/>
          </a:xfrm>
          <a:prstGeom prst="roundRect">
            <a:avLst>
              <a:gd fmla="val 73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6248350" y="2198500"/>
            <a:ext cx="5334000" cy="2067000"/>
          </a:xfrm>
          <a:prstGeom prst="roundRect">
            <a:avLst>
              <a:gd fmla="val 73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PRESUPUESTO BÁSICO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Resumen del Presupuesto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430956" y="2589025"/>
            <a:ext cx="5691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COSTE DIRECTO REAL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430956" y="2874775"/>
            <a:ext cx="569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0 €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430956" y="3693925"/>
            <a:ext cx="569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Proyecto académico apoyado en software libre.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069756" y="2589025"/>
            <a:ext cx="5691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VALOR ESTIMADO DEL PROYECTO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6069756" y="2874775"/>
            <a:ext cx="569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b="1" i="0" lang="en-US" sz="4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b="1" lang="en-US" sz="4200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b="1" i="0" lang="en-US" sz="4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00 €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6069756" y="3693925"/>
            <a:ext cx="569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Valoración del tiempo de trabajo del equipo.</a:t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3480700" y="4542562"/>
            <a:ext cx="5334000" cy="2067000"/>
          </a:xfrm>
          <a:prstGeom prst="roundRect">
            <a:avLst>
              <a:gd fmla="val 73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3302106" y="4933087"/>
            <a:ext cx="5691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VALOR ESTIMADO </a:t>
            </a:r>
            <a:r>
              <a:rPr b="1" lang="en-US" sz="1125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PARA </a:t>
            </a:r>
            <a:r>
              <a:rPr b="1" lang="en-US" sz="1125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PRODUCCIÓN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3302106" y="5218837"/>
            <a:ext cx="569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r>
              <a:rPr b="1" i="0" lang="en-US" sz="4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b="1" lang="en-US" sz="4200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235</a:t>
            </a:r>
            <a:r>
              <a:rPr b="1" i="0" lang="en-US" sz="4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€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/>
          <p:nvPr/>
        </p:nvSpPr>
        <p:spPr>
          <a:xfrm>
            <a:off x="4655343" y="2728912"/>
            <a:ext cx="288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STOCKLINK · </a:t>
            </a:r>
            <a:r>
              <a:rPr lang="en-US" sz="1200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1326653" y="3081337"/>
            <a:ext cx="953869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¿Preguntas o Comentarios?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4720828" y="3900487"/>
            <a:ext cx="27503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rPr>
              <a:t>Gracias por su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