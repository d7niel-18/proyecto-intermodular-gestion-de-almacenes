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6858000" cx="12192000"/>
  <p:notesSz cx="6858000" cy="9144000"/>
  <p:embeddedFontLst>
    <p:embeddedFont>
      <p:font typeface="Work Sans"/>
      <p:regular r:id="rId26"/>
      <p:bold r:id="rId27"/>
      <p:italic r:id="rId28"/>
      <p:boldItalic r:id="rId29"/>
    </p:embeddedFont>
    <p:embeddedFont>
      <p:font typeface="Oswald"/>
      <p:regular r:id="rId30"/>
      <p:bold r:id="rId31"/>
    </p:embeddedFont>
    <p:embeddedFont>
      <p:font typeface="JetBrains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Daniel Jimén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8F6D5B-2E93-41B0-8517-ECB78BA6F3C4}">
  <a:tblStyle styleId="{B28F6D5B-2E93-41B0-8517-ECB78BA6F3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4CF52F8D-73B3-44B8-B759-D81201AB5A01}" styleName="Table_1">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WorkSans-regular.fntdata"/><Relationship Id="rId25" Type="http://schemas.openxmlformats.org/officeDocument/2006/relationships/slide" Target="slides/slide18.xml"/><Relationship Id="rId28" Type="http://schemas.openxmlformats.org/officeDocument/2006/relationships/font" Target="fonts/WorkSans-italic.fntdata"/><Relationship Id="rId27" Type="http://schemas.openxmlformats.org/officeDocument/2006/relationships/font" Target="fonts/WorkSans-bold.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WorkSans-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Oswald-bold.fntdata"/><Relationship Id="rId30" Type="http://schemas.openxmlformats.org/officeDocument/2006/relationships/font" Target="fonts/Oswald-regular.fntdata"/><Relationship Id="rId11" Type="http://schemas.openxmlformats.org/officeDocument/2006/relationships/slide" Target="slides/slide4.xml"/><Relationship Id="rId33" Type="http://schemas.openxmlformats.org/officeDocument/2006/relationships/font" Target="fonts/JetBrainsMono-bold.fntdata"/><Relationship Id="rId10" Type="http://schemas.openxmlformats.org/officeDocument/2006/relationships/slide" Target="slides/slide3.xml"/><Relationship Id="rId32" Type="http://schemas.openxmlformats.org/officeDocument/2006/relationships/font" Target="fonts/JetBrainsMono-regular.fntdata"/><Relationship Id="rId13" Type="http://schemas.openxmlformats.org/officeDocument/2006/relationships/slide" Target="slides/slide6.xml"/><Relationship Id="rId35" Type="http://schemas.openxmlformats.org/officeDocument/2006/relationships/font" Target="fonts/JetBrainsMono-boldItalic.fntdata"/><Relationship Id="rId12" Type="http://schemas.openxmlformats.org/officeDocument/2006/relationships/slide" Target="slides/slide5.xml"/><Relationship Id="rId34" Type="http://schemas.openxmlformats.org/officeDocument/2006/relationships/font" Target="fonts/JetBrainsMono-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6T22:21:04.935">
    <p:pos x="6000" y="0"/>
    <p:text>Arreglar planificacion y presupuesto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250b42d2691ec8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h250b42d2691ec82_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643d2a54fead8b7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h643d2a54fead8b76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643d2a54fead8b7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643d2a54fead8b76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643d2a54fead8b7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h643d2a54fead8b76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250b42d2691ec82_6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h250b42d2691ec82_6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7d924b2c0f302b64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h7d924b2c0f302b64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83" name="Shape 83"/>
        <p:cNvGrpSpPr/>
        <p:nvPr/>
      </p:nvGrpSpPr>
      <p:grpSpPr>
        <a:xfrm>
          <a:off x="0" y="0"/>
          <a:ext cx="0" cy="0"/>
          <a:chOff x="0" y="0"/>
          <a:chExt cx="0" cy="0"/>
        </a:xfrm>
      </p:grpSpPr>
      <p:sp>
        <p:nvSpPr>
          <p:cNvPr id="84" name="Google Shape;84;p13"/>
          <p:cNvSpPr/>
          <p:nvPr/>
        </p:nvSpPr>
        <p:spPr>
          <a:xfrm>
            <a:off x="609600" y="4007048"/>
            <a:ext cx="10972800" cy="628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609600" y="4007048"/>
            <a:ext cx="10972800" cy="9600"/>
          </a:xfrm>
          <a:prstGeom prst="rect">
            <a:avLst/>
          </a:prstGeom>
          <a:solidFill>
            <a:srgbClr val="2126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9166625" y="4278473"/>
            <a:ext cx="1924200" cy="352500"/>
          </a:xfrm>
          <a:prstGeom prst="roundRect">
            <a:avLst>
              <a:gd fmla="val 16216" name="adj"/>
            </a:avLst>
          </a:prstGeom>
          <a:solidFill>
            <a:srgbClr val="161B22"/>
          </a:solidFill>
          <a:ln cap="flat" cmpd="sng" w="9525">
            <a:solidFill>
              <a:srgbClr val="30363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87" name="Google Shape;87;p13"/>
          <p:cNvPicPr preferRelativeResize="0"/>
          <p:nvPr/>
        </p:nvPicPr>
        <p:blipFill rotWithShape="1">
          <a:blip r:embed="rId3">
            <a:alphaModFix/>
          </a:blip>
          <a:srcRect b="0" l="0" r="0" t="0"/>
          <a:stretch/>
        </p:blipFill>
        <p:spPr>
          <a:xfrm rot="42">
            <a:off x="609598" y="4385423"/>
            <a:ext cx="202147" cy="161698"/>
          </a:xfrm>
          <a:prstGeom prst="rect">
            <a:avLst/>
          </a:prstGeom>
          <a:noFill/>
          <a:ln>
            <a:noFill/>
          </a:ln>
        </p:spPr>
      </p:pic>
      <p:sp>
        <p:nvSpPr>
          <p:cNvPr id="88" name="Google Shape;88;p13"/>
          <p:cNvSpPr txBox="1"/>
          <p:nvPr/>
        </p:nvSpPr>
        <p:spPr>
          <a:xfrm>
            <a:off x="609600" y="2222152"/>
            <a:ext cx="4845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2F91F9"/>
                </a:solidFill>
                <a:latin typeface="JetBrains Mono"/>
                <a:ea typeface="JetBrains Mono"/>
                <a:cs typeface="JetBrains Mono"/>
                <a:sym typeface="JetBrains Mono"/>
              </a:rPr>
              <a:t>DAW 2026/2027</a:t>
            </a:r>
            <a:endParaRPr/>
          </a:p>
        </p:txBody>
      </p:sp>
      <p:sp>
        <p:nvSpPr>
          <p:cNvPr id="89" name="Google Shape;89;p13"/>
          <p:cNvSpPr txBox="1"/>
          <p:nvPr/>
        </p:nvSpPr>
        <p:spPr>
          <a:xfrm>
            <a:off x="609600" y="2574577"/>
            <a:ext cx="4013100" cy="670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4800" u="none" cap="none" strike="noStrike">
                <a:solidFill>
                  <a:srgbClr val="FFFFFF"/>
                </a:solidFill>
                <a:latin typeface="Work Sans"/>
                <a:ea typeface="Work Sans"/>
                <a:cs typeface="Work Sans"/>
                <a:sym typeface="Work Sans"/>
              </a:rPr>
              <a:t>StockLink</a:t>
            </a:r>
            <a:endParaRPr/>
          </a:p>
        </p:txBody>
      </p:sp>
      <p:sp>
        <p:nvSpPr>
          <p:cNvPr id="90" name="Google Shape;90;p13"/>
          <p:cNvSpPr txBox="1"/>
          <p:nvPr/>
        </p:nvSpPr>
        <p:spPr>
          <a:xfrm>
            <a:off x="609600" y="3397398"/>
            <a:ext cx="7810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94A3B8"/>
                </a:solidFill>
                <a:latin typeface="Work Sans"/>
                <a:ea typeface="Work Sans"/>
                <a:cs typeface="Work Sans"/>
                <a:sym typeface="Work Sans"/>
              </a:rPr>
              <a:t>Sistema de gestión de stock multiempresa centralizado</a:t>
            </a:r>
            <a:endParaRPr/>
          </a:p>
        </p:txBody>
      </p:sp>
      <p:sp>
        <p:nvSpPr>
          <p:cNvPr id="91" name="Google Shape;91;p13"/>
          <p:cNvSpPr txBox="1"/>
          <p:nvPr/>
        </p:nvSpPr>
        <p:spPr>
          <a:xfrm>
            <a:off x="952800" y="4362325"/>
            <a:ext cx="3619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Work Sans"/>
                <a:ea typeface="Work Sans"/>
                <a:cs typeface="Work Sans"/>
                <a:sym typeface="Work Sans"/>
              </a:rPr>
              <a:t>Daniel Jiménez</a:t>
            </a:r>
            <a:r>
              <a:rPr lang="en-US" sz="1200">
                <a:solidFill>
                  <a:srgbClr val="CBD5E1"/>
                </a:solidFill>
                <a:latin typeface="Work Sans"/>
                <a:ea typeface="Work Sans"/>
                <a:cs typeface="Work Sans"/>
                <a:sym typeface="Work Sans"/>
              </a:rPr>
              <a:t> Ramírez</a:t>
            </a:r>
            <a:r>
              <a:rPr b="0" i="0" lang="en-US" sz="1200" u="none" cap="none" strike="noStrike">
                <a:solidFill>
                  <a:srgbClr val="CBD5E1"/>
                </a:solidFill>
                <a:latin typeface="Work Sans"/>
                <a:ea typeface="Work Sans"/>
                <a:cs typeface="Work Sans"/>
                <a:sym typeface="Work Sans"/>
              </a:rPr>
              <a:t> · Pepe Gil · Daniel Ortiz</a:t>
            </a:r>
            <a:endParaRPr/>
          </a:p>
        </p:txBody>
      </p:sp>
      <p:sp>
        <p:nvSpPr>
          <p:cNvPr id="92" name="Google Shape;92;p13"/>
          <p:cNvSpPr txBox="1"/>
          <p:nvPr/>
        </p:nvSpPr>
        <p:spPr>
          <a:xfrm>
            <a:off x="9319025" y="4354673"/>
            <a:ext cx="1714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Work Sans"/>
                <a:ea typeface="Work Sans"/>
                <a:cs typeface="Work Sans"/>
                <a:sym typeface="Work Sans"/>
              </a:rPr>
              <a:t>Campus Cámara Sevilla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6" name="Shape 96"/>
        <p:cNvGrpSpPr/>
        <p:nvPr/>
      </p:nvGrpSpPr>
      <p:grpSpPr>
        <a:xfrm>
          <a:off x="0" y="0"/>
          <a:ext cx="0" cy="0"/>
          <a:chOff x="0" y="0"/>
          <a:chExt cx="0" cy="0"/>
        </a:xfrm>
      </p:grpSpPr>
      <p:sp>
        <p:nvSpPr>
          <p:cNvPr id="97" name="Google Shape;97;p14"/>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2F91F9"/>
                </a:solidFill>
                <a:latin typeface="JetBrains Mono"/>
                <a:ea typeface="JetBrains Mono"/>
                <a:cs typeface="JetBrains Mono"/>
                <a:sym typeface="JetBrains Mono"/>
              </a:rPr>
              <a:t>PRESENTACIÓN</a:t>
            </a:r>
            <a:endParaRPr/>
          </a:p>
        </p:txBody>
      </p:sp>
      <p:sp>
        <p:nvSpPr>
          <p:cNvPr id="98" name="Google Shape;98;p14"/>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0F172A"/>
                </a:solidFill>
                <a:latin typeface="Work Sans"/>
                <a:ea typeface="Work Sans"/>
                <a:cs typeface="Work Sans"/>
                <a:sym typeface="Work Sans"/>
              </a:rPr>
              <a:t>¿De que trata StockLink?</a:t>
            </a:r>
            <a:endParaRPr/>
          </a:p>
        </p:txBody>
      </p:sp>
      <p:sp>
        <p:nvSpPr>
          <p:cNvPr id="99" name="Google Shape;99;p14"/>
          <p:cNvSpPr txBox="1"/>
          <p:nvPr/>
        </p:nvSpPr>
        <p:spPr>
          <a:xfrm>
            <a:off x="2315425" y="1860450"/>
            <a:ext cx="7327200" cy="277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StockLink es una aplicación web destinada a la gestión centralizada del stock de diferentes empresas y locales, permitiendo registrar, consultar y actualizar de forma rápida y organizada las existencias de los productos.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La aplicación busca reducir los problemas derivados de la gestión manual del inventario, como roturas de stock, sobrestock y errores en el registro de movimientos.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Cada empresa dispone de un espacio propio desde el que puede organizar sus productos, categorías y existencias, consultar el estado del inventario y controlar las entradas y salidas de productos.</a:t>
            </a:r>
            <a:endParaRPr sz="1200">
              <a:solidFill>
                <a:srgbClr val="475569"/>
              </a:solidFill>
              <a:latin typeface="Work Sans"/>
              <a:ea typeface="Work Sans"/>
              <a:cs typeface="Work Sans"/>
              <a:sym typeface="Work Sans"/>
            </a:endParaRPr>
          </a:p>
          <a:p>
            <a:pPr indent="0" lvl="0" marL="0" marR="0" rtl="0" algn="l">
              <a:lnSpc>
                <a:spcPct val="100000"/>
              </a:lnSpc>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Font typeface="Arial"/>
              <a:buNone/>
            </a:pPr>
            <a:r>
              <a:rPr lang="en-US" sz="1200">
                <a:solidFill>
                  <a:srgbClr val="475569"/>
                </a:solidFill>
                <a:latin typeface="Work Sans"/>
                <a:ea typeface="Work Sans"/>
                <a:cs typeface="Work Sans"/>
                <a:sym typeface="Work Sans"/>
              </a:rPr>
              <a:t>En conjunto, StockLink proporciona una solución orientada a centralizar y simplificar la gestión de inventarios, permitiendo a las empresas disponer de una visión más clara de sus existencias y agilizar las operaciones habituales relacionadas con el stock.</a:t>
            </a:r>
            <a:endParaRPr sz="1200">
              <a:solidFill>
                <a:srgbClr val="475569"/>
              </a:solidFill>
              <a:latin typeface="Work Sans"/>
              <a:ea typeface="Work Sans"/>
              <a:cs typeface="Work Sans"/>
              <a:sym typeface="Work Sans"/>
            </a:endParaRPr>
          </a:p>
        </p:txBody>
      </p:sp>
      <p:sp>
        <p:nvSpPr>
          <p:cNvPr id="100" name="Google Shape;100;p14"/>
          <p:cNvSpPr/>
          <p:nvPr/>
        </p:nvSpPr>
        <p:spPr>
          <a:xfrm>
            <a:off x="1939973" y="1982172"/>
            <a:ext cx="19500" cy="26946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4" name="Shape 104"/>
        <p:cNvGrpSpPr/>
        <p:nvPr/>
      </p:nvGrpSpPr>
      <p:grpSpPr>
        <a:xfrm>
          <a:off x="0" y="0"/>
          <a:ext cx="0" cy="0"/>
          <a:chOff x="0" y="0"/>
          <a:chExt cx="0" cy="0"/>
        </a:xfrm>
      </p:grpSpPr>
      <p:sp>
        <p:nvSpPr>
          <p:cNvPr id="105" name="Google Shape;105;p15"/>
          <p:cNvSpPr/>
          <p:nvPr/>
        </p:nvSpPr>
        <p:spPr>
          <a:xfrm>
            <a:off x="2184200" y="4561900"/>
            <a:ext cx="3505200" cy="1923900"/>
          </a:xfrm>
          <a:prstGeom prst="roundRect">
            <a:avLst>
              <a:gd fmla="val 63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5"/>
          <p:cNvSpPr/>
          <p:nvPr/>
        </p:nvSpPr>
        <p:spPr>
          <a:xfrm>
            <a:off x="5918000" y="4561900"/>
            <a:ext cx="3505200" cy="1923900"/>
          </a:xfrm>
          <a:prstGeom prst="roundRect">
            <a:avLst>
              <a:gd fmla="val 63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7" name="Google Shape;107;p15"/>
          <p:cNvPicPr preferRelativeResize="0"/>
          <p:nvPr/>
        </p:nvPicPr>
        <p:blipFill rotWithShape="1">
          <a:blip r:embed="rId3">
            <a:alphaModFix/>
          </a:blip>
          <a:srcRect b="0" l="0" r="0" t="0"/>
          <a:stretch/>
        </p:blipFill>
        <p:spPr>
          <a:xfrm>
            <a:off x="2327962" y="5000050"/>
            <a:ext cx="219075" cy="1905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6184712" y="5000050"/>
            <a:ext cx="238125" cy="190500"/>
          </a:xfrm>
          <a:prstGeom prst="rect">
            <a:avLst/>
          </a:prstGeom>
          <a:noFill/>
          <a:ln>
            <a:noFill/>
          </a:ln>
        </p:spPr>
      </p:pic>
      <p:sp>
        <p:nvSpPr>
          <p:cNvPr id="109" name="Google Shape;109;p15"/>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1. ANÁLISIS INICIAL</a:t>
            </a:r>
            <a:endParaRPr/>
          </a:p>
        </p:txBody>
      </p:sp>
      <p:sp>
        <p:nvSpPr>
          <p:cNvPr id="110" name="Google Shape;110;p15"/>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Identificación del Público Objetivo</a:t>
            </a:r>
            <a:endParaRPr/>
          </a:p>
        </p:txBody>
      </p:sp>
      <p:sp>
        <p:nvSpPr>
          <p:cNvPr id="111" name="Google Shape;111;p15"/>
          <p:cNvSpPr txBox="1"/>
          <p:nvPr/>
        </p:nvSpPr>
        <p:spPr>
          <a:xfrm>
            <a:off x="2327938" y="5317938"/>
            <a:ext cx="37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F172A"/>
                </a:solidFill>
                <a:latin typeface="Work Sans"/>
                <a:ea typeface="Work Sans"/>
                <a:cs typeface="Work Sans"/>
                <a:sym typeface="Work Sans"/>
              </a:rPr>
              <a:t>¿A quién va dirigido StockLink? </a:t>
            </a:r>
            <a:endParaRPr/>
          </a:p>
        </p:txBody>
      </p:sp>
      <p:sp>
        <p:nvSpPr>
          <p:cNvPr id="112" name="Google Shape;112;p15"/>
          <p:cNvSpPr txBox="1"/>
          <p:nvPr/>
        </p:nvSpPr>
        <p:spPr>
          <a:xfrm>
            <a:off x="2327951" y="5676325"/>
            <a:ext cx="3142500" cy="738900"/>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None/>
            </a:pPr>
            <a:r>
              <a:rPr lang="en-US" sz="1200">
                <a:solidFill>
                  <a:srgbClr val="475569"/>
                </a:solidFill>
                <a:latin typeface="Work Sans"/>
                <a:ea typeface="Work Sans"/>
                <a:cs typeface="Work Sans"/>
                <a:sym typeface="Work Sans"/>
              </a:rPr>
              <a:t>Pequeñas y medianas empresas, empresas con uno o varios locales,  Comercio minorista, hostelería, farmacias..</a:t>
            </a:r>
            <a:endParaRPr/>
          </a:p>
        </p:txBody>
      </p:sp>
      <p:sp>
        <p:nvSpPr>
          <p:cNvPr id="113" name="Google Shape;113;p15"/>
          <p:cNvSpPr txBox="1"/>
          <p:nvPr/>
        </p:nvSpPr>
        <p:spPr>
          <a:xfrm>
            <a:off x="6184688" y="5317950"/>
            <a:ext cx="3775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0F172A"/>
                </a:solidFill>
                <a:latin typeface="Work Sans"/>
                <a:ea typeface="Work Sans"/>
                <a:cs typeface="Work Sans"/>
                <a:sym typeface="Work Sans"/>
              </a:rPr>
              <a:t>Problemas</a:t>
            </a:r>
            <a:endParaRPr/>
          </a:p>
        </p:txBody>
      </p:sp>
      <p:sp>
        <p:nvSpPr>
          <p:cNvPr id="114" name="Google Shape;114;p15"/>
          <p:cNvSpPr txBox="1"/>
          <p:nvPr/>
        </p:nvSpPr>
        <p:spPr>
          <a:xfrm>
            <a:off x="6184688" y="5588975"/>
            <a:ext cx="2971800" cy="7389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Muchas de estas empresas todavía gestionan el stock de una forma bastante manual, utilizando hojas de cálculo, papel o incluso de memoria. </a:t>
            </a:r>
            <a:endParaRPr/>
          </a:p>
        </p:txBody>
      </p:sp>
      <p:sp>
        <p:nvSpPr>
          <p:cNvPr id="115" name="Google Shape;115;p15"/>
          <p:cNvSpPr txBox="1"/>
          <p:nvPr/>
        </p:nvSpPr>
        <p:spPr>
          <a:xfrm>
            <a:off x="2426175" y="1540263"/>
            <a:ext cx="7327200" cy="3137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StockLink está pensado principalmente para pequeñas y medianas empresas que tienen que gestionar su inventario. Por ejemplo, puede ser una tienda, un restaurante, una farmacia o un almacén.</a:t>
            </a:r>
            <a:endParaRPr sz="1200">
              <a:solidFill>
                <a:srgbClr val="475569"/>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El problema que hemos detectado es que muchas de estas empresas todavía gestionan el stock de una forma bastante manual, utilizando hojas de cálculo, papel o incluso de memoria. Esto puede provocar errores y dificultar saber cuánto stock tienen realmente.</a:t>
            </a:r>
            <a:endParaRPr sz="1200">
              <a:solidFill>
                <a:srgbClr val="475569"/>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Además, hemos tenido en cuenta empresas que tienen varios locales. En estos casos, con StockLink se podría acceder desde una misma sesión a los diferentes locales y consultar su inventario sin tener que utilizar una cuenta diferente para cada uno.</a:t>
            </a:r>
            <a:endParaRPr sz="1200">
              <a:solidFill>
                <a:srgbClr val="475569"/>
              </a:solidFill>
              <a:latin typeface="Work Sans"/>
              <a:ea typeface="Work Sans"/>
              <a:cs typeface="Work Sans"/>
              <a:sym typeface="Work Sans"/>
            </a:endParaRPr>
          </a:p>
          <a:p>
            <a:pPr indent="0" lvl="0" marL="0" rtl="0" algn="l">
              <a:lnSpc>
                <a:spcPct val="115000"/>
              </a:lnSpc>
              <a:spcBef>
                <a:spcPts val="1200"/>
              </a:spcBef>
              <a:spcAft>
                <a:spcPts val="0"/>
              </a:spcAft>
              <a:buSzPts val="1100"/>
              <a:buNone/>
            </a:pPr>
            <a:r>
              <a:rPr lang="en-US" sz="1200">
                <a:solidFill>
                  <a:srgbClr val="475569"/>
                </a:solidFill>
                <a:latin typeface="Work Sans"/>
                <a:ea typeface="Work Sans"/>
                <a:cs typeface="Work Sans"/>
                <a:sym typeface="Work Sans"/>
              </a:rPr>
              <a:t>Por tanto, nuestro objetivo es centralizar toda esta información y hacer que la gestión del stock sea más sencilla.</a:t>
            </a:r>
            <a:endParaRPr sz="1200">
              <a:solidFill>
                <a:srgbClr val="475569"/>
              </a:solidFill>
              <a:latin typeface="Work Sans"/>
              <a:ea typeface="Work Sans"/>
              <a:cs typeface="Work Sans"/>
              <a:sym typeface="Work Sans"/>
            </a:endParaRPr>
          </a:p>
          <a:p>
            <a:pPr indent="0" lvl="0" marL="0" marR="0" rtl="0" algn="l">
              <a:spcBef>
                <a:spcPts val="1200"/>
              </a:spcBef>
              <a:spcAft>
                <a:spcPts val="0"/>
              </a:spcAft>
              <a:buNone/>
            </a:pPr>
            <a:r>
              <a:t/>
            </a:r>
            <a:endParaRPr sz="1200">
              <a:solidFill>
                <a:srgbClr val="475569"/>
              </a:solidFill>
              <a:latin typeface="Work Sans"/>
              <a:ea typeface="Work Sans"/>
              <a:cs typeface="Work Sans"/>
              <a:sym typeface="Work Sans"/>
            </a:endParaRPr>
          </a:p>
        </p:txBody>
      </p:sp>
      <p:sp>
        <p:nvSpPr>
          <p:cNvPr id="116" name="Google Shape;116;p15"/>
          <p:cNvSpPr/>
          <p:nvPr/>
        </p:nvSpPr>
        <p:spPr>
          <a:xfrm>
            <a:off x="2184198" y="1540272"/>
            <a:ext cx="19500" cy="26946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 name="Shape 120"/>
        <p:cNvGrpSpPr/>
        <p:nvPr/>
      </p:nvGrpSpPr>
      <p:grpSpPr>
        <a:xfrm>
          <a:off x="0" y="0"/>
          <a:ext cx="0" cy="0"/>
          <a:chOff x="0" y="0"/>
          <a:chExt cx="0" cy="0"/>
        </a:xfrm>
      </p:grpSpPr>
      <p:sp>
        <p:nvSpPr>
          <p:cNvPr id="121" name="Google Shape;121;p16"/>
          <p:cNvSpPr/>
          <p:nvPr/>
        </p:nvSpPr>
        <p:spPr>
          <a:xfrm>
            <a:off x="1281750" y="4518229"/>
            <a:ext cx="3875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p:nvPr/>
        </p:nvSpPr>
        <p:spPr>
          <a:xfrm>
            <a:off x="1281750" y="5499304"/>
            <a:ext cx="3875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6"/>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1. ANÁLISIS INICIAL</a:t>
            </a:r>
            <a:endParaRPr/>
          </a:p>
        </p:txBody>
      </p:sp>
      <p:sp>
        <p:nvSpPr>
          <p:cNvPr id="124" name="Google Shape;124;p16"/>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Objetivos Principales de la Interfaz</a:t>
            </a:r>
            <a:endParaRPr/>
          </a:p>
        </p:txBody>
      </p:sp>
      <p:sp>
        <p:nvSpPr>
          <p:cNvPr id="125" name="Google Shape;125;p16"/>
          <p:cNvSpPr txBox="1"/>
          <p:nvPr/>
        </p:nvSpPr>
        <p:spPr>
          <a:xfrm>
            <a:off x="1365675" y="4572754"/>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Claridad y usabilidad</a:t>
            </a:r>
            <a:endParaRPr/>
          </a:p>
        </p:txBody>
      </p:sp>
      <p:sp>
        <p:nvSpPr>
          <p:cNvPr id="126" name="Google Shape;126;p16"/>
          <p:cNvSpPr txBox="1"/>
          <p:nvPr/>
        </p:nvSpPr>
        <p:spPr>
          <a:xfrm>
            <a:off x="1519875" y="4975429"/>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Interfaz sencilla e intuitiva.</a:t>
            </a:r>
            <a:endParaRPr/>
          </a:p>
        </p:txBody>
      </p:sp>
      <p:sp>
        <p:nvSpPr>
          <p:cNvPr id="127" name="Google Shape;127;p16"/>
          <p:cNvSpPr txBox="1"/>
          <p:nvPr/>
        </p:nvSpPr>
        <p:spPr>
          <a:xfrm>
            <a:off x="1365675" y="5688854"/>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Navegación</a:t>
            </a:r>
            <a:endParaRPr/>
          </a:p>
        </p:txBody>
      </p:sp>
      <p:sp>
        <p:nvSpPr>
          <p:cNvPr id="128" name="Google Shape;128;p16"/>
          <p:cNvSpPr txBox="1"/>
          <p:nvPr/>
        </p:nvSpPr>
        <p:spPr>
          <a:xfrm>
            <a:off x="1281750" y="1301428"/>
            <a:ext cx="7327200" cy="25860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Nuestros objetivos específicos están centrados principalmente en conseguir una buena interfaz de usuario.</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Primero buscamos que la aplicación sea clara y sencilla, ya que está pensada también para personas con un nivel tecnológico medio-bajo.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Después, queremos conseguir una navegación intuitiva, para que el usuario pueda encontrar rápidamente lo que necesita sin tener que dar muchas vueltas.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Otro punto importante es que sea responsive, es decir, que pueda utilizarse correctamente tanto en ordenador como en tablet o móvil.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También queremos mantener una consistencia visual, utilizando los mismos colores, tipografías y componentes en toda la aplicación.</a:t>
            </a:r>
            <a:endParaRPr sz="1200">
              <a:solidFill>
                <a:srgbClr val="475569"/>
              </a:solidFill>
              <a:latin typeface="Work Sans"/>
              <a:ea typeface="Work Sans"/>
              <a:cs typeface="Work Sans"/>
              <a:sym typeface="Work Sans"/>
            </a:endParaRPr>
          </a:p>
        </p:txBody>
      </p:sp>
      <p:sp>
        <p:nvSpPr>
          <p:cNvPr id="129" name="Google Shape;129;p16"/>
          <p:cNvSpPr txBox="1"/>
          <p:nvPr/>
        </p:nvSpPr>
        <p:spPr>
          <a:xfrm>
            <a:off x="1592200" y="6071579"/>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Acceso rápido y organizado a las funciones.</a:t>
            </a:r>
            <a:endParaRPr/>
          </a:p>
        </p:txBody>
      </p:sp>
      <p:sp>
        <p:nvSpPr>
          <p:cNvPr id="130" name="Google Shape;130;p16"/>
          <p:cNvSpPr/>
          <p:nvPr/>
        </p:nvSpPr>
        <p:spPr>
          <a:xfrm>
            <a:off x="5785925" y="4572754"/>
            <a:ext cx="4184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txBox="1"/>
          <p:nvPr/>
        </p:nvSpPr>
        <p:spPr>
          <a:xfrm>
            <a:off x="5869850" y="4627279"/>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Responsive</a:t>
            </a:r>
            <a:endParaRPr/>
          </a:p>
        </p:txBody>
      </p:sp>
      <p:sp>
        <p:nvSpPr>
          <p:cNvPr id="132" name="Google Shape;132;p16"/>
          <p:cNvSpPr txBox="1"/>
          <p:nvPr/>
        </p:nvSpPr>
        <p:spPr>
          <a:xfrm>
            <a:off x="6024050" y="5029954"/>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Adaptación a PC, tablet y móvil.</a:t>
            </a:r>
            <a:endParaRPr/>
          </a:p>
        </p:txBody>
      </p:sp>
      <p:sp>
        <p:nvSpPr>
          <p:cNvPr id="133" name="Google Shape;133;p16"/>
          <p:cNvSpPr/>
          <p:nvPr/>
        </p:nvSpPr>
        <p:spPr>
          <a:xfrm>
            <a:off x="5785926" y="5617004"/>
            <a:ext cx="4184700" cy="828600"/>
          </a:xfrm>
          <a:prstGeom prst="roundRect">
            <a:avLst>
              <a:gd fmla="val 1149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5869838" y="5671529"/>
            <a:ext cx="64758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350">
                <a:solidFill>
                  <a:srgbClr val="0F172A"/>
                </a:solidFill>
                <a:latin typeface="Work Sans"/>
                <a:ea typeface="Work Sans"/>
                <a:cs typeface="Work Sans"/>
                <a:sym typeface="Work Sans"/>
              </a:rPr>
              <a:t>♿ Accesibilidad y feedback</a:t>
            </a:r>
            <a:endParaRPr/>
          </a:p>
        </p:txBody>
      </p:sp>
      <p:sp>
        <p:nvSpPr>
          <p:cNvPr id="135" name="Google Shape;135;p16"/>
          <p:cNvSpPr txBox="1"/>
          <p:nvPr/>
        </p:nvSpPr>
        <p:spPr>
          <a:xfrm>
            <a:off x="5919163" y="6040554"/>
            <a:ext cx="616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Información sobre acciones, errores y estados del stock.</a:t>
            </a:r>
            <a:endParaRPr/>
          </a:p>
        </p:txBody>
      </p:sp>
      <p:sp>
        <p:nvSpPr>
          <p:cNvPr id="136" name="Google Shape;136;p16"/>
          <p:cNvSpPr/>
          <p:nvPr/>
        </p:nvSpPr>
        <p:spPr>
          <a:xfrm>
            <a:off x="1038173" y="1248147"/>
            <a:ext cx="19500" cy="26946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0" name="Shape 140"/>
        <p:cNvGrpSpPr/>
        <p:nvPr/>
      </p:nvGrpSpPr>
      <p:grpSpPr>
        <a:xfrm>
          <a:off x="0" y="0"/>
          <a:ext cx="0" cy="0"/>
          <a:chOff x="0" y="0"/>
          <a:chExt cx="0" cy="0"/>
        </a:xfrm>
      </p:grpSpPr>
      <p:sp>
        <p:nvSpPr>
          <p:cNvPr id="141" name="Google Shape;141;p17"/>
          <p:cNvSpPr/>
          <p:nvPr/>
        </p:nvSpPr>
        <p:spPr>
          <a:xfrm>
            <a:off x="1248800" y="4997650"/>
            <a:ext cx="9694500" cy="16335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42" name="Google Shape;142;p17"/>
          <p:cNvGraphicFramePr/>
          <p:nvPr/>
        </p:nvGraphicFramePr>
        <p:xfrm>
          <a:off x="1248775" y="4997600"/>
          <a:ext cx="3000000" cy="3000000"/>
        </p:xfrm>
        <a:graphic>
          <a:graphicData uri="http://schemas.openxmlformats.org/drawingml/2006/table">
            <a:tbl>
              <a:tblPr>
                <a:noFill/>
                <a:tableStyleId>{B28F6D5B-2E93-41B0-8517-ECB78BA6F3C4}</a:tableStyleId>
              </a:tblPr>
              <a:tblGrid>
                <a:gridCol w="1849175"/>
                <a:gridCol w="3036725"/>
                <a:gridCol w="2477050"/>
                <a:gridCol w="2331500"/>
              </a:tblGrid>
              <a:tr h="408350">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Plataforma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Aspectos Destacados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A Tomar / Referencia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Debilidad Detectada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408350">
                <a:tc>
                  <a:txBody>
                    <a:bodyPr/>
                    <a:lstStyle/>
                    <a:p>
                      <a:pPr indent="0" lvl="0" marL="0" marR="0" rtl="0" algn="l">
                        <a:spcBef>
                          <a:spcPts val="0"/>
                        </a:spcBef>
                        <a:spcAft>
                          <a:spcPts val="0"/>
                        </a:spcAft>
                        <a:buNone/>
                      </a:pPr>
                      <a:r>
                        <a:rPr b="1" i="0" lang="en-US" sz="1200" u="none" cap="none" strike="noStrike">
                          <a:solidFill>
                            <a:srgbClr val="0F172A"/>
                          </a:solidFill>
                          <a:latin typeface="Work Sans"/>
                          <a:ea typeface="Work Sans"/>
                          <a:cs typeface="Work Sans"/>
                          <a:sym typeface="Work Sans"/>
                        </a:rPr>
                        <a:t>Zoho Inventory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Work Sans"/>
                          <a:ea typeface="Work Sans"/>
                          <a:cs typeface="Work Sans"/>
                          <a:sym typeface="Work Sans"/>
                        </a:rPr>
                        <a:t>Gestión multialmacén y órdenes de compra.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Sistema de alertas por umbral.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EF4444"/>
                          </a:solidFill>
                          <a:latin typeface="Work Sans"/>
                          <a:ea typeface="Work Sans"/>
                          <a:cs typeface="Work Sans"/>
                          <a:sym typeface="Work Sans"/>
                        </a:rPr>
                        <a:t>Diseño complejo y genérico.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8350">
                <a:tc>
                  <a:txBody>
                    <a:bodyPr/>
                    <a:lstStyle/>
                    <a:p>
                      <a:pPr indent="0" lvl="0" marL="0" marR="0" rtl="0" algn="l">
                        <a:spcBef>
                          <a:spcPts val="0"/>
                        </a:spcBef>
                        <a:spcAft>
                          <a:spcPts val="0"/>
                        </a:spcAft>
                        <a:buNone/>
                      </a:pPr>
                      <a:r>
                        <a:rPr b="1" lang="en-US" sz="1200">
                          <a:solidFill>
                            <a:srgbClr val="0F172A"/>
                          </a:solidFill>
                          <a:latin typeface="Work Sans"/>
                          <a:ea typeface="Work Sans"/>
                          <a:cs typeface="Work Sans"/>
                          <a:sym typeface="Work Sans"/>
                        </a:rPr>
                        <a:t>inFlow Inventory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475569"/>
                          </a:solidFill>
                          <a:latin typeface="Work Sans"/>
                          <a:ea typeface="Work Sans"/>
                          <a:cs typeface="Work Sans"/>
                          <a:sym typeface="Work Sans"/>
                        </a:rPr>
                        <a:t>Gestión de stock en varias ubicaciones.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Permisos por rol de usuario.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25">
                          <a:solidFill>
                            <a:srgbClr val="EF4444"/>
                          </a:solidFill>
                          <a:latin typeface="Work Sans"/>
                          <a:ea typeface="Work Sans"/>
                          <a:cs typeface="Work Sans"/>
                          <a:sym typeface="Work Sans"/>
                        </a:rPr>
                        <a:t>Pensado para 1 sola empresa.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08350">
                <a:tc>
                  <a:txBody>
                    <a:bodyPr/>
                    <a:lstStyle/>
                    <a:p>
                      <a:pPr indent="0" lvl="0" marL="0" marR="0" rtl="0" algn="l">
                        <a:spcBef>
                          <a:spcPts val="0"/>
                        </a:spcBef>
                        <a:spcAft>
                          <a:spcPts val="0"/>
                        </a:spcAft>
                        <a:buNone/>
                      </a:pPr>
                      <a:r>
                        <a:rPr b="1" i="0" lang="en-US" sz="1200" u="none" cap="none" strike="noStrike">
                          <a:solidFill>
                            <a:srgbClr val="0F172A"/>
                          </a:solidFill>
                          <a:latin typeface="Work Sans"/>
                          <a:ea typeface="Work Sans"/>
                          <a:cs typeface="Work Sans"/>
                          <a:sym typeface="Work Sans"/>
                        </a:rPr>
                        <a:t>StockLink (Propuesta)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Gestión multiempresa real en 1 sesión.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Interfaz ultrasimple sin formación.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Optimizado para PYMEs.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r>
            </a:tbl>
          </a:graphicData>
        </a:graphic>
      </p:graphicFrame>
      <p:sp>
        <p:nvSpPr>
          <p:cNvPr id="143" name="Google Shape;143;p17"/>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1. ANÁLISIS INICIAL</a:t>
            </a:r>
            <a:endParaRPr/>
          </a:p>
        </p:txBody>
      </p:sp>
      <p:sp>
        <p:nvSpPr>
          <p:cNvPr id="144" name="Google Shape;144;p17"/>
          <p:cNvSpPr txBox="1"/>
          <p:nvPr/>
        </p:nvSpPr>
        <p:spPr>
          <a:xfrm>
            <a:off x="609600" y="704850"/>
            <a:ext cx="11582400" cy="362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Benchmarking: Análisis de Referencias</a:t>
            </a:r>
            <a:endParaRPr/>
          </a:p>
        </p:txBody>
      </p:sp>
      <p:sp>
        <p:nvSpPr>
          <p:cNvPr id="145" name="Google Shape;145;p17"/>
          <p:cNvSpPr txBox="1"/>
          <p:nvPr/>
        </p:nvSpPr>
        <p:spPr>
          <a:xfrm>
            <a:off x="1827050" y="1290500"/>
            <a:ext cx="8900400" cy="33477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Para definir StockLink hemos realizado un pequeño benchmarking, comparándolo con soluciones que ya existen en el mercado, como Zoho Inventory e inFlow Inventory.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De Zoho Inventory nos interesó especialmente su sistema de alertas cuando el stock llega a un determinado nivel. Sin embargo, vimos que puede resultar una herramienta bastante compleja para usuarios que no tienen mucha experiencia.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De inFlow Inventory nos interesó su gestión de stock en varias ubicaciones y sus permisos según el rol de cada usuario. En este caso, hemos detectado que, igual que Zoho, está pensada para gestionar una sola empresa con varios almacenes, no varias empresas distintas desde la misma cuenta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A partir de este análisis decidimos orientar StockLink a un problema concreto: poder gestionar varias empresas o locales desde una misma sesión y hacerlo mediante una interfaz sencilla, pensada especialmente para PYMEs.</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b="1" lang="en-US" sz="1350">
                <a:solidFill>
                  <a:srgbClr val="0F172A"/>
                </a:solidFill>
                <a:latin typeface="Work Sans"/>
                <a:ea typeface="Work Sans"/>
                <a:cs typeface="Work Sans"/>
                <a:sym typeface="Work Sans"/>
              </a:rPr>
              <a:t>¿Qué aporta StockLink?</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La principal diferencia es que queremos combinar la gestión multiempresa en una única sesión con una interfaz muy sencilla, pensada para usuarios con poca experiencia tecnológica. </a:t>
            </a:r>
            <a:endParaRPr sz="1200">
              <a:solidFill>
                <a:srgbClr val="475569"/>
              </a:solidFill>
              <a:latin typeface="Work Sans"/>
              <a:ea typeface="Work Sans"/>
              <a:cs typeface="Work Sans"/>
              <a:sym typeface="Work Sans"/>
            </a:endParaRPr>
          </a:p>
        </p:txBody>
      </p:sp>
      <p:sp>
        <p:nvSpPr>
          <p:cNvPr id="146" name="Google Shape;146;p17"/>
          <p:cNvSpPr/>
          <p:nvPr/>
        </p:nvSpPr>
        <p:spPr>
          <a:xfrm flipH="1">
            <a:off x="1518975" y="1388750"/>
            <a:ext cx="12000" cy="31512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0" name="Shape 150"/>
        <p:cNvGrpSpPr/>
        <p:nvPr/>
      </p:nvGrpSpPr>
      <p:grpSpPr>
        <a:xfrm>
          <a:off x="0" y="0"/>
          <a:ext cx="0" cy="0"/>
          <a:chOff x="0" y="0"/>
          <a:chExt cx="0" cy="0"/>
        </a:xfrm>
      </p:grpSpPr>
      <p:sp>
        <p:nvSpPr>
          <p:cNvPr id="151" name="Google Shape;151;p18"/>
          <p:cNvSpPr/>
          <p:nvPr/>
        </p:nvSpPr>
        <p:spPr>
          <a:xfrm>
            <a:off x="609600" y="2895600"/>
            <a:ext cx="5353200" cy="1981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8"/>
          <p:cNvSpPr/>
          <p:nvPr/>
        </p:nvSpPr>
        <p:spPr>
          <a:xfrm>
            <a:off x="6229350" y="2895600"/>
            <a:ext cx="5353200" cy="1981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8"/>
          <p:cNvSpPr/>
          <p:nvPr/>
        </p:nvSpPr>
        <p:spPr>
          <a:xfrm>
            <a:off x="609600" y="2895600"/>
            <a:ext cx="38100" cy="19812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8"/>
          <p:cNvSpPr/>
          <p:nvPr/>
        </p:nvSpPr>
        <p:spPr>
          <a:xfrm>
            <a:off x="6229350" y="2895600"/>
            <a:ext cx="38100" cy="19812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8"/>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156" name="Google Shape;156;p18"/>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Requerimientos Funcionales y Estéticos</a:t>
            </a:r>
            <a:endParaRPr/>
          </a:p>
        </p:txBody>
      </p:sp>
      <p:sp>
        <p:nvSpPr>
          <p:cNvPr id="157" name="Google Shape;157;p18"/>
          <p:cNvSpPr txBox="1"/>
          <p:nvPr/>
        </p:nvSpPr>
        <p:spPr>
          <a:xfrm>
            <a:off x="914400" y="3162300"/>
            <a:ext cx="6275784"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Work Sans"/>
                <a:ea typeface="Work Sans"/>
                <a:cs typeface="Work Sans"/>
                <a:sym typeface="Work Sans"/>
              </a:rPr>
              <a:t>Requerimientos Funcionales</a:t>
            </a:r>
            <a:endParaRPr/>
          </a:p>
        </p:txBody>
      </p:sp>
      <p:sp>
        <p:nvSpPr>
          <p:cNvPr id="158" name="Google Shape;158;p18"/>
          <p:cNvSpPr txBox="1"/>
          <p:nvPr/>
        </p:nvSpPr>
        <p:spPr>
          <a:xfrm>
            <a:off x="6534150" y="3162300"/>
            <a:ext cx="565785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Work Sans"/>
                <a:ea typeface="Work Sans"/>
                <a:cs typeface="Work Sans"/>
                <a:sym typeface="Work Sans"/>
              </a:rPr>
              <a:t>Requerimientos Estéticos</a:t>
            </a:r>
            <a:endParaRPr/>
          </a:p>
        </p:txBody>
      </p:sp>
      <p:sp>
        <p:nvSpPr>
          <p:cNvPr id="159" name="Google Shape;159;p18"/>
          <p:cNvSpPr txBox="1"/>
          <p:nvPr/>
        </p:nvSpPr>
        <p:spPr>
          <a:xfrm>
            <a:off x="914400" y="3543300"/>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RF-01:</a:t>
            </a:r>
            <a:r>
              <a:rPr b="0" i="0" lang="en-US" sz="1200" u="none" cap="none" strike="noStrike">
                <a:solidFill>
                  <a:srgbClr val="475569"/>
                </a:solidFill>
                <a:latin typeface="Work Sans"/>
                <a:ea typeface="Work Sans"/>
                <a:cs typeface="Work Sans"/>
                <a:sym typeface="Work Sans"/>
              </a:rPr>
              <a:t> Registro multiempresa y usuarios.</a:t>
            </a:r>
            <a:endParaRPr/>
          </a:p>
        </p:txBody>
      </p:sp>
      <p:sp>
        <p:nvSpPr>
          <p:cNvPr id="160" name="Google Shape;160;p18"/>
          <p:cNvSpPr txBox="1"/>
          <p:nvPr/>
        </p:nvSpPr>
        <p:spPr>
          <a:xfrm>
            <a:off x="914400" y="3838575"/>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RF-02:</a:t>
            </a:r>
            <a:r>
              <a:rPr b="0" i="0" lang="en-US" sz="1200" u="none" cap="none" strike="noStrike">
                <a:solidFill>
                  <a:srgbClr val="475569"/>
                </a:solidFill>
                <a:latin typeface="Work Sans"/>
                <a:ea typeface="Work Sans"/>
                <a:cs typeface="Work Sans"/>
                <a:sym typeface="Work Sans"/>
              </a:rPr>
              <a:t> Alta, edición y bajas de productos.</a:t>
            </a:r>
            <a:endParaRPr/>
          </a:p>
        </p:txBody>
      </p:sp>
      <p:sp>
        <p:nvSpPr>
          <p:cNvPr id="161" name="Google Shape;161;p18"/>
          <p:cNvSpPr txBox="1"/>
          <p:nvPr/>
        </p:nvSpPr>
        <p:spPr>
          <a:xfrm>
            <a:off x="914400" y="4133850"/>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RF-03:</a:t>
            </a:r>
            <a:r>
              <a:rPr b="0" i="0" lang="en-US" sz="1200" u="none" cap="none" strike="noStrike">
                <a:solidFill>
                  <a:srgbClr val="475569"/>
                </a:solidFill>
                <a:latin typeface="Work Sans"/>
                <a:ea typeface="Work Sans"/>
                <a:cs typeface="Work Sans"/>
                <a:sym typeface="Work Sans"/>
              </a:rPr>
              <a:t> Control de stock y movimientos.</a:t>
            </a:r>
            <a:endParaRPr/>
          </a:p>
        </p:txBody>
      </p:sp>
      <p:sp>
        <p:nvSpPr>
          <p:cNvPr id="162" name="Google Shape;162;p18"/>
          <p:cNvSpPr txBox="1"/>
          <p:nvPr/>
        </p:nvSpPr>
        <p:spPr>
          <a:xfrm>
            <a:off x="914400" y="4429125"/>
            <a:ext cx="5976937"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RF-04:</a:t>
            </a:r>
            <a:r>
              <a:rPr b="0" i="0" lang="en-US" sz="1200" u="none" cap="none" strike="noStrike">
                <a:solidFill>
                  <a:srgbClr val="475569"/>
                </a:solidFill>
                <a:latin typeface="Work Sans"/>
                <a:ea typeface="Work Sans"/>
                <a:cs typeface="Work Sans"/>
                <a:sym typeface="Work Sans"/>
              </a:rPr>
              <a:t> Alertas automáticas de stock mínimo.</a:t>
            </a:r>
            <a:endParaRPr/>
          </a:p>
        </p:txBody>
      </p:sp>
      <p:sp>
        <p:nvSpPr>
          <p:cNvPr id="163" name="Google Shape;163;p18"/>
          <p:cNvSpPr txBox="1"/>
          <p:nvPr/>
        </p:nvSpPr>
        <p:spPr>
          <a:xfrm>
            <a:off x="6534150" y="3543300"/>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Soporte de Temas:</a:t>
            </a:r>
            <a:r>
              <a:rPr b="0" i="0" lang="en-US" sz="1200" u="none" cap="none" strike="noStrike">
                <a:solidFill>
                  <a:srgbClr val="475569"/>
                </a:solidFill>
                <a:latin typeface="Work Sans"/>
                <a:ea typeface="Work Sans"/>
                <a:cs typeface="Work Sans"/>
                <a:sym typeface="Work Sans"/>
              </a:rPr>
              <a:t> Modo oscuro y claro.</a:t>
            </a:r>
            <a:endParaRPr/>
          </a:p>
        </p:txBody>
      </p:sp>
      <p:sp>
        <p:nvSpPr>
          <p:cNvPr id="164" name="Google Shape;164;p18"/>
          <p:cNvSpPr txBox="1"/>
          <p:nvPr/>
        </p:nvSpPr>
        <p:spPr>
          <a:xfrm>
            <a:off x="6534150" y="3838575"/>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Jerarquía Clara:</a:t>
            </a:r>
            <a:r>
              <a:rPr b="0" i="0" lang="en-US" sz="1200" u="none" cap="none" strike="noStrike">
                <a:solidFill>
                  <a:srgbClr val="475569"/>
                </a:solidFill>
                <a:latin typeface="Work Sans"/>
                <a:ea typeface="Work Sans"/>
                <a:cs typeface="Work Sans"/>
                <a:sym typeface="Work Sans"/>
              </a:rPr>
              <a:t> Tipografía funcional.</a:t>
            </a:r>
            <a:endParaRPr/>
          </a:p>
        </p:txBody>
      </p:sp>
      <p:sp>
        <p:nvSpPr>
          <p:cNvPr id="165" name="Google Shape;165;p18"/>
          <p:cNvSpPr txBox="1"/>
          <p:nvPr/>
        </p:nvSpPr>
        <p:spPr>
          <a:xfrm>
            <a:off x="6534150" y="4133850"/>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Uso del Color:</a:t>
            </a:r>
            <a:r>
              <a:rPr b="0" i="0" lang="en-US" sz="1200" u="none" cap="none" strike="noStrike">
                <a:solidFill>
                  <a:srgbClr val="475569"/>
                </a:solidFill>
                <a:latin typeface="Work Sans"/>
                <a:ea typeface="Work Sans"/>
                <a:cs typeface="Work Sans"/>
                <a:sym typeface="Work Sans"/>
              </a:rPr>
              <a:t> Colores semánticos aislados.</a:t>
            </a:r>
            <a:endParaRPr/>
          </a:p>
        </p:txBody>
      </p:sp>
      <p:sp>
        <p:nvSpPr>
          <p:cNvPr id="166" name="Google Shape;166;p18"/>
          <p:cNvSpPr txBox="1"/>
          <p:nvPr/>
        </p:nvSpPr>
        <p:spPr>
          <a:xfrm>
            <a:off x="6534150" y="4429125"/>
            <a:ext cx="56578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475569"/>
                </a:solidFill>
                <a:latin typeface="Work Sans"/>
                <a:ea typeface="Work Sans"/>
                <a:cs typeface="Work Sans"/>
                <a:sym typeface="Work Sans"/>
              </a:rPr>
              <a:t>Diseño Limpio:</a:t>
            </a:r>
            <a:r>
              <a:rPr b="0" i="0" lang="en-US" sz="1200" u="none" cap="none" strike="noStrike">
                <a:solidFill>
                  <a:srgbClr val="475569"/>
                </a:solidFill>
                <a:latin typeface="Work Sans"/>
                <a:ea typeface="Work Sans"/>
                <a:cs typeface="Work Sans"/>
                <a:sym typeface="Work Sans"/>
              </a:rPr>
              <a:t> Aspecto profesional y moderno.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0" name="Shape 170"/>
        <p:cNvGrpSpPr/>
        <p:nvPr/>
      </p:nvGrpSpPr>
      <p:grpSpPr>
        <a:xfrm>
          <a:off x="0" y="0"/>
          <a:ext cx="0" cy="0"/>
          <a:chOff x="0" y="0"/>
          <a:chExt cx="0" cy="0"/>
        </a:xfrm>
      </p:grpSpPr>
      <p:sp>
        <p:nvSpPr>
          <p:cNvPr id="171" name="Google Shape;171;p19"/>
          <p:cNvSpPr/>
          <p:nvPr/>
        </p:nvSpPr>
        <p:spPr>
          <a:xfrm>
            <a:off x="516850" y="2976550"/>
            <a:ext cx="3690900" cy="1819200"/>
          </a:xfrm>
          <a:prstGeom prst="roundRect">
            <a:avLst>
              <a:gd fmla="val 62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p:nvPr/>
        </p:nvSpPr>
        <p:spPr>
          <a:xfrm>
            <a:off x="4299950" y="2976550"/>
            <a:ext cx="3641700" cy="1819200"/>
          </a:xfrm>
          <a:prstGeom prst="roundRect">
            <a:avLst>
              <a:gd fmla="val 62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9"/>
          <p:cNvSpPr/>
          <p:nvPr/>
        </p:nvSpPr>
        <p:spPr>
          <a:xfrm>
            <a:off x="8077200" y="2976562"/>
            <a:ext cx="3505200" cy="1819275"/>
          </a:xfrm>
          <a:prstGeom prst="roundRect">
            <a:avLst>
              <a:gd fmla="val 6282"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9"/>
          <p:cNvSpPr/>
          <p:nvPr/>
        </p:nvSpPr>
        <p:spPr>
          <a:xfrm>
            <a:off x="2066925" y="3243262"/>
            <a:ext cx="590550" cy="228600"/>
          </a:xfrm>
          <a:prstGeom prst="roundRect">
            <a:avLst>
              <a:gd fmla="val 16666"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5800725" y="3243262"/>
            <a:ext cx="590550" cy="228600"/>
          </a:xfrm>
          <a:prstGeom prst="roundRect">
            <a:avLst>
              <a:gd fmla="val 16666" name="adj"/>
            </a:avLst>
          </a:prstGeom>
          <a:solidFill>
            <a:srgbClr val="EFF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9"/>
          <p:cNvSpPr/>
          <p:nvPr/>
        </p:nvSpPr>
        <p:spPr>
          <a:xfrm>
            <a:off x="9534525" y="3243262"/>
            <a:ext cx="590550" cy="228600"/>
          </a:xfrm>
          <a:prstGeom prst="roundRect">
            <a:avLst>
              <a:gd fmla="val 16666"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9"/>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178" name="Google Shape;178;p19"/>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a:t>
            </a:r>
            <a:endParaRPr/>
          </a:p>
        </p:txBody>
      </p:sp>
      <p:sp>
        <p:nvSpPr>
          <p:cNvPr id="179" name="Google Shape;179;p19"/>
          <p:cNvSpPr txBox="1"/>
          <p:nvPr/>
        </p:nvSpPr>
        <p:spPr>
          <a:xfrm>
            <a:off x="2019300" y="3281362"/>
            <a:ext cx="6858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64748B"/>
                </a:solidFill>
                <a:latin typeface="JetBrains Mono"/>
                <a:ea typeface="JetBrains Mono"/>
                <a:cs typeface="JetBrains Mono"/>
                <a:sym typeface="JetBrains Mono"/>
              </a:rPr>
              <a:t>FASE 1</a:t>
            </a:r>
            <a:endParaRPr/>
          </a:p>
        </p:txBody>
      </p:sp>
      <p:sp>
        <p:nvSpPr>
          <p:cNvPr id="180" name="Google Shape;180;p19"/>
          <p:cNvSpPr txBox="1"/>
          <p:nvPr/>
        </p:nvSpPr>
        <p:spPr>
          <a:xfrm>
            <a:off x="424457" y="3586162"/>
            <a:ext cx="387548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Work Sans"/>
                <a:ea typeface="Work Sans"/>
                <a:cs typeface="Work Sans"/>
                <a:sym typeface="Work Sans"/>
              </a:rPr>
              <a:t>Wireframes</a:t>
            </a:r>
            <a:endParaRPr/>
          </a:p>
        </p:txBody>
      </p:sp>
      <p:sp>
        <p:nvSpPr>
          <p:cNvPr id="181" name="Google Shape;181;p19"/>
          <p:cNvSpPr txBox="1"/>
          <p:nvPr/>
        </p:nvSpPr>
        <p:spPr>
          <a:xfrm>
            <a:off x="516731" y="3890962"/>
            <a:ext cx="369093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64748B"/>
                </a:solidFill>
                <a:latin typeface="Work Sans"/>
                <a:ea typeface="Work Sans"/>
                <a:cs typeface="Work Sans"/>
                <a:sym typeface="Work Sans"/>
              </a:rPr>
              <a:t>Baja Fidelidad</a:t>
            </a:r>
            <a:endParaRPr/>
          </a:p>
        </p:txBody>
      </p:sp>
      <p:sp>
        <p:nvSpPr>
          <p:cNvPr id="182" name="Google Shape;182;p19"/>
          <p:cNvSpPr txBox="1"/>
          <p:nvPr/>
        </p:nvSpPr>
        <p:spPr>
          <a:xfrm>
            <a:off x="609600" y="4229125"/>
            <a:ext cx="3505200" cy="346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Estructura básica de Login y Dashboard en blanco y negro.</a:t>
            </a:r>
            <a:endParaRPr/>
          </a:p>
        </p:txBody>
      </p:sp>
      <p:sp>
        <p:nvSpPr>
          <p:cNvPr id="183" name="Google Shape;183;p19"/>
          <p:cNvSpPr txBox="1"/>
          <p:nvPr/>
        </p:nvSpPr>
        <p:spPr>
          <a:xfrm>
            <a:off x="5753100" y="3281362"/>
            <a:ext cx="6858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JetBrains Mono"/>
                <a:ea typeface="JetBrains Mono"/>
                <a:cs typeface="JetBrains Mono"/>
                <a:sym typeface="JetBrains Mono"/>
              </a:rPr>
              <a:t>FASE 2</a:t>
            </a:r>
            <a:endParaRPr/>
          </a:p>
        </p:txBody>
      </p:sp>
      <p:sp>
        <p:nvSpPr>
          <p:cNvPr id="184" name="Google Shape;184;p19"/>
          <p:cNvSpPr txBox="1"/>
          <p:nvPr/>
        </p:nvSpPr>
        <p:spPr>
          <a:xfrm>
            <a:off x="4158257" y="3586162"/>
            <a:ext cx="387548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Work Sans"/>
                <a:ea typeface="Work Sans"/>
                <a:cs typeface="Work Sans"/>
                <a:sym typeface="Work Sans"/>
              </a:rPr>
              <a:t>Mockups</a:t>
            </a:r>
            <a:endParaRPr/>
          </a:p>
        </p:txBody>
      </p:sp>
      <p:sp>
        <p:nvSpPr>
          <p:cNvPr id="185" name="Google Shape;185;p19"/>
          <p:cNvSpPr txBox="1"/>
          <p:nvPr/>
        </p:nvSpPr>
        <p:spPr>
          <a:xfrm>
            <a:off x="4250531" y="3890962"/>
            <a:ext cx="369093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2F91F9"/>
                </a:solidFill>
                <a:latin typeface="Work Sans"/>
                <a:ea typeface="Work Sans"/>
                <a:cs typeface="Work Sans"/>
                <a:sym typeface="Work Sans"/>
              </a:rPr>
              <a:t>Alta Fidelidad (Figma)</a:t>
            </a:r>
            <a:endParaRPr/>
          </a:p>
        </p:txBody>
      </p:sp>
      <p:sp>
        <p:nvSpPr>
          <p:cNvPr id="186" name="Google Shape;186;p19"/>
          <p:cNvSpPr txBox="1"/>
          <p:nvPr/>
        </p:nvSpPr>
        <p:spPr>
          <a:xfrm>
            <a:off x="4389875" y="4229125"/>
            <a:ext cx="3505200" cy="346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Diseño detallado con componentes en modo oscuro y claro.</a:t>
            </a:r>
            <a:endParaRPr/>
          </a:p>
        </p:txBody>
      </p:sp>
      <p:sp>
        <p:nvSpPr>
          <p:cNvPr id="187" name="Google Shape;187;p19"/>
          <p:cNvSpPr txBox="1"/>
          <p:nvPr/>
        </p:nvSpPr>
        <p:spPr>
          <a:xfrm>
            <a:off x="9486900" y="3281362"/>
            <a:ext cx="685800"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JetBrains Mono"/>
                <a:ea typeface="JetBrains Mono"/>
                <a:cs typeface="JetBrains Mono"/>
                <a:sym typeface="JetBrains Mono"/>
              </a:rPr>
              <a:t>FASE 3</a:t>
            </a:r>
            <a:endParaRPr/>
          </a:p>
        </p:txBody>
      </p:sp>
      <p:sp>
        <p:nvSpPr>
          <p:cNvPr id="188" name="Google Shape;188;p19"/>
          <p:cNvSpPr txBox="1"/>
          <p:nvPr/>
        </p:nvSpPr>
        <p:spPr>
          <a:xfrm>
            <a:off x="7892057" y="3586162"/>
            <a:ext cx="3875484"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Work Sans"/>
                <a:ea typeface="Work Sans"/>
                <a:cs typeface="Work Sans"/>
                <a:sym typeface="Work Sans"/>
              </a:rPr>
              <a:t>Prototipo</a:t>
            </a:r>
            <a:endParaRPr/>
          </a:p>
        </p:txBody>
      </p:sp>
      <p:sp>
        <p:nvSpPr>
          <p:cNvPr id="189" name="Google Shape;189;p19"/>
          <p:cNvSpPr txBox="1"/>
          <p:nvPr/>
        </p:nvSpPr>
        <p:spPr>
          <a:xfrm>
            <a:off x="7984331" y="3890962"/>
            <a:ext cx="3690937"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0F172A"/>
                </a:solidFill>
                <a:latin typeface="Work Sans"/>
                <a:ea typeface="Work Sans"/>
                <a:cs typeface="Work Sans"/>
                <a:sym typeface="Work Sans"/>
              </a:rPr>
              <a:t>Dinámico e Interactivo</a:t>
            </a:r>
            <a:endParaRPr/>
          </a:p>
        </p:txBody>
      </p:sp>
      <p:sp>
        <p:nvSpPr>
          <p:cNvPr id="190" name="Google Shape;190;p19"/>
          <p:cNvSpPr txBox="1"/>
          <p:nvPr/>
        </p:nvSpPr>
        <p:spPr>
          <a:xfrm>
            <a:off x="7984331" y="4176712"/>
            <a:ext cx="369093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Simulación funcional de navegación creada con HTML/CSS/JS.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4" name="Shape 194"/>
        <p:cNvGrpSpPr/>
        <p:nvPr/>
      </p:nvGrpSpPr>
      <p:grpSpPr>
        <a:xfrm>
          <a:off x="0" y="0"/>
          <a:ext cx="0" cy="0"/>
          <a:chOff x="0" y="0"/>
          <a:chExt cx="0" cy="0"/>
        </a:xfrm>
      </p:grpSpPr>
      <p:sp>
        <p:nvSpPr>
          <p:cNvPr id="195" name="Google Shape;195;p20"/>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196" name="Google Shape;196;p20"/>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Modo oscuro</a:t>
            </a:r>
            <a:endParaRPr/>
          </a:p>
        </p:txBody>
      </p:sp>
      <p:pic>
        <p:nvPicPr>
          <p:cNvPr id="197" name="Google Shape;197;p20" title="Mockup-negro.png"/>
          <p:cNvPicPr preferRelativeResize="0"/>
          <p:nvPr/>
        </p:nvPicPr>
        <p:blipFill>
          <a:blip r:embed="rId3">
            <a:alphaModFix/>
          </a:blip>
          <a:stretch>
            <a:fillRect/>
          </a:stretch>
        </p:blipFill>
        <p:spPr>
          <a:xfrm>
            <a:off x="155710" y="1488075"/>
            <a:ext cx="11887198" cy="44010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1" name="Shape 201"/>
        <p:cNvGrpSpPr/>
        <p:nvPr/>
      </p:nvGrpSpPr>
      <p:grpSpPr>
        <a:xfrm>
          <a:off x="0" y="0"/>
          <a:ext cx="0" cy="0"/>
          <a:chOff x="0" y="0"/>
          <a:chExt cx="0" cy="0"/>
        </a:xfrm>
      </p:grpSpPr>
      <p:sp>
        <p:nvSpPr>
          <p:cNvPr id="202" name="Google Shape;202;p21"/>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03" name="Google Shape;203;p21"/>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Modo Claro</a:t>
            </a:r>
            <a:endParaRPr/>
          </a:p>
        </p:txBody>
      </p:sp>
      <p:pic>
        <p:nvPicPr>
          <p:cNvPr id="204" name="Google Shape;204;p21" title="Mockup-blanco.png"/>
          <p:cNvPicPr preferRelativeResize="0"/>
          <p:nvPr/>
        </p:nvPicPr>
        <p:blipFill rotWithShape="1">
          <a:blip r:embed="rId3">
            <a:alphaModFix/>
          </a:blip>
          <a:srcRect b="0" l="0" r="0" t="0"/>
          <a:stretch/>
        </p:blipFill>
        <p:spPr>
          <a:xfrm>
            <a:off x="152400" y="1531675"/>
            <a:ext cx="11887201" cy="46487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8" name="Shape 208"/>
        <p:cNvGrpSpPr/>
        <p:nvPr/>
      </p:nvGrpSpPr>
      <p:grpSpPr>
        <a:xfrm>
          <a:off x="0" y="0"/>
          <a:ext cx="0" cy="0"/>
          <a:chOff x="0" y="0"/>
          <a:chExt cx="0" cy="0"/>
        </a:xfrm>
      </p:grpSpPr>
      <p:sp>
        <p:nvSpPr>
          <p:cNvPr id="209" name="Google Shape;209;p22"/>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10" name="Google Shape;210;p22"/>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Dashboard modo </a:t>
            </a:r>
            <a:r>
              <a:rPr b="1" i="1" lang="en-US" sz="2400" u="none" cap="none" strike="noStrike">
                <a:solidFill>
                  <a:srgbClr val="666666"/>
                </a:solidFill>
                <a:latin typeface="Work Sans"/>
                <a:ea typeface="Work Sans"/>
                <a:cs typeface="Work Sans"/>
                <a:sym typeface="Work Sans"/>
              </a:rPr>
              <a:t>oscuro</a:t>
            </a:r>
            <a:endParaRPr i="1">
              <a:solidFill>
                <a:srgbClr val="666666"/>
              </a:solidFill>
            </a:endParaRPr>
          </a:p>
        </p:txBody>
      </p:sp>
      <p:pic>
        <p:nvPicPr>
          <p:cNvPr id="211" name="Google Shape;211;p22" title="Dashboard - Almacenes.png"/>
          <p:cNvPicPr preferRelativeResize="0"/>
          <p:nvPr/>
        </p:nvPicPr>
        <p:blipFill>
          <a:blip r:embed="rId3">
            <a:alphaModFix/>
          </a:blip>
          <a:stretch>
            <a:fillRect/>
          </a:stretch>
        </p:blipFill>
        <p:spPr>
          <a:xfrm>
            <a:off x="2014875" y="1237050"/>
            <a:ext cx="8771844" cy="5479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5" name="Shape 215"/>
        <p:cNvGrpSpPr/>
        <p:nvPr/>
      </p:nvGrpSpPr>
      <p:grpSpPr>
        <a:xfrm>
          <a:off x="0" y="0"/>
          <a:ext cx="0" cy="0"/>
          <a:chOff x="0" y="0"/>
          <a:chExt cx="0" cy="0"/>
        </a:xfrm>
      </p:grpSpPr>
      <p:sp>
        <p:nvSpPr>
          <p:cNvPr id="216" name="Google Shape;216;p23"/>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17" name="Google Shape;217;p23"/>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Bocetos, Mockups y Prototipo - Dashboard modo </a:t>
            </a:r>
            <a:r>
              <a:rPr b="1" i="1" lang="en-US" sz="2400">
                <a:solidFill>
                  <a:srgbClr val="999999"/>
                </a:solidFill>
                <a:latin typeface="Work Sans"/>
                <a:ea typeface="Work Sans"/>
                <a:cs typeface="Work Sans"/>
                <a:sym typeface="Work Sans"/>
              </a:rPr>
              <a:t>claro</a:t>
            </a:r>
            <a:endParaRPr i="1">
              <a:solidFill>
                <a:srgbClr val="999999"/>
              </a:solidFill>
            </a:endParaRPr>
          </a:p>
        </p:txBody>
      </p:sp>
      <p:pic>
        <p:nvPicPr>
          <p:cNvPr id="218" name="Google Shape;218;p23" title="Mockup-Dashboard-blanco.png"/>
          <p:cNvPicPr preferRelativeResize="0"/>
          <p:nvPr/>
        </p:nvPicPr>
        <p:blipFill>
          <a:blip r:embed="rId3">
            <a:alphaModFix/>
          </a:blip>
          <a:stretch>
            <a:fillRect/>
          </a:stretch>
        </p:blipFill>
        <p:spPr>
          <a:xfrm>
            <a:off x="917625" y="1200760"/>
            <a:ext cx="10356744" cy="54790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2" name="Shape 222"/>
        <p:cNvGrpSpPr/>
        <p:nvPr/>
      </p:nvGrpSpPr>
      <p:grpSpPr>
        <a:xfrm>
          <a:off x="0" y="0"/>
          <a:ext cx="0" cy="0"/>
          <a:chOff x="0" y="0"/>
          <a:chExt cx="0" cy="0"/>
        </a:xfrm>
      </p:grpSpPr>
      <p:sp>
        <p:nvSpPr>
          <p:cNvPr id="223" name="Google Shape;223;p24"/>
          <p:cNvSpPr/>
          <p:nvPr/>
        </p:nvSpPr>
        <p:spPr>
          <a:xfrm>
            <a:off x="609550" y="4893412"/>
            <a:ext cx="5353200" cy="1781100"/>
          </a:xfrm>
          <a:prstGeom prst="roundRect">
            <a:avLst>
              <a:gd fmla="val 6417"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4"/>
          <p:cNvSpPr/>
          <p:nvPr/>
        </p:nvSpPr>
        <p:spPr>
          <a:xfrm>
            <a:off x="6229300" y="4893412"/>
            <a:ext cx="5353200" cy="1781100"/>
          </a:xfrm>
          <a:prstGeom prst="roundRect">
            <a:avLst>
              <a:gd fmla="val 6417"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4"/>
          <p:cNvSpPr/>
          <p:nvPr/>
        </p:nvSpPr>
        <p:spPr>
          <a:xfrm>
            <a:off x="885775" y="5522062"/>
            <a:ext cx="228600" cy="228600"/>
          </a:xfrm>
          <a:prstGeom prst="roundRect">
            <a:avLst>
              <a:gd fmla="val 16666" name="adj"/>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4"/>
          <p:cNvSpPr/>
          <p:nvPr/>
        </p:nvSpPr>
        <p:spPr>
          <a:xfrm>
            <a:off x="885775" y="5845912"/>
            <a:ext cx="228600" cy="228600"/>
          </a:xfrm>
          <a:prstGeom prst="roundRect">
            <a:avLst>
              <a:gd fmla="val 16666" name="adj"/>
            </a:avLst>
          </a:prstGeom>
          <a:solidFill>
            <a:srgbClr val="0D111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4"/>
          <p:cNvSpPr/>
          <p:nvPr/>
        </p:nvSpPr>
        <p:spPr>
          <a:xfrm>
            <a:off x="885775" y="6169762"/>
            <a:ext cx="228600" cy="228600"/>
          </a:xfrm>
          <a:prstGeom prst="roundRect">
            <a:avLst>
              <a:gd fmla="val 16666" name="adj"/>
            </a:avLst>
          </a:prstGeom>
          <a:solidFill>
            <a:srgbClr val="EF44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24"/>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2. PLAN DE DISEÑO</a:t>
            </a:r>
            <a:endParaRPr/>
          </a:p>
        </p:txBody>
      </p:sp>
      <p:sp>
        <p:nvSpPr>
          <p:cNvPr id="229" name="Google Shape;229;p24"/>
          <p:cNvSpPr txBox="1"/>
          <p:nvPr/>
        </p:nvSpPr>
        <p:spPr>
          <a:xfrm>
            <a:off x="609600" y="704850"/>
            <a:ext cx="11582400" cy="362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Justificación de Decisiones de Diseño</a:t>
            </a:r>
            <a:endParaRPr/>
          </a:p>
        </p:txBody>
      </p:sp>
      <p:sp>
        <p:nvSpPr>
          <p:cNvPr id="230" name="Google Shape;230;p24"/>
          <p:cNvSpPr txBox="1"/>
          <p:nvPr/>
        </p:nvSpPr>
        <p:spPr>
          <a:xfrm>
            <a:off x="885775" y="5169637"/>
            <a:ext cx="63009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Paleta de Colores</a:t>
            </a:r>
            <a:endParaRPr/>
          </a:p>
        </p:txBody>
      </p:sp>
      <p:sp>
        <p:nvSpPr>
          <p:cNvPr id="231" name="Google Shape;231;p24"/>
          <p:cNvSpPr txBox="1"/>
          <p:nvPr/>
        </p:nvSpPr>
        <p:spPr>
          <a:xfrm>
            <a:off x="6505525" y="5169637"/>
            <a:ext cx="56865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Work Sans"/>
                <a:ea typeface="Work Sans"/>
                <a:cs typeface="Work Sans"/>
                <a:sym typeface="Work Sans"/>
              </a:rPr>
              <a:t>Tipografía</a:t>
            </a:r>
            <a:endParaRPr/>
          </a:p>
        </p:txBody>
      </p:sp>
      <p:sp>
        <p:nvSpPr>
          <p:cNvPr id="232" name="Google Shape;232;p24"/>
          <p:cNvSpPr txBox="1"/>
          <p:nvPr/>
        </p:nvSpPr>
        <p:spPr>
          <a:xfrm>
            <a:off x="1228675" y="5550637"/>
            <a:ext cx="12669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Azul:</a:t>
            </a:r>
            <a:endParaRPr/>
          </a:p>
        </p:txBody>
      </p:sp>
      <p:sp>
        <p:nvSpPr>
          <p:cNvPr id="233" name="Google Shape;233;p24"/>
          <p:cNvSpPr txBox="1"/>
          <p:nvPr/>
        </p:nvSpPr>
        <p:spPr>
          <a:xfrm>
            <a:off x="1663425" y="5569687"/>
            <a:ext cx="2381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Fiabilidad y acción principal.</a:t>
            </a:r>
            <a:endParaRPr/>
          </a:p>
        </p:txBody>
      </p:sp>
      <p:sp>
        <p:nvSpPr>
          <p:cNvPr id="234" name="Google Shape;234;p24"/>
          <p:cNvSpPr txBox="1"/>
          <p:nvPr/>
        </p:nvSpPr>
        <p:spPr>
          <a:xfrm>
            <a:off x="1228675" y="5874475"/>
            <a:ext cx="15081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25">
                <a:solidFill>
                  <a:srgbClr val="0F172A"/>
                </a:solidFill>
                <a:latin typeface="Work Sans"/>
                <a:ea typeface="Work Sans"/>
                <a:cs typeface="Work Sans"/>
                <a:sym typeface="Work Sans"/>
              </a:rPr>
              <a:t>Tono </a:t>
            </a:r>
            <a:r>
              <a:rPr b="1" i="0" lang="en-US" sz="1125" u="none" cap="none" strike="noStrike">
                <a:solidFill>
                  <a:srgbClr val="0F172A"/>
                </a:solidFill>
                <a:latin typeface="Work Sans"/>
                <a:ea typeface="Work Sans"/>
                <a:cs typeface="Work Sans"/>
                <a:sym typeface="Work Sans"/>
              </a:rPr>
              <a:t>Oscuro Base:</a:t>
            </a:r>
            <a:endParaRPr/>
          </a:p>
        </p:txBody>
      </p:sp>
      <p:sp>
        <p:nvSpPr>
          <p:cNvPr id="235" name="Google Shape;235;p24"/>
          <p:cNvSpPr txBox="1"/>
          <p:nvPr/>
        </p:nvSpPr>
        <p:spPr>
          <a:xfrm>
            <a:off x="2567025" y="5888762"/>
            <a:ext cx="22740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Confort en uso continuado.</a:t>
            </a:r>
            <a:endParaRPr/>
          </a:p>
        </p:txBody>
      </p:sp>
      <p:sp>
        <p:nvSpPr>
          <p:cNvPr id="236" name="Google Shape;236;p24"/>
          <p:cNvSpPr txBox="1"/>
          <p:nvPr/>
        </p:nvSpPr>
        <p:spPr>
          <a:xfrm>
            <a:off x="1228675" y="6198337"/>
            <a:ext cx="11526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Work Sans"/>
                <a:ea typeface="Work Sans"/>
                <a:cs typeface="Work Sans"/>
                <a:sym typeface="Work Sans"/>
              </a:rPr>
              <a:t>Semánticos:</a:t>
            </a:r>
            <a:endParaRPr/>
          </a:p>
        </p:txBody>
      </p:sp>
      <p:sp>
        <p:nvSpPr>
          <p:cNvPr id="237" name="Google Shape;237;p24"/>
          <p:cNvSpPr txBox="1"/>
          <p:nvPr/>
        </p:nvSpPr>
        <p:spPr>
          <a:xfrm>
            <a:off x="2209750" y="6207862"/>
            <a:ext cx="26313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Verde/Ámbar/Rojo para estados.</a:t>
            </a:r>
            <a:endParaRPr/>
          </a:p>
        </p:txBody>
      </p:sp>
      <p:sp>
        <p:nvSpPr>
          <p:cNvPr id="238" name="Google Shape;238;p24"/>
          <p:cNvSpPr txBox="1"/>
          <p:nvPr/>
        </p:nvSpPr>
        <p:spPr>
          <a:xfrm>
            <a:off x="6505525" y="5522062"/>
            <a:ext cx="5686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Work Sans"/>
                <a:ea typeface="Work Sans"/>
                <a:cs typeface="Work Sans"/>
                <a:sym typeface="Work Sans"/>
              </a:rPr>
              <a:t>Work Sans</a:t>
            </a:r>
            <a:endParaRPr/>
          </a:p>
        </p:txBody>
      </p:sp>
      <p:sp>
        <p:nvSpPr>
          <p:cNvPr id="239" name="Google Shape;239;p24"/>
          <p:cNvSpPr txBox="1"/>
          <p:nvPr/>
        </p:nvSpPr>
        <p:spPr>
          <a:xfrm>
            <a:off x="6505525" y="5741137"/>
            <a:ext cx="5686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Fuente principal para interfaz, alta legibilidad.</a:t>
            </a:r>
            <a:endParaRPr/>
          </a:p>
        </p:txBody>
      </p:sp>
      <p:sp>
        <p:nvSpPr>
          <p:cNvPr id="240" name="Google Shape;240;p24"/>
          <p:cNvSpPr txBox="1"/>
          <p:nvPr/>
        </p:nvSpPr>
        <p:spPr>
          <a:xfrm>
            <a:off x="6505525" y="6007837"/>
            <a:ext cx="56865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JetBrains Mono"/>
                <a:ea typeface="JetBrains Mono"/>
                <a:cs typeface="JetBrains Mono"/>
                <a:sym typeface="JetBrains Mono"/>
              </a:rPr>
              <a:t>JetBrains Mono</a:t>
            </a:r>
            <a:endParaRPr/>
          </a:p>
        </p:txBody>
      </p:sp>
      <p:sp>
        <p:nvSpPr>
          <p:cNvPr id="241" name="Google Shape;241;p24"/>
          <p:cNvSpPr txBox="1"/>
          <p:nvPr/>
        </p:nvSpPr>
        <p:spPr>
          <a:xfrm>
            <a:off x="6505525" y="6245962"/>
            <a:ext cx="56865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475569"/>
                </a:solidFill>
                <a:latin typeface="Work Sans"/>
                <a:ea typeface="Work Sans"/>
                <a:cs typeface="Work Sans"/>
                <a:sym typeface="Work Sans"/>
              </a:rPr>
              <a:t>Fuente monoespaciada para marca y métricas.</a:t>
            </a:r>
            <a:endParaRPr/>
          </a:p>
        </p:txBody>
      </p:sp>
      <p:sp>
        <p:nvSpPr>
          <p:cNvPr id="242" name="Google Shape;242;p24"/>
          <p:cNvSpPr txBox="1"/>
          <p:nvPr/>
        </p:nvSpPr>
        <p:spPr>
          <a:xfrm>
            <a:off x="1890625" y="1164110"/>
            <a:ext cx="7327200" cy="3509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La elección de los colores y las tipografías no es simplemente estética, sino que está relacionada con la funcionalidad de StockLink.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Hemos elegido el azul como color principal porque transmite confianza, seguridad y profesionalidad, que son características que queremos asociar a una aplicación de gestión empresarial. Para el tema oscuro utilizamos tonos oscuros porque buscamos una interfaz moderna y cómoda para utilizar durante periodos prolongados.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Además, utilizamos verde, ámbar y rojo como colores semánticos. Esto es especialmente importante en nuestra aplicación porque permiten identificar rápidamente el estado del stock: verde cuando está correcto, ámbar cuando hay que prestar atención y rojo cuando el stock es crítico.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En cuanto a las tipografías, utilizamos Work Sans como fuente principal porque es limpia y fácil de leer. Para datos, métricas y algunos elementos de marca utilizamos JetBrains Mono, ya que su aspecto monoespaciado permite diferenciarlos visualmente del resto de la interfaz.</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l">
              <a:spcBef>
                <a:spcPts val="0"/>
              </a:spcBef>
              <a:spcAft>
                <a:spcPts val="0"/>
              </a:spcAft>
              <a:buNone/>
            </a:pPr>
            <a:r>
              <a:rPr lang="en-US" sz="1200">
                <a:solidFill>
                  <a:srgbClr val="475569"/>
                </a:solidFill>
                <a:latin typeface="Work Sans"/>
                <a:ea typeface="Work Sans"/>
                <a:cs typeface="Work Sans"/>
                <a:sym typeface="Work Sans"/>
              </a:rPr>
              <a:t>En resumen, hemos elegido los colores y tipografías buscando que el diseño sea atractivo, pero sobre todo que ayude al usuario a interpretar la información rápidamente. </a:t>
            </a:r>
            <a:endParaRPr sz="1200">
              <a:solidFill>
                <a:srgbClr val="475569"/>
              </a:solidFill>
              <a:latin typeface="Work Sans"/>
              <a:ea typeface="Work Sans"/>
              <a:cs typeface="Work Sans"/>
              <a:sym typeface="Work Sans"/>
            </a:endParaRPr>
          </a:p>
        </p:txBody>
      </p:sp>
      <p:sp>
        <p:nvSpPr>
          <p:cNvPr id="243" name="Google Shape;243;p24"/>
          <p:cNvSpPr/>
          <p:nvPr/>
        </p:nvSpPr>
        <p:spPr>
          <a:xfrm>
            <a:off x="1551966" y="1208375"/>
            <a:ext cx="19500" cy="33672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47" name="Shape 247"/>
        <p:cNvGrpSpPr/>
        <p:nvPr/>
      </p:nvGrpSpPr>
      <p:grpSpPr>
        <a:xfrm>
          <a:off x="0" y="0"/>
          <a:ext cx="0" cy="0"/>
          <a:chOff x="0" y="0"/>
          <a:chExt cx="0" cy="0"/>
        </a:xfrm>
      </p:grpSpPr>
      <p:sp>
        <p:nvSpPr>
          <p:cNvPr id="248" name="Google Shape;248;p25"/>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3. CRONOGRAMA DE EJECUCIÓN</a:t>
            </a:r>
            <a:endParaRPr/>
          </a:p>
        </p:txBody>
      </p:sp>
      <p:sp>
        <p:nvSpPr>
          <p:cNvPr id="249" name="Google Shape;249;p25"/>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Planificación Temporal del Proyecto</a:t>
            </a:r>
            <a:endParaRPr/>
          </a:p>
        </p:txBody>
      </p:sp>
      <p:graphicFrame>
        <p:nvGraphicFramePr>
          <p:cNvPr id="250" name="Google Shape;250;p25"/>
          <p:cNvGraphicFramePr/>
          <p:nvPr/>
        </p:nvGraphicFramePr>
        <p:xfrm>
          <a:off x="1649859" y="1265663"/>
          <a:ext cx="3000000" cy="3000000"/>
        </p:xfrm>
        <a:graphic>
          <a:graphicData uri="http://schemas.openxmlformats.org/drawingml/2006/table">
            <a:tbl>
              <a:tblPr bandCol="1" bandRow="1">
                <a:noFill/>
                <a:tableStyleId>{4CF52F8D-73B3-44B8-B759-D81201AB5A01}</a:tableStyleId>
              </a:tblPr>
              <a:tblGrid>
                <a:gridCol w="2173675"/>
                <a:gridCol w="1821350"/>
                <a:gridCol w="866100"/>
                <a:gridCol w="5013900"/>
              </a:tblGrid>
              <a:tr h="688875">
                <a:tc>
                  <a:txBody>
                    <a:bodyPr/>
                    <a:lstStyle/>
                    <a:p>
                      <a:pPr indent="0" lvl="0" marL="0" rtl="0" algn="ctr">
                        <a:lnSpc>
                          <a:spcPct val="115000"/>
                        </a:lnSpc>
                        <a:spcBef>
                          <a:spcPts val="0"/>
                        </a:spcBef>
                        <a:spcAft>
                          <a:spcPts val="0"/>
                        </a:spcAft>
                        <a:buNone/>
                      </a:pPr>
                      <a:r>
                        <a:rPr b="1" lang="en-US" sz="1125">
                          <a:solidFill>
                            <a:srgbClr val="0F172A"/>
                          </a:solidFill>
                          <a:latin typeface="Work Sans"/>
                          <a:ea typeface="Work Sans"/>
                          <a:cs typeface="Work Sans"/>
                          <a:sym typeface="Work Sans"/>
                        </a:rPr>
                        <a:t>Sprint</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lnSpc>
                          <a:spcPct val="115000"/>
                        </a:lnSpc>
                        <a:spcBef>
                          <a:spcPts val="0"/>
                        </a:spcBef>
                        <a:spcAft>
                          <a:spcPts val="0"/>
                        </a:spcAft>
                        <a:buNone/>
                      </a:pPr>
                      <a:r>
                        <a:rPr b="1" lang="en-US" sz="1125">
                          <a:solidFill>
                            <a:srgbClr val="0F172A"/>
                          </a:solidFill>
                          <a:latin typeface="Work Sans"/>
                          <a:ea typeface="Work Sans"/>
                          <a:cs typeface="Work Sans"/>
                          <a:sym typeface="Work Sans"/>
                        </a:rPr>
                        <a:t>Fechas</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b="1" lang="en-US" sz="1125">
                          <a:solidFill>
                            <a:srgbClr val="0F172A"/>
                          </a:solidFill>
                          <a:latin typeface="Work Sans"/>
                          <a:ea typeface="Work Sans"/>
                          <a:cs typeface="Work Sans"/>
                          <a:sym typeface="Work Sans"/>
                        </a:rPr>
                        <a:t>Horas</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lnSpc>
                          <a:spcPct val="115000"/>
                        </a:lnSpc>
                        <a:spcBef>
                          <a:spcPts val="0"/>
                        </a:spcBef>
                        <a:spcAft>
                          <a:spcPts val="0"/>
                        </a:spcAft>
                        <a:buNone/>
                      </a:pPr>
                      <a:r>
                        <a:rPr b="1" lang="en-US" sz="1125">
                          <a:solidFill>
                            <a:srgbClr val="0F172A"/>
                          </a:solidFill>
                          <a:latin typeface="Work Sans"/>
                          <a:ea typeface="Work Sans"/>
                          <a:cs typeface="Work Sans"/>
                          <a:sym typeface="Work Sans"/>
                        </a:rPr>
                        <a:t>Objetivo</a:t>
                      </a:r>
                      <a:endParaRPr b="1" sz="1125">
                        <a:solidFill>
                          <a:srgbClr val="0F172A"/>
                        </a:solidFill>
                        <a:latin typeface="Work Sans"/>
                        <a:ea typeface="Work Sans"/>
                        <a:cs typeface="Work Sans"/>
                        <a:sym typeface="Work Sans"/>
                      </a:endParaRPr>
                    </a:p>
                  </a:txBody>
                  <a:tcPr marT="91425" marB="91425" marR="91425" marL="91425"/>
                </a:tc>
              </a:tr>
              <a:tr h="727825">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S1 – Planificación y Diseño UI/UX</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15/09/26 – 15/10/26</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lang="en-US" sz="1125">
                          <a:solidFill>
                            <a:srgbClr val="0F172A"/>
                          </a:solidFill>
                          <a:latin typeface="Work Sans"/>
                          <a:ea typeface="Work Sans"/>
                          <a:cs typeface="Work Sans"/>
                          <a:sym typeface="Work Sans"/>
                        </a:rPr>
                        <a:t>15 h</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Planificación del proyecto y diseño de la interfaz y experiencia de usuario</a:t>
                      </a:r>
                      <a:endParaRPr sz="1125">
                        <a:solidFill>
                          <a:srgbClr val="0F172A"/>
                        </a:solidFill>
                        <a:latin typeface="Work Sans"/>
                        <a:ea typeface="Work Sans"/>
                        <a:cs typeface="Work Sans"/>
                        <a:sym typeface="Work Sans"/>
                      </a:endParaRPr>
                    </a:p>
                  </a:txBody>
                  <a:tcPr marT="91425" marB="91425" marR="91425" marL="91425"/>
                </a:tc>
              </a:tr>
              <a:tr h="618825">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S2 – Maquetación HTML5 y CSS</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16/10/26 – 12/11/26</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lang="en-US" sz="1125">
                          <a:solidFill>
                            <a:srgbClr val="0F172A"/>
                          </a:solidFill>
                          <a:latin typeface="Work Sans"/>
                          <a:ea typeface="Work Sans"/>
                          <a:cs typeface="Work Sans"/>
                          <a:sym typeface="Work Sans"/>
                        </a:rPr>
                        <a:t>15 h</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Desarrollo de la estructura visual mediante HTML5 y CSS</a:t>
                      </a:r>
                      <a:endParaRPr sz="1125">
                        <a:solidFill>
                          <a:srgbClr val="0F172A"/>
                        </a:solidFill>
                        <a:latin typeface="Work Sans"/>
                        <a:ea typeface="Work Sans"/>
                        <a:cs typeface="Work Sans"/>
                        <a:sym typeface="Work Sans"/>
                      </a:endParaRPr>
                    </a:p>
                  </a:txBody>
                  <a:tcPr marT="91425" marB="91425" marR="91425" marL="91425"/>
                </a:tc>
              </a:tr>
              <a:tr h="71620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S3 – Contenido Multimedia</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13/11/26 – 03/12/26</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lang="en-US" sz="1125">
                          <a:solidFill>
                            <a:srgbClr val="0F172A"/>
                          </a:solidFill>
                          <a:latin typeface="Work Sans"/>
                          <a:ea typeface="Work Sans"/>
                          <a:cs typeface="Work Sans"/>
                          <a:sym typeface="Work Sans"/>
                        </a:rPr>
                        <a:t>15 h</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Incorporación y organización de recursos multimedia</a:t>
                      </a:r>
                      <a:endParaRPr sz="1125">
                        <a:solidFill>
                          <a:srgbClr val="0F172A"/>
                        </a:solidFill>
                        <a:latin typeface="Work Sans"/>
                        <a:ea typeface="Work Sans"/>
                        <a:cs typeface="Work Sans"/>
                        <a:sym typeface="Work Sans"/>
                      </a:endParaRPr>
                    </a:p>
                  </a:txBody>
                  <a:tcPr marT="91425" marB="91425" marR="91425" marL="91425"/>
                </a:tc>
              </a:tr>
              <a:tr h="57515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S4 – Frontend de Interactividad</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04/12/26 – 23/12/26</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lang="en-US" sz="1125">
                          <a:solidFill>
                            <a:srgbClr val="0F172A"/>
                          </a:solidFill>
                          <a:latin typeface="Work Sans"/>
                          <a:ea typeface="Work Sans"/>
                          <a:cs typeface="Work Sans"/>
                          <a:sym typeface="Work Sans"/>
                        </a:rPr>
                        <a:t>15 h</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Implementación de la interactividad y comportamiento dinámico</a:t>
                      </a:r>
                      <a:endParaRPr sz="1125">
                        <a:solidFill>
                          <a:srgbClr val="0F172A"/>
                        </a:solidFill>
                        <a:latin typeface="Work Sans"/>
                        <a:ea typeface="Work Sans"/>
                        <a:cs typeface="Work Sans"/>
                        <a:sym typeface="Work Sans"/>
                      </a:endParaRPr>
                    </a:p>
                  </a:txBody>
                  <a:tcPr marT="91425" marB="91425" marR="91425" marL="91425"/>
                </a:tc>
              </a:tr>
              <a:tr h="91450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S5 – Accesibilidad Web</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11/01/27 – 04/02/27</a:t>
                      </a:r>
                      <a:endParaRPr sz="1125">
                        <a:solidFill>
                          <a:srgbClr val="0F172A"/>
                        </a:solidFill>
                        <a:latin typeface="Work Sans"/>
                        <a:ea typeface="Work Sans"/>
                        <a:cs typeface="Work Sans"/>
                        <a:sym typeface="Work Sans"/>
                      </a:endParaRPr>
                    </a:p>
                    <a:p>
                      <a:pPr indent="0" lvl="0" marL="0" rtl="0" algn="l">
                        <a:spcBef>
                          <a:spcPts val="0"/>
                        </a:spcBef>
                        <a:spcAft>
                          <a:spcPts val="0"/>
                        </a:spcAft>
                        <a:buNone/>
                      </a:pPr>
                      <a:r>
                        <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lang="en-US" sz="1125">
                          <a:solidFill>
                            <a:srgbClr val="0F172A"/>
                          </a:solidFill>
                          <a:latin typeface="Work Sans"/>
                          <a:ea typeface="Work Sans"/>
                          <a:cs typeface="Work Sans"/>
                          <a:sym typeface="Work Sans"/>
                        </a:rPr>
                        <a:t>15 h</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Mejora de la accesibilidad y adaptación a diferentes usuarios </a:t>
                      </a:r>
                      <a:endParaRPr sz="1125">
                        <a:solidFill>
                          <a:srgbClr val="0F172A"/>
                        </a:solidFill>
                        <a:latin typeface="Work Sans"/>
                        <a:ea typeface="Work Sans"/>
                        <a:cs typeface="Work Sans"/>
                        <a:sym typeface="Work Sans"/>
                      </a:endParaRPr>
                    </a:p>
                  </a:txBody>
                  <a:tcPr marT="91425" marB="91425" marR="91425" marL="91425"/>
                </a:tc>
              </a:tr>
              <a:tr h="91450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S6 – Usabilidad y Auditoría Final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05/02/27 – 21/02/27 </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r">
                        <a:lnSpc>
                          <a:spcPct val="115000"/>
                        </a:lnSpc>
                        <a:spcBef>
                          <a:spcPts val="0"/>
                        </a:spcBef>
                        <a:spcAft>
                          <a:spcPts val="0"/>
                        </a:spcAft>
                        <a:buNone/>
                      </a:pPr>
                      <a:r>
                        <a:rPr lang="en-US" sz="1125">
                          <a:solidFill>
                            <a:srgbClr val="0F172A"/>
                          </a:solidFill>
                          <a:latin typeface="Work Sans"/>
                          <a:ea typeface="Work Sans"/>
                          <a:cs typeface="Work Sans"/>
                          <a:sym typeface="Work Sans"/>
                        </a:rPr>
                        <a:t>15 h</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Revisión final de usabilidad y auditoría de la aplicación </a:t>
                      </a:r>
                      <a:endParaRPr sz="1125">
                        <a:solidFill>
                          <a:srgbClr val="0F172A"/>
                        </a:solidFill>
                        <a:latin typeface="Work Sans"/>
                        <a:ea typeface="Work Sans"/>
                        <a:cs typeface="Work Sans"/>
                        <a:sym typeface="Work Sans"/>
                      </a:endParaRPr>
                    </a:p>
                  </a:txBody>
                  <a:tcPr marT="91425" marB="91425" marR="91425" marL="91425"/>
                </a:tc>
              </a:tr>
            </a:tbl>
          </a:graphicData>
        </a:graphic>
      </p:graphicFrame>
      <p:graphicFrame>
        <p:nvGraphicFramePr>
          <p:cNvPr id="251" name="Google Shape;251;p25"/>
          <p:cNvGraphicFramePr/>
          <p:nvPr/>
        </p:nvGraphicFramePr>
        <p:xfrm>
          <a:off x="3823525" y="4619350"/>
          <a:ext cx="3000000" cy="3000000"/>
        </p:xfrm>
        <a:graphic>
          <a:graphicData uri="http://schemas.openxmlformats.org/drawingml/2006/table">
            <a:tbl>
              <a:tblPr>
                <a:noFill/>
                <a:tableStyleId>{B28F6D5B-2E93-41B0-8517-ECB78BA6F3C4}</a:tableStyleId>
              </a:tblPr>
              <a:tblGrid>
                <a:gridCol w="2303600"/>
              </a:tblGrid>
              <a:tr h="19050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52" name="Google Shape;252;p25"/>
          <p:cNvGraphicFramePr/>
          <p:nvPr/>
        </p:nvGraphicFramePr>
        <p:xfrm>
          <a:off x="304800" y="304800"/>
          <a:ext cx="3000000" cy="3000000"/>
        </p:xfrm>
        <a:graphic>
          <a:graphicData uri="http://schemas.openxmlformats.org/drawingml/2006/table">
            <a:tbl>
              <a:tblPr>
                <a:noFill/>
                <a:tableStyleId>{B28F6D5B-2E93-41B0-8517-ECB78BA6F3C4}</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6" name="Shape 256"/>
        <p:cNvGrpSpPr/>
        <p:nvPr/>
      </p:nvGrpSpPr>
      <p:grpSpPr>
        <a:xfrm>
          <a:off x="0" y="0"/>
          <a:ext cx="0" cy="0"/>
          <a:chOff x="0" y="0"/>
          <a:chExt cx="0" cy="0"/>
        </a:xfrm>
      </p:grpSpPr>
      <p:sp>
        <p:nvSpPr>
          <p:cNvPr id="257" name="Google Shape;257;p26"/>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2F91F9"/>
                </a:solidFill>
                <a:latin typeface="JetBrains Mono"/>
                <a:ea typeface="JetBrains Mono"/>
                <a:cs typeface="JetBrains Mono"/>
                <a:sym typeface="JetBrains Mono"/>
              </a:rPr>
              <a:t>3. Diagrama GANTT</a:t>
            </a:r>
            <a:endParaRPr/>
          </a:p>
        </p:txBody>
      </p:sp>
      <p:sp>
        <p:nvSpPr>
          <p:cNvPr id="258" name="Google Shape;258;p26"/>
          <p:cNvSpPr txBox="1"/>
          <p:nvPr/>
        </p:nvSpPr>
        <p:spPr>
          <a:xfrm>
            <a:off x="609600" y="704850"/>
            <a:ext cx="11582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0F172A"/>
                </a:solidFill>
                <a:latin typeface="Work Sans"/>
                <a:ea typeface="Work Sans"/>
                <a:cs typeface="Work Sans"/>
                <a:sym typeface="Work Sans"/>
              </a:rPr>
              <a:t>Diagrama de gantt</a:t>
            </a:r>
            <a:endParaRPr/>
          </a:p>
        </p:txBody>
      </p:sp>
      <p:graphicFrame>
        <p:nvGraphicFramePr>
          <p:cNvPr id="259" name="Google Shape;259;p26"/>
          <p:cNvGraphicFramePr/>
          <p:nvPr/>
        </p:nvGraphicFramePr>
        <p:xfrm>
          <a:off x="831909" y="1241913"/>
          <a:ext cx="3000000" cy="3000000"/>
        </p:xfrm>
        <a:graphic>
          <a:graphicData uri="http://schemas.openxmlformats.org/drawingml/2006/table">
            <a:tbl>
              <a:tblPr bandCol="1" bandRow="1">
                <a:noFill/>
                <a:tableStyleId>{4CF52F8D-73B3-44B8-B759-D81201AB5A01}</a:tableStyleId>
              </a:tblPr>
              <a:tblGrid>
                <a:gridCol w="1523025"/>
                <a:gridCol w="1077850"/>
                <a:gridCol w="980300"/>
                <a:gridCol w="978950"/>
                <a:gridCol w="978925"/>
                <a:gridCol w="1066450"/>
                <a:gridCol w="1066450"/>
                <a:gridCol w="1118875"/>
                <a:gridCol w="1014025"/>
                <a:gridCol w="1066450"/>
              </a:tblGrid>
              <a:tr h="688875">
                <a:tc>
                  <a:txBody>
                    <a:bodyPr/>
                    <a:lstStyle/>
                    <a:p>
                      <a:pPr indent="0" lvl="0" marL="0" rtl="0" algn="ctr">
                        <a:lnSpc>
                          <a:spcPct val="115000"/>
                        </a:lnSpc>
                        <a:spcBef>
                          <a:spcPts val="0"/>
                        </a:spcBef>
                        <a:spcAft>
                          <a:spcPts val="0"/>
                        </a:spcAft>
                        <a:buNone/>
                      </a:pPr>
                      <a:r>
                        <a:rPr b="1" lang="en-US" sz="1125">
                          <a:solidFill>
                            <a:srgbClr val="0F172A"/>
                          </a:solidFill>
                          <a:latin typeface="Work Sans"/>
                          <a:ea typeface="Work Sans"/>
                          <a:cs typeface="Work Sans"/>
                          <a:sym typeface="Work Sans"/>
                        </a:rPr>
                        <a:t>Sprints</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sz="1125">
                          <a:solidFill>
                            <a:srgbClr val="0F172A"/>
                          </a:solidFill>
                          <a:latin typeface="Work Sans"/>
                          <a:ea typeface="Work Sans"/>
                          <a:cs typeface="Work Sans"/>
                          <a:sym typeface="Work Sans"/>
                        </a:rPr>
                        <a:t>Sep 15–30 </a:t>
                      </a:r>
                      <a:endParaRPr b="1" sz="1125">
                        <a:solidFill>
                          <a:srgbClr val="0F172A"/>
                        </a:solidFill>
                        <a:latin typeface="Work Sans"/>
                        <a:ea typeface="Work Sans"/>
                        <a:cs typeface="Work Sans"/>
                        <a:sym typeface="Work Sans"/>
                      </a:endParaRPr>
                    </a:p>
                    <a:p>
                      <a:pPr indent="0" lvl="0" marL="0" rtl="0" algn="ctr">
                        <a:lnSpc>
                          <a:spcPct val="115000"/>
                        </a:lnSpc>
                        <a:spcBef>
                          <a:spcPts val="0"/>
                        </a:spcBef>
                        <a:spcAft>
                          <a:spcPts val="0"/>
                        </a:spcAft>
                        <a:buNone/>
                      </a:pPr>
                      <a:r>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sz="1125">
                          <a:solidFill>
                            <a:srgbClr val="0F172A"/>
                          </a:solidFill>
                          <a:latin typeface="Work Sans"/>
                          <a:ea typeface="Work Sans"/>
                          <a:cs typeface="Work Sans"/>
                          <a:sym typeface="Work Sans"/>
                        </a:rPr>
                        <a:t>Oct 1–15 </a:t>
                      </a:r>
                      <a:endParaRPr b="1" sz="1125">
                        <a:solidFill>
                          <a:srgbClr val="0F172A"/>
                        </a:solidFill>
                        <a:latin typeface="Work Sans"/>
                        <a:ea typeface="Work Sans"/>
                        <a:cs typeface="Work Sans"/>
                        <a:sym typeface="Work Sans"/>
                      </a:endParaRPr>
                    </a:p>
                    <a:p>
                      <a:pPr indent="0" lvl="0" marL="0" rtl="0" algn="ctr">
                        <a:lnSpc>
                          <a:spcPct val="115000"/>
                        </a:lnSpc>
                        <a:spcBef>
                          <a:spcPts val="0"/>
                        </a:spcBef>
                        <a:spcAft>
                          <a:spcPts val="0"/>
                        </a:spcAft>
                        <a:buNone/>
                      </a:pPr>
                      <a:r>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sz="1125">
                          <a:solidFill>
                            <a:srgbClr val="0F172A"/>
                          </a:solidFill>
                          <a:latin typeface="Work Sans"/>
                          <a:ea typeface="Work Sans"/>
                          <a:cs typeface="Work Sans"/>
                          <a:sym typeface="Work Sans"/>
                        </a:rPr>
                        <a:t>Oct 16–31 </a:t>
                      </a:r>
                      <a:endParaRPr b="1" sz="1125">
                        <a:solidFill>
                          <a:srgbClr val="0F172A"/>
                        </a:solidFill>
                        <a:latin typeface="Work Sans"/>
                        <a:ea typeface="Work Sans"/>
                        <a:cs typeface="Work Sans"/>
                        <a:sym typeface="Work Sans"/>
                      </a:endParaRPr>
                    </a:p>
                    <a:p>
                      <a:pPr indent="0" lvl="0" marL="0" rtl="0" algn="ctr">
                        <a:lnSpc>
                          <a:spcPct val="115000"/>
                        </a:lnSpc>
                        <a:spcBef>
                          <a:spcPts val="0"/>
                        </a:spcBef>
                        <a:spcAft>
                          <a:spcPts val="0"/>
                        </a:spcAft>
                        <a:buNone/>
                      </a:pPr>
                      <a:r>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sz="1125">
                          <a:solidFill>
                            <a:srgbClr val="0F172A"/>
                          </a:solidFill>
                          <a:latin typeface="Work Sans"/>
                          <a:ea typeface="Work Sans"/>
                          <a:cs typeface="Work Sans"/>
                          <a:sym typeface="Work Sans"/>
                        </a:rPr>
                        <a:t>Nov 1–12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sz="1125">
                          <a:solidFill>
                            <a:srgbClr val="0F172A"/>
                          </a:solidFill>
                          <a:latin typeface="Work Sans"/>
                          <a:ea typeface="Work Sans"/>
                          <a:cs typeface="Work Sans"/>
                          <a:sym typeface="Work Sans"/>
                        </a:rPr>
                        <a:t>Nov 13–30 </a:t>
                      </a:r>
                      <a:endParaRPr b="1" sz="1125">
                        <a:solidFill>
                          <a:srgbClr val="0F172A"/>
                        </a:solidFill>
                        <a:latin typeface="Work Sans"/>
                        <a:ea typeface="Work Sans"/>
                        <a:cs typeface="Work Sans"/>
                        <a:sym typeface="Work Sans"/>
                      </a:endParaRPr>
                    </a:p>
                    <a:p>
                      <a:pPr indent="0" lvl="0" marL="0" rtl="0" algn="ctr">
                        <a:spcBef>
                          <a:spcPts val="0"/>
                        </a:spcBef>
                        <a:spcAft>
                          <a:spcPts val="0"/>
                        </a:spcAft>
                        <a:buNone/>
                      </a:pPr>
                      <a:r>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en-US" sz="1125">
                          <a:solidFill>
                            <a:srgbClr val="0F172A"/>
                          </a:solidFill>
                          <a:latin typeface="Work Sans"/>
                          <a:ea typeface="Work Sans"/>
                          <a:cs typeface="Work Sans"/>
                          <a:sym typeface="Work Sans"/>
                        </a:rPr>
                        <a:t>Dic 1–23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None/>
                      </a:pPr>
                      <a:r>
                        <a:rPr b="1" lang="en-US" sz="1125">
                          <a:solidFill>
                            <a:srgbClr val="0F172A"/>
                          </a:solidFill>
                          <a:latin typeface="Work Sans"/>
                          <a:ea typeface="Work Sans"/>
                          <a:cs typeface="Work Sans"/>
                          <a:sym typeface="Work Sans"/>
                        </a:rPr>
                        <a:t>Dic 24–Ene 8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None/>
                      </a:pPr>
                      <a:r>
                        <a:rPr b="1" lang="en-US" sz="1125">
                          <a:solidFill>
                            <a:srgbClr val="0F172A"/>
                          </a:solidFill>
                          <a:latin typeface="Work Sans"/>
                          <a:ea typeface="Work Sans"/>
                          <a:cs typeface="Work Sans"/>
                          <a:sym typeface="Work Sans"/>
                        </a:rPr>
                        <a:t>Ene 11–31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ctr">
                        <a:spcBef>
                          <a:spcPts val="0"/>
                        </a:spcBef>
                        <a:spcAft>
                          <a:spcPts val="0"/>
                        </a:spcAft>
                        <a:buNone/>
                      </a:pPr>
                      <a:r>
                        <a:rPr b="1" lang="en-US" sz="1125">
                          <a:solidFill>
                            <a:srgbClr val="0F172A"/>
                          </a:solidFill>
                          <a:latin typeface="Work Sans"/>
                          <a:ea typeface="Work Sans"/>
                          <a:cs typeface="Work Sans"/>
                          <a:sym typeface="Work Sans"/>
                        </a:rPr>
                        <a:t>Feb 1–21 </a:t>
                      </a:r>
                      <a:endParaRPr b="1" sz="1125">
                        <a:solidFill>
                          <a:srgbClr val="0F172A"/>
                        </a:solidFill>
                        <a:latin typeface="Work Sans"/>
                        <a:ea typeface="Work Sans"/>
                        <a:cs typeface="Work Sans"/>
                        <a:sym typeface="Work Sans"/>
                      </a:endParaRPr>
                    </a:p>
                  </a:txBody>
                  <a:tcPr marT="91425" marB="91425" marR="91425" marL="91425"/>
                </a:tc>
              </a:tr>
              <a:tr h="727825">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S1 – Planificación y Diseño UI/UX</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rPr lang="en-US" sz="1125">
                          <a:solidFill>
                            <a:srgbClr val="0F172A"/>
                          </a:solidFill>
                          <a:latin typeface="Work Sans"/>
                          <a:ea typeface="Work Sans"/>
                          <a:cs typeface="Work Sans"/>
                          <a:sym typeface="Work Sans"/>
                        </a:rPr>
                        <a:t>🟦 🟦 🟦 </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18825">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S2 – Maquetación HTML5 y CSS</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71620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S3 – Contenido Multimedia</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7515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S4 – Frontend de Interactividad</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91450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S5 – Accesibilidad Web</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US"/>
                        <a:t>🟨 🟨 🟨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r>
              <a:tr h="914500">
                <a:tc>
                  <a:txBody>
                    <a:bodyPr/>
                    <a:lstStyle/>
                    <a:p>
                      <a:pPr indent="0" lvl="0" marL="0" rtl="0" algn="l">
                        <a:spcBef>
                          <a:spcPts val="0"/>
                        </a:spcBef>
                        <a:spcAft>
                          <a:spcPts val="0"/>
                        </a:spcAft>
                        <a:buNone/>
                      </a:pPr>
                      <a:r>
                        <a:rPr b="1" lang="en-US" sz="1125">
                          <a:solidFill>
                            <a:srgbClr val="0F172A"/>
                          </a:solidFill>
                          <a:latin typeface="Work Sans"/>
                          <a:ea typeface="Work Sans"/>
                          <a:cs typeface="Work Sans"/>
                          <a:sym typeface="Work Sans"/>
                        </a:rPr>
                        <a:t>S6 – Usabilidad y Auditoría Final </a:t>
                      </a:r>
                      <a:endParaRPr b="1" sz="1125">
                        <a:solidFill>
                          <a:srgbClr val="0F172A"/>
                        </a:solidFill>
                        <a:latin typeface="Work Sans"/>
                        <a:ea typeface="Work Sans"/>
                        <a:cs typeface="Work Sans"/>
                        <a:sym typeface="Work Sans"/>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1125">
                          <a:solidFill>
                            <a:srgbClr val="0F172A"/>
                          </a:solidFill>
                          <a:latin typeface="Work Sans"/>
                          <a:ea typeface="Work Sans"/>
                          <a:cs typeface="Work Sans"/>
                          <a:sym typeface="Work Sans"/>
                        </a:rPr>
                        <a:t>🟦 🟦 🟦</a:t>
                      </a:r>
                      <a:endParaRPr/>
                    </a:p>
                  </a:txBody>
                  <a:tcPr marT="91425" marB="91425" marR="91425" marL="91425"/>
                </a:tc>
              </a:tr>
            </a:tbl>
          </a:graphicData>
        </a:graphic>
      </p:graphicFrame>
      <p:graphicFrame>
        <p:nvGraphicFramePr>
          <p:cNvPr id="260" name="Google Shape;260;p26"/>
          <p:cNvGraphicFramePr/>
          <p:nvPr/>
        </p:nvGraphicFramePr>
        <p:xfrm>
          <a:off x="4096175" y="4595600"/>
          <a:ext cx="3000000" cy="3000000"/>
        </p:xfrm>
        <a:graphic>
          <a:graphicData uri="http://schemas.openxmlformats.org/drawingml/2006/table">
            <a:tbl>
              <a:tblPr>
                <a:noFill/>
                <a:tableStyleId>{B28F6D5B-2E93-41B0-8517-ECB78BA6F3C4}</a:tableStyleId>
              </a:tblPr>
              <a:tblGrid>
                <a:gridCol w="2303600"/>
              </a:tblGrid>
              <a:tr h="190500">
                <a:tc>
                  <a:txBody>
                    <a:bodyPr/>
                    <a:lstStyle/>
                    <a:p>
                      <a:pPr indent="0" lvl="0" marL="0" rtl="0" algn="l">
                        <a:spcBef>
                          <a:spcPts val="0"/>
                        </a:spcBef>
                        <a:spcAft>
                          <a:spcPts val="0"/>
                        </a:spcAft>
                        <a:buNone/>
                      </a:pPr>
                      <a:r>
                        <a:t/>
                      </a:r>
                      <a:endParaRPr/>
                    </a:p>
                  </a:txBody>
                  <a:tcPr marT="91425" marB="91425" marR="91425" marL="91425"/>
                </a:tc>
              </a:tr>
            </a:tbl>
          </a:graphicData>
        </a:graphic>
      </p:graphicFrame>
      <p:graphicFrame>
        <p:nvGraphicFramePr>
          <p:cNvPr id="261" name="Google Shape;261;p26"/>
          <p:cNvGraphicFramePr/>
          <p:nvPr/>
        </p:nvGraphicFramePr>
        <p:xfrm>
          <a:off x="304800" y="304800"/>
          <a:ext cx="3000000" cy="3000000"/>
        </p:xfrm>
        <a:graphic>
          <a:graphicData uri="http://schemas.openxmlformats.org/drawingml/2006/table">
            <a:tbl>
              <a:tblPr>
                <a:noFill/>
                <a:tableStyleId>{B28F6D5B-2E93-41B0-8517-ECB78BA6F3C4}</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5" name="Shape 265"/>
        <p:cNvGrpSpPr/>
        <p:nvPr/>
      </p:nvGrpSpPr>
      <p:grpSpPr>
        <a:xfrm>
          <a:off x="0" y="0"/>
          <a:ext cx="0" cy="0"/>
          <a:chOff x="0" y="0"/>
          <a:chExt cx="0" cy="0"/>
        </a:xfrm>
      </p:grpSpPr>
      <p:sp>
        <p:nvSpPr>
          <p:cNvPr id="266" name="Google Shape;266;p27"/>
          <p:cNvSpPr/>
          <p:nvPr/>
        </p:nvSpPr>
        <p:spPr>
          <a:xfrm>
            <a:off x="7541713" y="1483662"/>
            <a:ext cx="3987900" cy="1704900"/>
          </a:xfrm>
          <a:prstGeom prst="roundRect">
            <a:avLst>
              <a:gd fmla="val 670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7"/>
          <p:cNvSpPr/>
          <p:nvPr/>
        </p:nvSpPr>
        <p:spPr>
          <a:xfrm>
            <a:off x="556763" y="1440800"/>
            <a:ext cx="6718200" cy="17907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68" name="Google Shape;268;p27"/>
          <p:cNvGraphicFramePr/>
          <p:nvPr/>
        </p:nvGraphicFramePr>
        <p:xfrm>
          <a:off x="556763" y="1440800"/>
          <a:ext cx="3000000" cy="3000000"/>
        </p:xfrm>
        <a:graphic>
          <a:graphicData uri="http://schemas.openxmlformats.org/drawingml/2006/table">
            <a:tbl>
              <a:tblPr>
                <a:noFill/>
                <a:tableStyleId>{B28F6D5B-2E93-41B0-8517-ECB78BA6F3C4}</a:tableStyleId>
              </a:tblPr>
              <a:tblGrid>
                <a:gridCol w="1835850"/>
                <a:gridCol w="1477325"/>
                <a:gridCol w="879600"/>
                <a:gridCol w="1372175"/>
                <a:gridCol w="1143775"/>
              </a:tblGrid>
              <a:tr h="447675">
                <a:tc>
                  <a:txBody>
                    <a:bodyPr/>
                    <a:lstStyle/>
                    <a:p>
                      <a:pPr indent="0" lvl="0" marL="0" marR="0" rtl="0" algn="ctr">
                        <a:spcBef>
                          <a:spcPts val="0"/>
                        </a:spcBef>
                        <a:spcAft>
                          <a:spcPts val="0"/>
                        </a:spcAft>
                        <a:buNone/>
                      </a:pPr>
                      <a:r>
                        <a:rPr b="1" i="0" lang="en-US" sz="1125" u="none" cap="none" strike="noStrike">
                          <a:solidFill>
                            <a:srgbClr val="0F172A"/>
                          </a:solidFill>
                          <a:latin typeface="Work Sans"/>
                          <a:ea typeface="Work Sans"/>
                          <a:cs typeface="Work Sans"/>
                          <a:sym typeface="Work Sans"/>
                        </a:rPr>
                        <a:t>Integrante</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lang="en-US" sz="1125">
                          <a:solidFill>
                            <a:srgbClr val="0F172A"/>
                          </a:solidFill>
                          <a:latin typeface="Work Sans"/>
                          <a:ea typeface="Work Sans"/>
                          <a:cs typeface="Work Sans"/>
                          <a:sym typeface="Work Sans"/>
                        </a:rPr>
                        <a:t>Tareas</a:t>
                      </a:r>
                      <a:endParaRPr b="1" i="0" sz="1125" u="none" cap="none" strike="noStrike">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125" u="none" cap="none" strike="noStrike">
                          <a:solidFill>
                            <a:srgbClr val="0F172A"/>
                          </a:solidFill>
                          <a:latin typeface="Work Sans"/>
                          <a:ea typeface="Work Sans"/>
                          <a:cs typeface="Work Sans"/>
                          <a:sym typeface="Work Sans"/>
                        </a:rPr>
                        <a:t>Horas</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125" u="none" cap="none" strike="noStrike">
                          <a:solidFill>
                            <a:srgbClr val="0F172A"/>
                          </a:solidFill>
                          <a:latin typeface="Work Sans"/>
                          <a:ea typeface="Work Sans"/>
                          <a:cs typeface="Work Sans"/>
                          <a:sym typeface="Work Sans"/>
                        </a:rPr>
                        <a:t>Coste/Hora</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i="0" lang="en-US" sz="1125" u="none" cap="none" strike="noStrike">
                          <a:solidFill>
                            <a:srgbClr val="0F172A"/>
                          </a:solidFill>
                          <a:latin typeface="Work Sans"/>
                          <a:ea typeface="Work Sans"/>
                          <a:cs typeface="Work Sans"/>
                          <a:sym typeface="Work Sans"/>
                        </a:rPr>
                        <a:t>Subtotal</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r>
              <a:tr h="447675">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Daniel Jiménez Ramírez</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Scrum master/ Frontend/ Diseño</a:t>
                      </a:r>
                      <a:endParaRPr b="0" i="0" sz="1125" u="none" cap="none" strike="noStrike">
                        <a:solidFill>
                          <a:srgbClr val="475569"/>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2</a:t>
                      </a:r>
                      <a:r>
                        <a:rPr lang="en-US" sz="1125">
                          <a:solidFill>
                            <a:srgbClr val="475569"/>
                          </a:solidFill>
                          <a:latin typeface="Work Sans"/>
                          <a:ea typeface="Work Sans"/>
                          <a:cs typeface="Work Sans"/>
                          <a:sym typeface="Work Sans"/>
                        </a:rPr>
                        <a:t>25</a:t>
                      </a:r>
                      <a:r>
                        <a:rPr b="0" i="0" lang="en-US" sz="1125" u="none" cap="none" strike="noStrike">
                          <a:solidFill>
                            <a:srgbClr val="475569"/>
                          </a:solidFill>
                          <a:latin typeface="Work Sans"/>
                          <a:ea typeface="Work Sans"/>
                          <a:cs typeface="Work Sans"/>
                          <a:sym typeface="Work Sans"/>
                        </a:rPr>
                        <a:t> hr</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18</a:t>
                      </a:r>
                      <a:r>
                        <a:rPr b="0" i="0" lang="en-US" sz="1125" u="none" cap="none" strike="noStrike">
                          <a:solidFill>
                            <a:srgbClr val="475569"/>
                          </a:solidFill>
                          <a:latin typeface="Work Sans"/>
                          <a:ea typeface="Work Sans"/>
                          <a:cs typeface="Work Sans"/>
                          <a:sym typeface="Work Sans"/>
                        </a:rPr>
                        <a:t> €</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US" sz="1125">
                          <a:solidFill>
                            <a:srgbClr val="0F172A"/>
                          </a:solidFill>
                          <a:latin typeface="Work Sans"/>
                          <a:ea typeface="Work Sans"/>
                          <a:cs typeface="Work Sans"/>
                          <a:sym typeface="Work Sans"/>
                        </a:rPr>
                        <a:t>4.050 </a:t>
                      </a:r>
                      <a:r>
                        <a:rPr b="1" i="0" lang="en-US" sz="1125" u="none" cap="none" strike="noStrike">
                          <a:solidFill>
                            <a:srgbClr val="0F172A"/>
                          </a:solidFill>
                          <a:latin typeface="Work Sans"/>
                          <a:ea typeface="Work Sans"/>
                          <a:cs typeface="Work Sans"/>
                          <a:sym typeface="Work Sans"/>
                        </a:rPr>
                        <a:t>€</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Pepe Gil Cué</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SecOps / Backend</a:t>
                      </a:r>
                      <a:endParaRPr sz="1125">
                        <a:solidFill>
                          <a:srgbClr val="475569"/>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190</a:t>
                      </a:r>
                      <a:r>
                        <a:rPr b="0" i="0" lang="en-US" sz="1125" u="none" cap="none" strike="noStrike">
                          <a:solidFill>
                            <a:srgbClr val="475569"/>
                          </a:solidFill>
                          <a:latin typeface="Work Sans"/>
                          <a:ea typeface="Work Sans"/>
                          <a:cs typeface="Work Sans"/>
                          <a:sym typeface="Work Sans"/>
                        </a:rPr>
                        <a:t> hr</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18</a:t>
                      </a:r>
                      <a:r>
                        <a:rPr b="0" i="0" lang="en-US" sz="1125" u="none" cap="none" strike="noStrike">
                          <a:solidFill>
                            <a:srgbClr val="475569"/>
                          </a:solidFill>
                          <a:latin typeface="Work Sans"/>
                          <a:ea typeface="Work Sans"/>
                          <a:cs typeface="Work Sans"/>
                          <a:sym typeface="Work Sans"/>
                        </a:rPr>
                        <a:t> €</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Font typeface="Arial"/>
                        <a:buNone/>
                      </a:pPr>
                      <a:r>
                        <a:rPr b="1" lang="en-US" sz="1125">
                          <a:solidFill>
                            <a:srgbClr val="0F172A"/>
                          </a:solidFill>
                          <a:latin typeface="Work Sans"/>
                          <a:ea typeface="Work Sans"/>
                          <a:cs typeface="Work Sans"/>
                          <a:sym typeface="Work Sans"/>
                        </a:rPr>
                        <a:t>3.420 €</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b="0" i="0" lang="en-US" sz="1125" u="none" cap="none" strike="noStrike">
                          <a:solidFill>
                            <a:srgbClr val="0F172A"/>
                          </a:solidFill>
                          <a:latin typeface="Work Sans"/>
                          <a:ea typeface="Work Sans"/>
                          <a:cs typeface="Work Sans"/>
                          <a:sym typeface="Work Sans"/>
                        </a:rPr>
                        <a:t>Daniel Ortiz</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SysAdmin / Bases de datos</a:t>
                      </a:r>
                      <a:endParaRPr sz="1125">
                        <a:solidFill>
                          <a:srgbClr val="475569"/>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185</a:t>
                      </a:r>
                      <a:r>
                        <a:rPr b="0" i="0" lang="en-US" sz="1125" u="none" cap="none" strike="noStrike">
                          <a:solidFill>
                            <a:srgbClr val="475569"/>
                          </a:solidFill>
                          <a:latin typeface="Work Sans"/>
                          <a:ea typeface="Work Sans"/>
                          <a:cs typeface="Work Sans"/>
                          <a:sym typeface="Work Sans"/>
                        </a:rPr>
                        <a:t> hr</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18</a:t>
                      </a:r>
                      <a:r>
                        <a:rPr b="0" i="0" lang="en-US" sz="1125" u="none" cap="none" strike="noStrike">
                          <a:solidFill>
                            <a:srgbClr val="475569"/>
                          </a:solidFill>
                          <a:latin typeface="Work Sans"/>
                          <a:ea typeface="Work Sans"/>
                          <a:cs typeface="Work Sans"/>
                          <a:sym typeface="Work Sans"/>
                        </a:rPr>
                        <a:t> €</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Font typeface="Arial"/>
                        <a:buNone/>
                      </a:pPr>
                      <a:r>
                        <a:rPr b="1" lang="en-US" sz="1125">
                          <a:solidFill>
                            <a:srgbClr val="0F172A"/>
                          </a:solidFill>
                          <a:latin typeface="Work Sans"/>
                          <a:ea typeface="Work Sans"/>
                          <a:cs typeface="Work Sans"/>
                          <a:sym typeface="Work Sans"/>
                        </a:rPr>
                        <a:t>3.330 €</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TOTAL</a:t>
                      </a:r>
                      <a:endParaRPr b="0" i="0" sz="1125" u="none" cap="none" strike="noStrike">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sz="1125">
                        <a:solidFill>
                          <a:srgbClr val="475569"/>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600hr</a:t>
                      </a:r>
                      <a:endParaRPr sz="1125">
                        <a:solidFill>
                          <a:srgbClr val="475569"/>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t/>
                      </a:r>
                      <a:endParaRPr sz="1125">
                        <a:solidFill>
                          <a:srgbClr val="475569"/>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US" sz="1125">
                          <a:solidFill>
                            <a:srgbClr val="0F172A"/>
                          </a:solidFill>
                          <a:latin typeface="Work Sans"/>
                          <a:ea typeface="Work Sans"/>
                          <a:cs typeface="Work Sans"/>
                          <a:sym typeface="Work Sans"/>
                        </a:rPr>
                        <a:t>10.800€</a:t>
                      </a:r>
                      <a:endParaRPr b="1"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269" name="Google Shape;269;p27"/>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4. PRESUPUESTO BÁSICO</a:t>
            </a:r>
            <a:endParaRPr/>
          </a:p>
        </p:txBody>
      </p:sp>
      <p:sp>
        <p:nvSpPr>
          <p:cNvPr id="270" name="Google Shape;270;p27"/>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Estimación de Recursos Humanos</a:t>
            </a:r>
            <a:endParaRPr/>
          </a:p>
        </p:txBody>
      </p:sp>
      <p:sp>
        <p:nvSpPr>
          <p:cNvPr id="271" name="Google Shape;271;p27"/>
          <p:cNvSpPr txBox="1"/>
          <p:nvPr/>
        </p:nvSpPr>
        <p:spPr>
          <a:xfrm>
            <a:off x="7436138" y="1797987"/>
            <a:ext cx="4199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64748B"/>
                </a:solidFill>
                <a:latin typeface="Work Sans"/>
                <a:ea typeface="Work Sans"/>
                <a:cs typeface="Work Sans"/>
                <a:sym typeface="Work Sans"/>
              </a:rPr>
              <a:t>TOTAL TRABAJO ESTIMADO</a:t>
            </a:r>
            <a:endParaRPr/>
          </a:p>
        </p:txBody>
      </p:sp>
      <p:sp>
        <p:nvSpPr>
          <p:cNvPr id="272" name="Google Shape;272;p27"/>
          <p:cNvSpPr txBox="1"/>
          <p:nvPr/>
        </p:nvSpPr>
        <p:spPr>
          <a:xfrm>
            <a:off x="7436138" y="2026587"/>
            <a:ext cx="41991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600">
                <a:solidFill>
                  <a:srgbClr val="2F91F9"/>
                </a:solidFill>
                <a:latin typeface="JetBrains Mono"/>
                <a:ea typeface="JetBrains Mono"/>
                <a:cs typeface="JetBrains Mono"/>
                <a:sym typeface="JetBrains Mono"/>
              </a:rPr>
              <a:t>10</a:t>
            </a:r>
            <a:r>
              <a:rPr b="1" i="0" lang="en-US" sz="3600" u="none" cap="none" strike="noStrike">
                <a:solidFill>
                  <a:srgbClr val="2F91F9"/>
                </a:solidFill>
                <a:latin typeface="JetBrains Mono"/>
                <a:ea typeface="JetBrains Mono"/>
                <a:cs typeface="JetBrains Mono"/>
                <a:sym typeface="JetBrains Mono"/>
              </a:rPr>
              <a:t>.</a:t>
            </a:r>
            <a:r>
              <a:rPr b="1" lang="en-US" sz="3600">
                <a:solidFill>
                  <a:srgbClr val="2F91F9"/>
                </a:solidFill>
                <a:latin typeface="JetBrains Mono"/>
                <a:ea typeface="JetBrains Mono"/>
                <a:cs typeface="JetBrains Mono"/>
                <a:sym typeface="JetBrains Mono"/>
              </a:rPr>
              <a:t>8</a:t>
            </a:r>
            <a:r>
              <a:rPr b="1" i="0" lang="en-US" sz="3600" u="none" cap="none" strike="noStrike">
                <a:solidFill>
                  <a:srgbClr val="2F91F9"/>
                </a:solidFill>
                <a:latin typeface="JetBrains Mono"/>
                <a:ea typeface="JetBrains Mono"/>
                <a:cs typeface="JetBrains Mono"/>
                <a:sym typeface="JetBrains Mono"/>
              </a:rPr>
              <a:t>00 €</a:t>
            </a:r>
            <a:endParaRPr/>
          </a:p>
        </p:txBody>
      </p:sp>
      <p:sp>
        <p:nvSpPr>
          <p:cNvPr id="273" name="Google Shape;273;p27"/>
          <p:cNvSpPr txBox="1"/>
          <p:nvPr/>
        </p:nvSpPr>
        <p:spPr>
          <a:xfrm>
            <a:off x="7436138" y="2702862"/>
            <a:ext cx="41991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475569"/>
                </a:solidFill>
                <a:latin typeface="Work Sans"/>
                <a:ea typeface="Work Sans"/>
                <a:cs typeface="Work Sans"/>
                <a:sym typeface="Work Sans"/>
              </a:rPr>
              <a:t>600 horas totales de dedicación en equipo.</a:t>
            </a:r>
            <a:endParaRPr/>
          </a:p>
        </p:txBody>
      </p:sp>
      <p:sp>
        <p:nvSpPr>
          <p:cNvPr id="274" name="Google Shape;274;p27"/>
          <p:cNvSpPr txBox="1"/>
          <p:nvPr/>
        </p:nvSpPr>
        <p:spPr>
          <a:xfrm>
            <a:off x="2257625" y="4420410"/>
            <a:ext cx="7327200" cy="1293000"/>
          </a:xfrm>
          <a:prstGeom prst="rect">
            <a:avLst/>
          </a:prstGeom>
          <a:noFill/>
          <a:ln>
            <a:noFill/>
          </a:ln>
        </p:spPr>
        <p:txBody>
          <a:bodyPr anchorCtr="0" anchor="t" bIns="0" lIns="0" spcFirstLastPara="1" rIns="0" wrap="square" tIns="0">
            <a:spAutoFit/>
          </a:bodyPr>
          <a:lstStyle/>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Daniel Jiménez — 225 h: diseño de la interfaz, Figma, frontend con Angular, componentes, navegación y coordinación del proyecto.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Pepe — 190 h: backend con Node.js/Express, API, autenticación, validaciones y seguridad.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t/>
            </a:r>
            <a:endParaRPr sz="1200">
              <a:solidFill>
                <a:srgbClr val="475569"/>
              </a:solidFill>
              <a:latin typeface="Work Sans"/>
              <a:ea typeface="Work Sans"/>
              <a:cs typeface="Work Sans"/>
              <a:sym typeface="Work Sans"/>
            </a:endParaRPr>
          </a:p>
          <a:p>
            <a:pPr indent="0" lvl="0" marL="0" marR="0" rtl="0" algn="just">
              <a:spcBef>
                <a:spcPts val="0"/>
              </a:spcBef>
              <a:spcAft>
                <a:spcPts val="0"/>
              </a:spcAft>
              <a:buNone/>
            </a:pPr>
            <a:r>
              <a:rPr lang="en-US" sz="1200">
                <a:solidFill>
                  <a:srgbClr val="475569"/>
                </a:solidFill>
                <a:latin typeface="Work Sans"/>
                <a:ea typeface="Work Sans"/>
                <a:cs typeface="Work Sans"/>
                <a:sym typeface="Work Sans"/>
              </a:rPr>
              <a:t>Daniel Ortiz — 185 h: diseño y gestión de la BBDD MySQL, administración de sistemas, configuración del entorno, despliegue y mantenimiento.</a:t>
            </a:r>
            <a:endParaRPr sz="1200">
              <a:solidFill>
                <a:srgbClr val="475569"/>
              </a:solidFill>
              <a:latin typeface="Work Sans"/>
              <a:ea typeface="Work Sans"/>
              <a:cs typeface="Work Sans"/>
              <a:sym typeface="Work Sans"/>
            </a:endParaRPr>
          </a:p>
        </p:txBody>
      </p:sp>
      <p:sp>
        <p:nvSpPr>
          <p:cNvPr id="275" name="Google Shape;275;p27"/>
          <p:cNvSpPr/>
          <p:nvPr/>
        </p:nvSpPr>
        <p:spPr>
          <a:xfrm flipH="1">
            <a:off x="1948936" y="4420400"/>
            <a:ext cx="22500" cy="1293000"/>
          </a:xfrm>
          <a:prstGeom prst="rect">
            <a:avLst/>
          </a:prstGeom>
          <a:solidFill>
            <a:srgbClr val="2F91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9" name="Shape 279"/>
        <p:cNvGrpSpPr/>
        <p:nvPr/>
      </p:nvGrpSpPr>
      <p:grpSpPr>
        <a:xfrm>
          <a:off x="0" y="0"/>
          <a:ext cx="0" cy="0"/>
          <a:chOff x="0" y="0"/>
          <a:chExt cx="0" cy="0"/>
        </a:xfrm>
      </p:grpSpPr>
      <p:sp>
        <p:nvSpPr>
          <p:cNvPr id="280" name="Google Shape;280;p28"/>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4. PRESUPUESTO BÁSICO</a:t>
            </a:r>
            <a:endParaRPr/>
          </a:p>
        </p:txBody>
      </p:sp>
      <p:sp>
        <p:nvSpPr>
          <p:cNvPr id="281" name="Google Shape;281;p28"/>
          <p:cNvSpPr txBox="1"/>
          <p:nvPr/>
        </p:nvSpPr>
        <p:spPr>
          <a:xfrm>
            <a:off x="609600" y="704850"/>
            <a:ext cx="11582400" cy="362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Herramientas, Licencias y Otros Gastos</a:t>
            </a:r>
            <a:endParaRPr/>
          </a:p>
        </p:txBody>
      </p:sp>
      <p:sp>
        <p:nvSpPr>
          <p:cNvPr id="282" name="Google Shape;282;p28"/>
          <p:cNvSpPr/>
          <p:nvPr/>
        </p:nvSpPr>
        <p:spPr>
          <a:xfrm>
            <a:off x="7594550" y="3014662"/>
            <a:ext cx="3987900" cy="1704900"/>
          </a:xfrm>
          <a:prstGeom prst="roundRect">
            <a:avLst>
              <a:gd fmla="val 670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8"/>
          <p:cNvSpPr/>
          <p:nvPr/>
        </p:nvSpPr>
        <p:spPr>
          <a:xfrm>
            <a:off x="557175" y="2342625"/>
            <a:ext cx="6718200" cy="17907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4" name="Google Shape;284;p28"/>
          <p:cNvGraphicFramePr/>
          <p:nvPr/>
        </p:nvGraphicFramePr>
        <p:xfrm>
          <a:off x="557175" y="2342625"/>
          <a:ext cx="3000000" cy="3000000"/>
        </p:xfrm>
        <a:graphic>
          <a:graphicData uri="http://schemas.openxmlformats.org/drawingml/2006/table">
            <a:tbl>
              <a:tblPr>
                <a:noFill/>
                <a:tableStyleId>{B28F6D5B-2E93-41B0-8517-ECB78BA6F3C4}</a:tableStyleId>
              </a:tblPr>
              <a:tblGrid>
                <a:gridCol w="4934625"/>
                <a:gridCol w="1783575"/>
              </a:tblGrid>
              <a:tr h="447675">
                <a:tc>
                  <a:txBody>
                    <a:bodyPr/>
                    <a:lstStyle/>
                    <a:p>
                      <a:pPr indent="0" lvl="0" marL="0" marR="0" rtl="0" algn="ctr">
                        <a:spcBef>
                          <a:spcPts val="0"/>
                        </a:spcBef>
                        <a:spcAft>
                          <a:spcPts val="0"/>
                        </a:spcAft>
                        <a:buNone/>
                      </a:pPr>
                      <a:r>
                        <a:rPr b="1" lang="en-US" sz="1125">
                          <a:solidFill>
                            <a:srgbClr val="0F172A"/>
                          </a:solidFill>
                          <a:latin typeface="Work Sans"/>
                          <a:ea typeface="Work Sans"/>
                          <a:cs typeface="Work Sans"/>
                          <a:sym typeface="Work Sans"/>
                        </a:rPr>
                        <a:t>Otros gastos</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1" lang="en-US" sz="1125">
                          <a:solidFill>
                            <a:srgbClr val="0F172A"/>
                          </a:solidFill>
                          <a:latin typeface="Work Sans"/>
                          <a:ea typeface="Work Sans"/>
                          <a:cs typeface="Work Sans"/>
                          <a:sym typeface="Work Sans"/>
                        </a:rPr>
                        <a:t>Coste estimado</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1F5F9"/>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Dominio</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US" sz="1125">
                          <a:solidFill>
                            <a:srgbClr val="0F172A"/>
                          </a:solidFill>
                          <a:latin typeface="Work Sans"/>
                          <a:ea typeface="Work Sans"/>
                          <a:cs typeface="Work Sans"/>
                          <a:sym typeface="Work Sans"/>
                        </a:rPr>
                        <a:t>15€ / año</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Hosting / Servidor</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US" sz="1125">
                          <a:solidFill>
                            <a:srgbClr val="0F172A"/>
                          </a:solidFill>
                          <a:latin typeface="Work Sans"/>
                          <a:ea typeface="Work Sans"/>
                          <a:cs typeface="Work Sans"/>
                          <a:sym typeface="Work Sans"/>
                        </a:rPr>
                        <a:t>300€ / año</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Copias de seguridad y almacenamiento</a:t>
                      </a:r>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US" sz="1125">
                          <a:solidFill>
                            <a:srgbClr val="0F172A"/>
                          </a:solidFill>
                          <a:latin typeface="Work Sans"/>
                          <a:ea typeface="Work Sans"/>
                          <a:cs typeface="Work Sans"/>
                          <a:sym typeface="Work Sans"/>
                        </a:rPr>
                        <a:t>120€ / año</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Certificado SSL</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0F172A"/>
                          </a:solidFill>
                          <a:latin typeface="Work Sans"/>
                          <a:ea typeface="Work Sans"/>
                          <a:cs typeface="Work Sans"/>
                          <a:sym typeface="Work Sans"/>
                        </a:rPr>
                        <a:t>0€</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Herramientas y Licencias</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0F172A"/>
                          </a:solidFill>
                          <a:latin typeface="Work Sans"/>
                          <a:ea typeface="Work Sans"/>
                          <a:cs typeface="Work Sans"/>
                          <a:sym typeface="Work Sans"/>
                        </a:rPr>
                        <a:t>0€</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47675">
                <a:tc>
                  <a:txBody>
                    <a:bodyPr/>
                    <a:lstStyle/>
                    <a:p>
                      <a:pPr indent="0" lvl="0" marL="0" marR="0" rtl="0" algn="l">
                        <a:spcBef>
                          <a:spcPts val="0"/>
                        </a:spcBef>
                        <a:spcAft>
                          <a:spcPts val="0"/>
                        </a:spcAft>
                        <a:buNone/>
                      </a:pPr>
                      <a:r>
                        <a:rPr lang="en-US" sz="1125">
                          <a:solidFill>
                            <a:srgbClr val="0F172A"/>
                          </a:solidFill>
                          <a:latin typeface="Work Sans"/>
                          <a:ea typeface="Work Sans"/>
                          <a:cs typeface="Work Sans"/>
                          <a:sym typeface="Work Sans"/>
                        </a:rPr>
                        <a:t>Coste total</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125">
                          <a:solidFill>
                            <a:srgbClr val="0F172A"/>
                          </a:solidFill>
                          <a:latin typeface="Work Sans"/>
                          <a:ea typeface="Work Sans"/>
                          <a:cs typeface="Work Sans"/>
                          <a:sym typeface="Work Sans"/>
                        </a:rPr>
                        <a:t>435€/año</a:t>
                      </a:r>
                      <a:endParaRPr sz="1125">
                        <a:solidFill>
                          <a:srgbClr val="0F172A"/>
                        </a:solidFill>
                        <a:latin typeface="Work Sans"/>
                        <a:ea typeface="Work Sans"/>
                        <a:cs typeface="Work Sans"/>
                        <a:sym typeface="Work Sans"/>
                      </a:endParaRPr>
                    </a:p>
                  </a:txBody>
                  <a:tcPr marT="25400" marB="25400" marR="63500" marL="635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285" name="Google Shape;285;p28"/>
          <p:cNvSpPr txBox="1"/>
          <p:nvPr/>
        </p:nvSpPr>
        <p:spPr>
          <a:xfrm>
            <a:off x="7488975" y="3328987"/>
            <a:ext cx="4199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50">
                <a:solidFill>
                  <a:srgbClr val="64748B"/>
                </a:solidFill>
                <a:latin typeface="Work Sans"/>
                <a:ea typeface="Work Sans"/>
                <a:cs typeface="Work Sans"/>
                <a:sym typeface="Work Sans"/>
              </a:rPr>
              <a:t>TOTAL DE COSTES AL AÑO</a:t>
            </a:r>
            <a:endParaRPr/>
          </a:p>
        </p:txBody>
      </p:sp>
      <p:sp>
        <p:nvSpPr>
          <p:cNvPr id="286" name="Google Shape;286;p28"/>
          <p:cNvSpPr txBox="1"/>
          <p:nvPr/>
        </p:nvSpPr>
        <p:spPr>
          <a:xfrm>
            <a:off x="7488975" y="3557587"/>
            <a:ext cx="41991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600">
                <a:solidFill>
                  <a:srgbClr val="2F91F9"/>
                </a:solidFill>
                <a:latin typeface="JetBrains Mono"/>
                <a:ea typeface="JetBrains Mono"/>
                <a:cs typeface="JetBrains Mono"/>
                <a:sym typeface="JetBrains Mono"/>
              </a:rPr>
              <a:t>435</a:t>
            </a:r>
            <a:r>
              <a:rPr b="1" i="0" lang="en-US" sz="3600" u="none" cap="none" strike="noStrike">
                <a:solidFill>
                  <a:srgbClr val="2F91F9"/>
                </a:solidFill>
                <a:latin typeface="JetBrains Mono"/>
                <a:ea typeface="JetBrains Mono"/>
                <a:cs typeface="JetBrains Mono"/>
                <a:sym typeface="JetBrains Mono"/>
              </a:rPr>
              <a:t> €</a:t>
            </a:r>
            <a:endParaRPr/>
          </a:p>
        </p:txBody>
      </p:sp>
      <p:sp>
        <p:nvSpPr>
          <p:cNvPr id="287" name="Google Shape;287;p28"/>
          <p:cNvSpPr txBox="1"/>
          <p:nvPr/>
        </p:nvSpPr>
        <p:spPr>
          <a:xfrm>
            <a:off x="7488975" y="4233862"/>
            <a:ext cx="41991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25">
                <a:solidFill>
                  <a:srgbClr val="475569"/>
                </a:solidFill>
                <a:latin typeface="Work Sans"/>
                <a:ea typeface="Work Sans"/>
                <a:cs typeface="Work Sans"/>
                <a:sym typeface="Work Sans"/>
              </a:rPr>
              <a:t>Dominio, hosting, servidor, copias, certificados…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1" name="Shape 291"/>
        <p:cNvGrpSpPr/>
        <p:nvPr/>
      </p:nvGrpSpPr>
      <p:grpSpPr>
        <a:xfrm>
          <a:off x="0" y="0"/>
          <a:ext cx="0" cy="0"/>
          <a:chOff x="0" y="0"/>
          <a:chExt cx="0" cy="0"/>
        </a:xfrm>
      </p:grpSpPr>
      <p:sp>
        <p:nvSpPr>
          <p:cNvPr id="292" name="Google Shape;292;p29"/>
          <p:cNvSpPr/>
          <p:nvPr/>
        </p:nvSpPr>
        <p:spPr>
          <a:xfrm>
            <a:off x="436363" y="2847274"/>
            <a:ext cx="5334000" cy="2067000"/>
          </a:xfrm>
          <a:prstGeom prst="roundRect">
            <a:avLst>
              <a:gd fmla="val 737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9"/>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F91F9"/>
                </a:solidFill>
                <a:latin typeface="JetBrains Mono"/>
                <a:ea typeface="JetBrains Mono"/>
                <a:cs typeface="JetBrains Mono"/>
                <a:sym typeface="JetBrains Mono"/>
              </a:rPr>
              <a:t>4. PRESUPUESTO BÁSICO</a:t>
            </a:r>
            <a:endParaRPr/>
          </a:p>
        </p:txBody>
      </p:sp>
      <p:sp>
        <p:nvSpPr>
          <p:cNvPr id="294" name="Google Shape;294;p29"/>
          <p:cNvSpPr txBox="1"/>
          <p:nvPr/>
        </p:nvSpPr>
        <p:spPr>
          <a:xfrm>
            <a:off x="609600" y="704850"/>
            <a:ext cx="115824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Work Sans"/>
                <a:ea typeface="Work Sans"/>
                <a:cs typeface="Work Sans"/>
                <a:sym typeface="Work Sans"/>
              </a:rPr>
              <a:t>Resumen del Presupuesto</a:t>
            </a:r>
            <a:endParaRPr/>
          </a:p>
        </p:txBody>
      </p:sp>
      <p:sp>
        <p:nvSpPr>
          <p:cNvPr id="295" name="Google Shape;295;p29"/>
          <p:cNvSpPr txBox="1"/>
          <p:nvPr/>
        </p:nvSpPr>
        <p:spPr>
          <a:xfrm>
            <a:off x="257769" y="3237799"/>
            <a:ext cx="56913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64748B"/>
                </a:solidFill>
                <a:latin typeface="Work Sans"/>
                <a:ea typeface="Work Sans"/>
                <a:cs typeface="Work Sans"/>
                <a:sym typeface="Work Sans"/>
              </a:rPr>
              <a:t>VALOR ESTIMADO DEL PROYECTO</a:t>
            </a:r>
            <a:endParaRPr/>
          </a:p>
        </p:txBody>
      </p:sp>
      <p:sp>
        <p:nvSpPr>
          <p:cNvPr id="296" name="Google Shape;296;p29"/>
          <p:cNvSpPr txBox="1"/>
          <p:nvPr/>
        </p:nvSpPr>
        <p:spPr>
          <a:xfrm>
            <a:off x="257769" y="3523550"/>
            <a:ext cx="56913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2F91F9"/>
                </a:solidFill>
                <a:latin typeface="JetBrains Mono"/>
                <a:ea typeface="JetBrains Mono"/>
                <a:cs typeface="JetBrains Mono"/>
                <a:sym typeface="JetBrains Mono"/>
              </a:rPr>
              <a:t>10</a:t>
            </a:r>
            <a:r>
              <a:rPr b="1" i="0" lang="en-US" sz="4200" u="none" cap="none" strike="noStrike">
                <a:solidFill>
                  <a:srgbClr val="2F91F9"/>
                </a:solidFill>
                <a:latin typeface="JetBrains Mono"/>
                <a:ea typeface="JetBrains Mono"/>
                <a:cs typeface="JetBrains Mono"/>
                <a:sym typeface="JetBrains Mono"/>
              </a:rPr>
              <a:t>.</a:t>
            </a:r>
            <a:r>
              <a:rPr b="1" lang="en-US" sz="4200">
                <a:solidFill>
                  <a:srgbClr val="2F91F9"/>
                </a:solidFill>
                <a:latin typeface="JetBrains Mono"/>
                <a:ea typeface="JetBrains Mono"/>
                <a:cs typeface="JetBrains Mono"/>
                <a:sym typeface="JetBrains Mono"/>
              </a:rPr>
              <a:t>8</a:t>
            </a:r>
            <a:r>
              <a:rPr b="1" i="0" lang="en-US" sz="4200" u="none" cap="none" strike="noStrike">
                <a:solidFill>
                  <a:srgbClr val="2F91F9"/>
                </a:solidFill>
                <a:latin typeface="JetBrains Mono"/>
                <a:ea typeface="JetBrains Mono"/>
                <a:cs typeface="JetBrains Mono"/>
                <a:sym typeface="JetBrains Mono"/>
              </a:rPr>
              <a:t>00 €</a:t>
            </a:r>
            <a:endParaRPr/>
          </a:p>
        </p:txBody>
      </p:sp>
      <p:sp>
        <p:nvSpPr>
          <p:cNvPr id="297" name="Google Shape;297;p29"/>
          <p:cNvSpPr txBox="1"/>
          <p:nvPr/>
        </p:nvSpPr>
        <p:spPr>
          <a:xfrm>
            <a:off x="257775" y="4342700"/>
            <a:ext cx="5415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475569"/>
                </a:solidFill>
                <a:latin typeface="Work Sans"/>
                <a:ea typeface="Work Sans"/>
                <a:cs typeface="Work Sans"/>
                <a:sym typeface="Work Sans"/>
              </a:rPr>
              <a:t>Valor solamente de las horas que hay que invertir en los desarrolladores</a:t>
            </a:r>
            <a:endParaRPr/>
          </a:p>
        </p:txBody>
      </p:sp>
      <p:sp>
        <p:nvSpPr>
          <p:cNvPr id="298" name="Google Shape;298;p29"/>
          <p:cNvSpPr/>
          <p:nvPr/>
        </p:nvSpPr>
        <p:spPr>
          <a:xfrm>
            <a:off x="6421538" y="2847287"/>
            <a:ext cx="5334000" cy="2067000"/>
          </a:xfrm>
          <a:prstGeom prst="roundRect">
            <a:avLst>
              <a:gd fmla="val 7373"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9"/>
          <p:cNvSpPr txBox="1"/>
          <p:nvPr/>
        </p:nvSpPr>
        <p:spPr>
          <a:xfrm>
            <a:off x="6242944" y="3237812"/>
            <a:ext cx="56913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 u="none" cap="none" strike="noStrike">
                <a:solidFill>
                  <a:srgbClr val="64748B"/>
                </a:solidFill>
                <a:latin typeface="Work Sans"/>
                <a:ea typeface="Work Sans"/>
                <a:cs typeface="Work Sans"/>
                <a:sym typeface="Work Sans"/>
              </a:rPr>
              <a:t>VALOR ESTIMADO </a:t>
            </a:r>
            <a:r>
              <a:rPr b="1" lang="en-US" sz="1125">
                <a:solidFill>
                  <a:srgbClr val="64748B"/>
                </a:solidFill>
                <a:latin typeface="Work Sans"/>
                <a:ea typeface="Work Sans"/>
                <a:cs typeface="Work Sans"/>
                <a:sym typeface="Work Sans"/>
              </a:rPr>
              <a:t>PARA </a:t>
            </a:r>
            <a:r>
              <a:rPr b="1" lang="en-US" sz="1125">
                <a:solidFill>
                  <a:srgbClr val="64748B"/>
                </a:solidFill>
                <a:latin typeface="Work Sans"/>
                <a:ea typeface="Work Sans"/>
                <a:cs typeface="Work Sans"/>
                <a:sym typeface="Work Sans"/>
              </a:rPr>
              <a:t>PRODUCCIÓN</a:t>
            </a:r>
            <a:endParaRPr/>
          </a:p>
        </p:txBody>
      </p:sp>
      <p:sp>
        <p:nvSpPr>
          <p:cNvPr id="300" name="Google Shape;300;p29"/>
          <p:cNvSpPr txBox="1"/>
          <p:nvPr/>
        </p:nvSpPr>
        <p:spPr>
          <a:xfrm>
            <a:off x="6242944" y="3523562"/>
            <a:ext cx="5691300" cy="646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200">
                <a:solidFill>
                  <a:srgbClr val="2F91F9"/>
                </a:solidFill>
                <a:latin typeface="JetBrains Mono"/>
                <a:ea typeface="JetBrains Mono"/>
                <a:cs typeface="JetBrains Mono"/>
                <a:sym typeface="JetBrains Mono"/>
              </a:rPr>
              <a:t>11</a:t>
            </a:r>
            <a:r>
              <a:rPr b="1" i="0" lang="en-US" sz="4200" u="none" cap="none" strike="noStrike">
                <a:solidFill>
                  <a:srgbClr val="2F91F9"/>
                </a:solidFill>
                <a:latin typeface="JetBrains Mono"/>
                <a:ea typeface="JetBrains Mono"/>
                <a:cs typeface="JetBrains Mono"/>
                <a:sym typeface="JetBrains Mono"/>
              </a:rPr>
              <a:t>.</a:t>
            </a:r>
            <a:r>
              <a:rPr b="1" lang="en-US" sz="4200">
                <a:solidFill>
                  <a:srgbClr val="2F91F9"/>
                </a:solidFill>
                <a:latin typeface="JetBrains Mono"/>
                <a:ea typeface="JetBrains Mono"/>
                <a:cs typeface="JetBrains Mono"/>
                <a:sym typeface="JetBrains Mono"/>
              </a:rPr>
              <a:t>235</a:t>
            </a:r>
            <a:r>
              <a:rPr b="1" i="0" lang="en-US" sz="4200" u="none" cap="none" strike="noStrike">
                <a:solidFill>
                  <a:srgbClr val="2F91F9"/>
                </a:solidFill>
                <a:latin typeface="JetBrains Mono"/>
                <a:ea typeface="JetBrains Mono"/>
                <a:cs typeface="JetBrains Mono"/>
                <a:sym typeface="JetBrains Mono"/>
              </a:rPr>
              <a:t> €</a:t>
            </a:r>
            <a:endParaRPr/>
          </a:p>
        </p:txBody>
      </p:sp>
      <p:sp>
        <p:nvSpPr>
          <p:cNvPr id="301" name="Google Shape;301;p29"/>
          <p:cNvSpPr txBox="1"/>
          <p:nvPr/>
        </p:nvSpPr>
        <p:spPr>
          <a:xfrm>
            <a:off x="6380950" y="4342700"/>
            <a:ext cx="5415300" cy="369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475569"/>
                </a:solidFill>
                <a:latin typeface="Work Sans"/>
                <a:ea typeface="Work Sans"/>
                <a:cs typeface="Work Sans"/>
                <a:sym typeface="Work Sans"/>
              </a:rPr>
              <a:t>Valor de las horas de los desarrolladores + los costes de Herramientas, Licencias y Otros Gastos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7"/>
        </a:solidFill>
      </p:bgPr>
    </p:bg>
    <p:spTree>
      <p:nvGrpSpPr>
        <p:cNvPr id="305" name="Shape 305"/>
        <p:cNvGrpSpPr/>
        <p:nvPr/>
      </p:nvGrpSpPr>
      <p:grpSpPr>
        <a:xfrm>
          <a:off x="0" y="0"/>
          <a:ext cx="0" cy="0"/>
          <a:chOff x="0" y="0"/>
          <a:chExt cx="0" cy="0"/>
        </a:xfrm>
      </p:grpSpPr>
      <p:sp>
        <p:nvSpPr>
          <p:cNvPr id="306" name="Google Shape;306;p30"/>
          <p:cNvSpPr txBox="1"/>
          <p:nvPr/>
        </p:nvSpPr>
        <p:spPr>
          <a:xfrm>
            <a:off x="4655343" y="2728912"/>
            <a:ext cx="28812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00" u="none" cap="none" strike="noStrike">
                <a:solidFill>
                  <a:srgbClr val="2F91F9"/>
                </a:solidFill>
                <a:latin typeface="JetBrains Mono"/>
                <a:ea typeface="JetBrains Mono"/>
                <a:cs typeface="JetBrains Mono"/>
                <a:sym typeface="JetBrains Mono"/>
              </a:rPr>
              <a:t>STOCKLINK · </a:t>
            </a:r>
            <a:r>
              <a:rPr lang="en-US" sz="1200">
                <a:solidFill>
                  <a:srgbClr val="2F91F9"/>
                </a:solidFill>
                <a:latin typeface="JetBrains Mono"/>
                <a:ea typeface="JetBrains Mono"/>
                <a:cs typeface="JetBrains Mono"/>
                <a:sym typeface="JetBrains Mono"/>
              </a:rPr>
              <a:t>FINAL</a:t>
            </a:r>
            <a:endParaRPr/>
          </a:p>
        </p:txBody>
      </p:sp>
      <p:sp>
        <p:nvSpPr>
          <p:cNvPr id="307" name="Google Shape;307;p30"/>
          <p:cNvSpPr txBox="1"/>
          <p:nvPr/>
        </p:nvSpPr>
        <p:spPr>
          <a:xfrm>
            <a:off x="1326653" y="3081337"/>
            <a:ext cx="9538692" cy="628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Work Sans"/>
                <a:ea typeface="Work Sans"/>
                <a:cs typeface="Work Sans"/>
                <a:sym typeface="Work Sans"/>
              </a:rPr>
              <a:t>¿Preguntas o Comentarios?</a:t>
            </a:r>
            <a:endParaRPr/>
          </a:p>
        </p:txBody>
      </p:sp>
      <p:sp>
        <p:nvSpPr>
          <p:cNvPr id="308" name="Google Shape;308;p30"/>
          <p:cNvSpPr txBox="1"/>
          <p:nvPr/>
        </p:nvSpPr>
        <p:spPr>
          <a:xfrm>
            <a:off x="4419099" y="3877598"/>
            <a:ext cx="3353700" cy="23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i="1" lang="en-US" sz="1500" u="none" cap="none" strike="noStrike">
                <a:solidFill>
                  <a:srgbClr val="94A3B8"/>
                </a:solidFill>
                <a:latin typeface="Oswald"/>
                <a:ea typeface="Oswald"/>
                <a:cs typeface="Oswald"/>
                <a:sym typeface="Oswald"/>
              </a:rPr>
              <a:t>Gracias por </a:t>
            </a:r>
            <a:r>
              <a:rPr i="1" lang="en-US" sz="1500">
                <a:solidFill>
                  <a:srgbClr val="94A3B8"/>
                </a:solidFill>
                <a:latin typeface="Oswald"/>
                <a:ea typeface="Oswald"/>
                <a:cs typeface="Oswald"/>
                <a:sym typeface="Oswald"/>
              </a:rPr>
              <a:t>vuestra </a:t>
            </a:r>
            <a:r>
              <a:rPr i="1" lang="en-US" sz="1500" u="none" cap="none" strike="noStrike">
                <a:solidFill>
                  <a:srgbClr val="94A3B8"/>
                </a:solidFill>
                <a:latin typeface="Oswald"/>
                <a:ea typeface="Oswald"/>
                <a:cs typeface="Oswald"/>
                <a:sym typeface="Oswald"/>
              </a:rPr>
              <a:t>atención</a:t>
            </a:r>
            <a:endParaRPr i="1">
              <a:latin typeface="Oswald"/>
              <a:ea typeface="Oswald"/>
              <a:cs typeface="Oswald"/>
              <a:sym typeface="Oswa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