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embeddedFontLst>
    <p:embeddedFont>
      <p:font typeface="Work Sans"/>
      <p:regular r:id="rId13"/>
      <p:bold r:id="rId14"/>
      <p:italic r:id="rId15"/>
      <p:boldItalic r:id="rId16"/>
    </p:embeddedFont>
    <p:embeddedFont>
      <p:font typeface="JetBrains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B049E9-9F74-4297-BA5E-73600677F78E}">
  <a:tblStyle styleId="{08B049E9-9F74-4297-BA5E-73600677F7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Work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WorkSans-italic.fntdata"/><Relationship Id="rId14" Type="http://schemas.openxmlformats.org/officeDocument/2006/relationships/font" Target="fonts/WorkSans-bold.fntdata"/><Relationship Id="rId17" Type="http://schemas.openxmlformats.org/officeDocument/2006/relationships/font" Target="fonts/JetBrainsMono-regular.fntdata"/><Relationship Id="rId16" Type="http://schemas.openxmlformats.org/officeDocument/2006/relationships/font" Target="fonts/Work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italic.fntdata"/><Relationship Id="rId6" Type="http://schemas.openxmlformats.org/officeDocument/2006/relationships/slide" Target="slides/slide1.xml"/><Relationship Id="rId18" Type="http://schemas.openxmlformats.org/officeDocument/2006/relationships/font" Target="fonts/JetBrains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Presentamos el Sprint 2: pasamos del diseño del Sprint 1 a la maquetación real. En 14 días (16 al 29 de octubre) hemos construido las pantallas con HTML5 semántico y una arquitectura CSS modular. Os explicamos cómo organizamos los estilos, qué metodología usamos, cómo lo probamos y cuánto nos ha costado.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maquetar nos preguntamos cómo hacer que los estilos fueran sencillos de mantener. Lo primero fue juntar los colores en un solo lugar: así el tema claro y el oscuro son la misma aplicación con otros colores. Después creamos una base común y piezas reutilizables, como botones o tablas, para no repetir trabajo. Por último cuidamos que la interfaz responda al usuario, también a quien navega con teclado.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Imaginad una tarjeta del panel que muestra las alertas críticas. La tarjeta entera es el bloque. Dentro tiene un título, un número y un texto de ayuda, que son sus elementos. Y puede ser verde, ámbar o roja según el stock: eso son modificadores. Con esta idea nombramos todo el proyecto. Cualquier compañero entiende una pieza solo leyendo su nombre y podemos añadir estados nuevos sin romper lo que ya funciona.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estilos de una aplicación crecen rápido y se vuelven difíciles de manejar. SCSS nos ayuda en cuatro cosas: cambiar un valor una sola vez, reutilizar lo que se repite, mantener el código ordenado y repartirlo en archivos pequeños. Gracias a eso, añadir el tema claro nos costó un archivo muy pequeño y no tuvimos que tocar ningún componente.</a:t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Verificamos cuatro cosas: código válido, accesibilidad, responsive y compatibilidad entre navegadores. Cada prueba se registra con su herramienta y su estado, y tenemos capturas como evidencia. Las pruebas de formularios, CRUD y reglas de negocio quedan para cuando exista backend.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el stack de este sprint. Usamos VS Code, el compilador de Sass, Git y GitHub, un tablero Kanban y las DevTools del navegador. HTML5 semántico para la mejora de la estructura de la web. Backend, base de datos y despliegue se definirán en sprints posteriores.</a:t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8FAF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12800" y="1109067"/>
            <a:ext cx="10566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20"/>
              <a:buFont typeface="Work Sans"/>
              <a:buNone/>
              <a:defRPr sz="332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12800" y="1875532"/>
            <a:ext cx="10566400" cy="4169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F172A"/>
              </a:buClr>
              <a:buSzPts val="1600"/>
              <a:buNone/>
              <a:defRPr sz="16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12800" y="1109067"/>
            <a:ext cx="10566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20"/>
              <a:buFont typeface="Work Sans"/>
              <a:buNone/>
              <a:defRPr b="0" i="0" sz="332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2800" y="1875532"/>
            <a:ext cx="10566400" cy="4169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validator.w3.org/#validate_by_upload" TargetMode="External"/><Relationship Id="rId4" Type="http://schemas.openxmlformats.org/officeDocument/2006/relationships/hyperlink" Target="https://jigsaw.w3.org/css-validator/" TargetMode="External"/><Relationship Id="rId5" Type="http://schemas.openxmlformats.org/officeDocument/2006/relationships/hyperlink" Target="https://chromewebstore.google.com/detail/wave-evaluation-tool/jbbplnpkjmmeebjpijfedlgcdilocofh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812800" y="1968599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400"/>
              <a:buFont typeface="JetBrains Mono"/>
              <a:buNone/>
            </a:pPr>
            <a:r>
              <a:rPr b="1" i="0" lang="en-US" sz="14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DAW 2026/2027 · SPRINT 2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12800" y="2395240"/>
            <a:ext cx="108833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Work Sans"/>
              <a:buNone/>
            </a:pPr>
            <a:r>
              <a:rPr b="1" i="0" lang="en-US" sz="70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StockLink</a:t>
            </a:r>
            <a:endParaRPr sz="7000">
              <a:solidFill>
                <a:schemeClr val="dk1"/>
              </a:solidFill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12800" y="3563931"/>
            <a:ext cx="4331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Daniel Jiménez · Pepe Gil · Daniel Ortiz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147573" y="3507450"/>
            <a:ext cx="2231400" cy="341100"/>
          </a:xfrm>
          <a:prstGeom prst="roundRect">
            <a:avLst>
              <a:gd fmla="val 16213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Campus Cámara Sevilla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DISEÑO DE ESTILOS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812800" y="111502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Work Sans"/>
              <a:buNone/>
            </a:pPr>
            <a:r>
              <a:rPr b="1" i="0" lang="en-US" sz="34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Cómo organizamos los estilos</a:t>
            </a:r>
            <a:endParaRPr sz="3400"/>
          </a:p>
        </p:txBody>
      </p:sp>
      <p:sp>
        <p:nvSpPr>
          <p:cNvPr id="32" name="Google Shape;32;p5"/>
          <p:cNvSpPr/>
          <p:nvPr/>
        </p:nvSpPr>
        <p:spPr>
          <a:xfrm>
            <a:off x="815975" y="1821755"/>
            <a:ext cx="5175250" cy="1641872"/>
          </a:xfrm>
          <a:prstGeom prst="roundRect">
            <a:avLst>
              <a:gd fmla="val 59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1047750" y="2053530"/>
            <a:ext cx="485305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COLORES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047750" y="2355751"/>
            <a:ext cx="4853051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Todos en un único sitio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047750" y="2734171"/>
            <a:ext cx="4853051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Si cambiamos un color, cambia en toda la aplicación. Así también se alterna entre tema oscuro y claro.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200775" y="1821755"/>
            <a:ext cx="5175250" cy="1641872"/>
          </a:xfrm>
          <a:prstGeom prst="roundRect">
            <a:avLst>
              <a:gd fmla="val 59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6432550" y="2053530"/>
            <a:ext cx="485305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 COMÚN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432550" y="2355751"/>
            <a:ext cx="4853051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Mismo punto de partida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432550" y="2734171"/>
            <a:ext cx="4853051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Textos, enlaces, botones y tablas parten de las mismas reglas, y todo se ve coherente.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815975" y="3673177"/>
            <a:ext cx="5175250" cy="1890713"/>
          </a:xfrm>
          <a:prstGeom prst="roundRect">
            <a:avLst>
              <a:gd fmla="val 520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047750" y="3904952"/>
            <a:ext cx="485305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PIEZAS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47750" y="4207173"/>
            <a:ext cx="4853051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Componentes reutilizables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047750" y="4585593"/>
            <a:ext cx="4853051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Botones, formularios, tablas y tarjetas se diseñan una vez y se usan en todas las pantallas.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200775" y="3673177"/>
            <a:ext cx="5175250" cy="1890713"/>
          </a:xfrm>
          <a:prstGeom prst="roundRect">
            <a:avLst>
              <a:gd fmla="val 520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432550" y="3904952"/>
            <a:ext cx="485305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INTERACCIÓN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32550" y="4207173"/>
            <a:ext cx="4853051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La app responde al usuario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432550" y="4585593"/>
            <a:ext cx="4853051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Los elementos reaccionan al pasar el ratón, se ve dónde está el foco con teclado y los botones bloqueados se distinguen.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STOCKLINK · SPRINT 2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/ 7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METODOLOGÍA BEM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6" name="Google Shape;56;p6"/>
          <p:cNvSpPr txBox="1"/>
          <p:nvPr>
            <p:ph type="title"/>
          </p:nvPr>
        </p:nvSpPr>
        <p:spPr>
          <a:xfrm>
            <a:off x="812800" y="111502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400"/>
              <a:buFont typeface="Work Sans"/>
              <a:buNone/>
            </a:pPr>
            <a:r>
              <a:rPr b="1" i="0" lang="en-US" sz="34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Cómo nombramos las piezas</a:t>
            </a:r>
            <a:endParaRPr sz="3400"/>
          </a:p>
        </p:txBody>
      </p:sp>
      <p:sp>
        <p:nvSpPr>
          <p:cNvPr id="57" name="Google Shape;57;p6"/>
          <p:cNvSpPr/>
          <p:nvPr/>
        </p:nvSpPr>
        <p:spPr>
          <a:xfrm>
            <a:off x="812800" y="1818580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Work Sans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BEM </a:t>
            </a:r>
            <a:r>
              <a:rPr lang="en-US" sz="1500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es una metodología de desarrollo para escribir CSS modular, escalable y fácil de mantener</a:t>
            </a:r>
            <a:endParaRPr b="0" i="0" sz="15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15975" y="2317055"/>
            <a:ext cx="3380284" cy="1641872"/>
          </a:xfrm>
          <a:prstGeom prst="roundRect">
            <a:avLst>
              <a:gd fmla="val 59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1047750" y="2548830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 · BLOQUE (Block)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047750" y="2851051"/>
            <a:ext cx="3004236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La pieza entera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047750" y="3229471"/>
            <a:ext cx="300423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La tarjeta de estadística completa.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405809" y="2317055"/>
            <a:ext cx="3380383" cy="1641872"/>
          </a:xfrm>
          <a:prstGeom prst="roundRect">
            <a:avLst>
              <a:gd fmla="val 59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637584" y="2548830"/>
            <a:ext cx="300433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 · ELEMENTO (Element)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637584" y="2851051"/>
            <a:ext cx="3004338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Sus partes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637584" y="3229471"/>
            <a:ext cx="3004338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El título, el número y el texto de ayuda.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7995741" y="2317055"/>
            <a:ext cx="3380284" cy="1641872"/>
          </a:xfrm>
          <a:prstGeom prst="roundRect">
            <a:avLst>
              <a:gd fmla="val 599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8227516" y="2548830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· MODIFICADOR (</a:t>
            </a:r>
            <a:r>
              <a:rPr b="1" lang="en-US" sz="1200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Modifier</a:t>
            </a: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8227516" y="2851051"/>
            <a:ext cx="3004236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Su variante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8227516" y="3229471"/>
            <a:ext cx="300423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Correcta, de aviso o crítica, según el estado del stock.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815975" y="4193877"/>
            <a:ext cx="10560050" cy="628650"/>
          </a:xfrm>
          <a:prstGeom prst="roundRect">
            <a:avLst>
              <a:gd fmla="val 1565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6725" lIns="202925" spcFirstLastPara="1" rIns="0" wrap="square" tIns="15212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Work San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Ventaja:</a:t>
            </a:r>
            <a:r>
              <a:rPr b="0" i="0" lang="en-US" sz="15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 el nombre ya dice qué es cada cosa, y crear una variante nueva no obliga a tocar nada más.</a:t>
            </a:r>
            <a:endParaRPr b="0" i="0" sz="15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STOCKLINK · SPRINT 2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 / 7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812800" y="812800"/>
            <a:ext cx="10883392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159"/>
              <a:buFont typeface="JetBrains Mono"/>
              <a:buNone/>
            </a:pPr>
            <a:r>
              <a:rPr b="1" i="0" lang="en-US" sz="1159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PREPROCESADOR</a:t>
            </a:r>
            <a:endParaRPr b="0" i="0" sz="1159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79" name="Google Shape;79;p7"/>
          <p:cNvSpPr txBox="1"/>
          <p:nvPr>
            <p:ph type="title"/>
          </p:nvPr>
        </p:nvSpPr>
        <p:spPr>
          <a:xfrm>
            <a:off x="812800" y="1103114"/>
            <a:ext cx="10883392" cy="473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41"/>
              <a:buFont typeface="Work Sans"/>
              <a:buNone/>
            </a:pPr>
            <a:r>
              <a:rPr b="1" i="0" lang="en-US" sz="3241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SCSS: CSS más organizado</a:t>
            </a:r>
            <a:endParaRPr sz="3241"/>
          </a:p>
        </p:txBody>
      </p:sp>
      <p:sp>
        <p:nvSpPr>
          <p:cNvPr id="80" name="Google Shape;80;p7"/>
          <p:cNvSpPr/>
          <p:nvPr/>
        </p:nvSpPr>
        <p:spPr>
          <a:xfrm>
            <a:off x="812800" y="1780084"/>
            <a:ext cx="10883392" cy="532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34"/>
              <a:buFont typeface="Work Sans"/>
              <a:buNone/>
            </a:pPr>
            <a:r>
              <a:rPr b="0" i="0" lang="en-US" sz="1434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SCSS es una herramienta que extiende las capacidades de CSS y que nos deja escribir los estilos de forma más cómoda y ordenada, y después los convierte a CSS normal para el navegador.</a:t>
            </a:r>
            <a:endParaRPr b="0" i="0" sz="1434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815975" y="2518866"/>
            <a:ext cx="5175250" cy="1555155"/>
          </a:xfrm>
          <a:prstGeom prst="roundRect">
            <a:avLst>
              <a:gd fmla="val 63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1047750" y="2750641"/>
            <a:ext cx="4853051" cy="22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121"/>
              <a:buFont typeface="JetBrains Mono"/>
              <a:buNone/>
            </a:pPr>
            <a:r>
              <a:rPr b="1" i="0" lang="en-US" sz="1121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VALORES</a:t>
            </a:r>
            <a:endParaRPr b="0" i="0" sz="1121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1047750" y="3034407"/>
            <a:ext cx="4853051" cy="289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69"/>
              <a:buFont typeface="Work Sans"/>
              <a:buNone/>
            </a:pPr>
            <a:r>
              <a:rPr b="1" i="0" lang="en-US" sz="1769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Se cambian una sola vez</a:t>
            </a:r>
            <a:endParaRPr b="0" i="0" sz="1769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047750" y="3387725"/>
            <a:ext cx="4853051" cy="4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6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91"/>
              <a:buFont typeface="Work Sans"/>
              <a:buNone/>
            </a:pPr>
            <a:r>
              <a:rPr b="0" i="0" lang="en-US" sz="1291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Tipografías, tamaños y bordes se definen en un punto y se actualizan en toda la app.</a:t>
            </a:r>
            <a:endParaRPr b="0" i="0" sz="1291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200775" y="2518866"/>
            <a:ext cx="5175250" cy="1555155"/>
          </a:xfrm>
          <a:prstGeom prst="roundRect">
            <a:avLst>
              <a:gd fmla="val 63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6432550" y="2750641"/>
            <a:ext cx="4853051" cy="22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121"/>
              <a:buFont typeface="JetBrains Mono"/>
              <a:buNone/>
            </a:pPr>
            <a:r>
              <a:rPr b="1" i="0" lang="en-US" sz="1121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RECETAS</a:t>
            </a:r>
            <a:endParaRPr b="0" i="0" sz="1121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432550" y="3034407"/>
            <a:ext cx="4853051" cy="289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69"/>
              <a:buFont typeface="Work Sans"/>
              <a:buNone/>
            </a:pPr>
            <a:r>
              <a:rPr b="1" i="0" lang="en-US" sz="1769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Se escriben una vez</a:t>
            </a:r>
            <a:endParaRPr b="0" i="0" sz="1769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6432550" y="3387725"/>
            <a:ext cx="4853051" cy="4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6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91"/>
              <a:buFont typeface="Work Sans"/>
              <a:buNone/>
            </a:pPr>
            <a:r>
              <a:rPr b="0" i="0" lang="en-US" sz="1291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Lo que se repite mucho, como colocar elementos en fila, se guarda y se reutiliza.</a:t>
            </a:r>
            <a:endParaRPr b="0" i="0" sz="1291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815975" y="4283571"/>
            <a:ext cx="5175250" cy="1555254"/>
          </a:xfrm>
          <a:prstGeom prst="roundRect">
            <a:avLst>
              <a:gd fmla="val 63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047750" y="4515346"/>
            <a:ext cx="4853051" cy="220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121"/>
              <a:buFont typeface="JetBrains Mono"/>
              <a:buNone/>
            </a:pPr>
            <a:r>
              <a:rPr b="1" i="0" lang="en-US" sz="1121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ORDEN</a:t>
            </a:r>
            <a:endParaRPr b="0" i="0" sz="1121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047750" y="4799112"/>
            <a:ext cx="4853051" cy="289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69"/>
              <a:buFont typeface="Work Sans"/>
              <a:buNone/>
            </a:pPr>
            <a:r>
              <a:rPr b="1" i="0" lang="en-US" sz="1769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El código refleja la estructura</a:t>
            </a:r>
            <a:endParaRPr b="0" i="0" sz="1769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047750" y="5152430"/>
            <a:ext cx="4853051" cy="4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69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91"/>
              <a:buFont typeface="Work Sans"/>
              <a:buNone/>
            </a:pPr>
            <a:r>
              <a:rPr b="0" i="0" lang="en-US" sz="1291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Las piezas y sus partes quedan agrupadas, y se leen mejor.</a:t>
            </a:r>
            <a:endParaRPr b="0" i="0" sz="1291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200775" y="4283571"/>
            <a:ext cx="5175250" cy="1555254"/>
          </a:xfrm>
          <a:prstGeom prst="roundRect">
            <a:avLst>
              <a:gd fmla="val 63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432550" y="4515346"/>
            <a:ext cx="485305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ARCHIVOS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432550" y="4817566"/>
            <a:ext cx="4853051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Work San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Uno por componente</a:t>
            </a:r>
            <a:endParaRPr b="0" i="0" sz="19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432550" y="5195987"/>
            <a:ext cx="485305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Work Sans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Encontrar y modificar un estilo es inmediato.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STOCKLINK · SPRINT 2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 / 7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812800" y="812800"/>
            <a:ext cx="10883392" cy="21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050"/>
              <a:buFont typeface="JetBrains Mono"/>
              <a:buNone/>
            </a:pPr>
            <a:r>
              <a:rPr b="1" i="0" lang="en-US" sz="105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HERRAMIENTAS Y VERIFICACIÓN</a:t>
            </a:r>
            <a:endParaRPr b="0" i="0" sz="105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5" name="Google Shape;105;p8"/>
          <p:cNvSpPr txBox="1"/>
          <p:nvPr>
            <p:ph type="title"/>
          </p:nvPr>
        </p:nvSpPr>
        <p:spPr>
          <a:xfrm>
            <a:off x="812800" y="1088132"/>
            <a:ext cx="10883392" cy="44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16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75"/>
              <a:buFont typeface="Work Sans"/>
              <a:buNone/>
            </a:pPr>
            <a:r>
              <a:rPr b="1" i="0" lang="en-US" sz="2975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Pruebas y validación</a:t>
            </a:r>
            <a:endParaRPr sz="2975"/>
          </a:p>
        </p:txBody>
      </p:sp>
      <p:graphicFrame>
        <p:nvGraphicFramePr>
          <p:cNvPr id="106" name="Google Shape;106;p8"/>
          <p:cNvGraphicFramePr/>
          <p:nvPr/>
        </p:nvGraphicFramePr>
        <p:xfrm>
          <a:off x="825500" y="17444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{08B049E9-9F74-4297-BA5E-73600677F78E}</a:tableStyleId>
              </a:tblPr>
              <a:tblGrid>
                <a:gridCol w="2638425"/>
                <a:gridCol w="2638425"/>
                <a:gridCol w="2638425"/>
                <a:gridCol w="2638425"/>
              </a:tblGrid>
              <a:tr h="4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82"/>
                        <a:buFont typeface="Work Sans"/>
                        <a:buNone/>
                      </a:pPr>
                      <a:r>
                        <a:rPr b="1" lang="en-US" sz="1182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ID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82"/>
                        <a:buFont typeface="Work Sans"/>
                        <a:buNone/>
                      </a:pPr>
                      <a:r>
                        <a:rPr b="1" lang="en-US" sz="1182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Prueba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82"/>
                        <a:buFont typeface="Work Sans"/>
                        <a:buNone/>
                      </a:pPr>
                      <a:r>
                        <a:rPr b="1" lang="en-US" sz="1182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Herramienta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82"/>
                        <a:buFont typeface="Work Sans"/>
                        <a:buNone/>
                      </a:pPr>
                      <a:r>
                        <a:rPr b="1" lang="en-US" sz="1182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Estado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T01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Validación HTML de todas las páginas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sng" cap="none" strike="noStrike">
                          <a:solidFill>
                            <a:schemeClr val="hlink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  <a:hlinkClick r:id="rId3"/>
                        </a:rPr>
                        <a:t>W3C Validator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OK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T02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Validación del CSS compilado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sng" cap="none" strike="noStrike">
                          <a:solidFill>
                            <a:schemeClr val="hlink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  <a:hlinkClick r:id="rId4"/>
                        </a:rPr>
                        <a:t>W3C CSS Validator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OK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T03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Accesibilidad de cada página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sng" cap="none" strike="noStrike">
                          <a:solidFill>
                            <a:schemeClr val="hlink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  <a:hlinkClick r:id="rId5"/>
                        </a:rPr>
                        <a:t>WAVE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OK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T04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Móvil (375px) sin scroll horizontal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Chrome DevTools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OK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T05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Tablet (768px): menú y contenido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Chrome DevTools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OK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T06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Que se vea en </a:t>
                      </a: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Chrome, Firefox y Edge </a:t>
                      </a:r>
                      <a:r>
                        <a:rPr lang="en-US" sz="1182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 la misma manera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Manual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182"/>
                        <a:buFont typeface="Work Sans"/>
                        <a:buNone/>
                      </a:pPr>
                      <a:r>
                        <a:rPr lang="en-US" sz="1182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OK</a:t>
                      </a:r>
                      <a:endParaRPr sz="1182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8"/>
          <p:cNvSpPr/>
          <p:nvPr/>
        </p:nvSpPr>
        <p:spPr>
          <a:xfrm>
            <a:off x="812800" y="5620941"/>
            <a:ext cx="10883392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64"/>
              <a:buFont typeface="Work Sans"/>
              <a:buNone/>
            </a:pPr>
            <a:r>
              <a:rPr b="0" i="0" lang="en-US" sz="1264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Complementamos con </a:t>
            </a:r>
            <a:r>
              <a:rPr lang="en-US" sz="1264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WAVE </a:t>
            </a:r>
            <a:r>
              <a:rPr b="0" i="0" lang="en-US" sz="1264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y DevTools.</a:t>
            </a:r>
            <a:endParaRPr b="0" i="0" sz="1264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STOCKLINK · SPRINT 2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/ 7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 TECNOLOGÍAS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6" name="Google Shape;116;p9"/>
          <p:cNvSpPr txBox="1"/>
          <p:nvPr>
            <p:ph type="title"/>
          </p:nvPr>
        </p:nvSpPr>
        <p:spPr>
          <a:xfrm>
            <a:off x="812800" y="1115020"/>
            <a:ext cx="10883392" cy="5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ct val="100000"/>
              <a:buFont typeface="Work Sans"/>
              <a:buNone/>
            </a:pPr>
            <a:r>
              <a:rPr b="1" lang="en-US" sz="3400"/>
              <a:t>Stack de </a:t>
            </a:r>
            <a:r>
              <a:rPr b="1" i="0" lang="en-US" sz="3400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tecnológica actual</a:t>
            </a:r>
            <a:endParaRPr sz="3400"/>
          </a:p>
        </p:txBody>
      </p:sp>
      <p:graphicFrame>
        <p:nvGraphicFramePr>
          <p:cNvPr id="117" name="Google Shape;117;p9"/>
          <p:cNvGraphicFramePr/>
          <p:nvPr/>
        </p:nvGraphicFramePr>
        <p:xfrm>
          <a:off x="825500" y="1831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{08B049E9-9F74-4297-BA5E-73600677F78E}</a:tableStyleId>
              </a:tblPr>
              <a:tblGrid>
                <a:gridCol w="3517900"/>
                <a:gridCol w="3517900"/>
                <a:gridCol w="3517900"/>
              </a:tblGrid>
              <a:tr h="42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Work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Tecnología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Work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Categoría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Work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Por qué la usamos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2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HTML5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Estructura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Semántica y accesibilidad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SCSS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Estilos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Variables, mixins y modularidad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BEM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Convención CSS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Mantenibilidad y escalabilidad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Google Fonts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Tipografía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Legibilidad y coherencia visual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CSS Variables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Temas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Tema claro/oscuro sin duplicar código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Git / GitHub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Versiones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00"/>
                        <a:buFont typeface="Work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Trazabilidad y trabajo en equipo</a:t>
                      </a:r>
                      <a:endParaRPr sz="1300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9"/>
          <p:cNvSpPr/>
          <p:nvPr/>
        </p:nvSpPr>
        <p:spPr>
          <a:xfrm>
            <a:off x="812800" y="5010944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Work Sans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Pendiente:</a:t>
            </a:r>
            <a:r>
              <a:rPr b="0" i="0" lang="en-US" sz="1400" u="none" cap="none" strike="noStrike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rPr>
              <a:t> framework frontend (Angular o React), backend, base de datos y despliegue.</a:t>
            </a:r>
            <a:endParaRPr b="0" i="0" sz="14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STOCKLINK · SPRINT 2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 / 7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812800" y="812800"/>
            <a:ext cx="10883392" cy="179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31"/>
              </a:lnSpc>
              <a:spcBef>
                <a:spcPts val="0"/>
              </a:spcBef>
              <a:spcAft>
                <a:spcPts val="0"/>
              </a:spcAft>
              <a:buClr>
                <a:srgbClr val="2F91F9"/>
              </a:buClr>
              <a:buSzPts val="874"/>
              <a:buFont typeface="JetBrains Mono"/>
              <a:buNone/>
            </a:pPr>
            <a:r>
              <a:rPr b="1" i="0" lang="en-US" sz="874" u="none" cap="none" strike="noStrike">
                <a:solidFill>
                  <a:srgbClr val="2F91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 CRONOGRAMA</a:t>
            </a:r>
            <a:endParaRPr b="0" i="0" sz="874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7" name="Google Shape;127;p10"/>
          <p:cNvSpPr txBox="1"/>
          <p:nvPr>
            <p:ph type="title"/>
          </p:nvPr>
        </p:nvSpPr>
        <p:spPr>
          <a:xfrm>
            <a:off x="812800" y="1055489"/>
            <a:ext cx="10883392" cy="36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9975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76"/>
              <a:buFont typeface="Work Sans"/>
              <a:buNone/>
            </a:pPr>
            <a:r>
              <a:rPr b="1" i="0" lang="en-US" sz="2476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rPr>
              <a:t>Cronograma · 140 h · 16–29 oct</a:t>
            </a:r>
            <a:endParaRPr sz="2476"/>
          </a:p>
        </p:txBody>
      </p:sp>
      <p:graphicFrame>
        <p:nvGraphicFramePr>
          <p:cNvPr id="128" name="Google Shape;128;p10"/>
          <p:cNvGraphicFramePr/>
          <p:nvPr/>
        </p:nvGraphicFramePr>
        <p:xfrm>
          <a:off x="825500" y="1639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{08B049E9-9F74-4297-BA5E-73600677F78E}</a:tableStyleId>
              </a:tblPr>
              <a:tblGrid>
                <a:gridCol w="1758950"/>
                <a:gridCol w="1758950"/>
                <a:gridCol w="1758950"/>
                <a:gridCol w="1758950"/>
                <a:gridCol w="1758950"/>
                <a:gridCol w="1758950"/>
              </a:tblGrid>
              <a:tr h="43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75"/>
                        <a:buFont typeface="Work Sans"/>
                        <a:buNone/>
                      </a:pPr>
                      <a:r>
                        <a:rPr b="1" lang="en-US" sz="1375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Fase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75"/>
                        <a:buFont typeface="Work Sans"/>
                        <a:buNone/>
                      </a:pPr>
                      <a:r>
                        <a:rPr b="1" lang="en-US" sz="1375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Horas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75"/>
                        <a:buFont typeface="Work Sans"/>
                        <a:buNone/>
                      </a:pPr>
                      <a:r>
                        <a:rPr b="1" lang="en-US" sz="1375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16-19 oct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75"/>
                        <a:buFont typeface="Work Sans"/>
                        <a:buNone/>
                      </a:pPr>
                      <a:r>
                        <a:rPr b="1" lang="en-US" sz="1375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20-23 oct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75"/>
                        <a:buFont typeface="Work Sans"/>
                        <a:buNone/>
                      </a:pPr>
                      <a:r>
                        <a:rPr b="1" lang="en-US" sz="1375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24-26 oct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75"/>
                        <a:buFont typeface="Work Sans"/>
                        <a:buNone/>
                      </a:pPr>
                      <a:r>
                        <a:rPr b="1" lang="en-US" sz="1375" u="none" cap="none" strike="noStrike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27-29 oct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3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1. Análisis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8 h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016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2. Diseño y planificación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10 h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3. Maquetación HTML5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31 h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4. Desarrollo CSS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71 h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5. Pruebas y validación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12 h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6. Ajustes finales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47556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8 h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75"/>
                        <a:buFont typeface="JetBrains Mono"/>
                        <a:buNone/>
                      </a:pPr>
                      <a:r>
                        <a:t/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91F9"/>
                        </a:buClr>
                        <a:buSzPts val="1375"/>
                        <a:buFont typeface="Work Sans"/>
                        <a:buNone/>
                      </a:pPr>
                      <a:r>
                        <a:rPr lang="en-US" sz="1375" u="none" cap="none" strike="noStrike">
                          <a:solidFill>
                            <a:srgbClr val="2F91F9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■</a:t>
                      </a:r>
                      <a:endParaRPr sz="1375" u="none" cap="none" strike="noStrike"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88900" marB="88900" marR="127000" marL="127000">
                    <a:lnL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6C7C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10"/>
          <p:cNvSpPr/>
          <p:nvPr/>
        </p:nvSpPr>
        <p:spPr>
          <a:xfrm>
            <a:off x="812800" y="5654675"/>
            <a:ext cx="108834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 sprint suma 140 horas. El mayor peso está en el SCSS, con 71 horas, porque incluye BEM, SCSS, los dos temas y el responsive. Las pruebas y los ajustes finales se concentran al final, del 27 al 29 de octubre.</a:t>
            </a:r>
            <a:endParaRPr sz="1089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89"/>
              <a:buFont typeface="Work Sans"/>
              <a:buNone/>
            </a:pPr>
            <a:r>
              <a:t/>
            </a:r>
            <a:endParaRPr sz="1089">
              <a:solidFill>
                <a:srgbClr val="475569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STOCKLINK · SPRINT 2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/ 7</a:t>
            </a:r>
            <a:endParaRPr b="0" i="0" sz="1200" u="none" cap="none" strike="noStrike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ockLink · Sprint 2 · Desarrollo de Interfaces">
  <a:themeElements>
    <a:clrScheme name="StockLink · Sprint 2 · Desarrollo de Interfaces">
      <a:dk1>
        <a:srgbClr val="0F172A"/>
      </a:dk1>
      <a:lt1>
        <a:srgbClr val="F8FAFC"/>
      </a:lt1>
      <a:dk2>
        <a:srgbClr val="49505F"/>
      </a:dk2>
      <a:lt2>
        <a:srgbClr val="E1E3E7"/>
      </a:lt2>
      <a:accent1>
        <a:srgbClr val="2F91F9"/>
      </a:accent1>
      <a:accent2>
        <a:srgbClr val="475569"/>
      </a:accent2>
      <a:accent3>
        <a:srgbClr val="94A3B8"/>
      </a:accent3>
      <a:accent4>
        <a:srgbClr val="9AA0A6"/>
      </a:accent4>
      <a:accent5>
        <a:srgbClr val="6C727E"/>
      </a:accent5>
      <a:accent6>
        <a:srgbClr val="8F949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ockLink · Sprint 2 · Desarrollo de Interfaces">
  <a:themeElements>
    <a:clrScheme name="StockLink · Sprint 2 · Desarrollo de Interfaces">
      <a:dk1>
        <a:srgbClr val="0F172A"/>
      </a:dk1>
      <a:lt1>
        <a:srgbClr val="F8FAFC"/>
      </a:lt1>
      <a:dk2>
        <a:srgbClr val="49505F"/>
      </a:dk2>
      <a:lt2>
        <a:srgbClr val="E1E3E7"/>
      </a:lt2>
      <a:accent1>
        <a:srgbClr val="2F91F9"/>
      </a:accent1>
      <a:accent2>
        <a:srgbClr val="475569"/>
      </a:accent2>
      <a:accent3>
        <a:srgbClr val="94A3B8"/>
      </a:accent3>
      <a:accent4>
        <a:srgbClr val="9AA0A6"/>
      </a:accent4>
      <a:accent5>
        <a:srgbClr val="6C727E"/>
      </a:accent5>
      <a:accent6>
        <a:srgbClr val="8F949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