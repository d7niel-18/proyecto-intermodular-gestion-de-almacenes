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y="6858000" cx="12192000"/>
  <p:notesSz cx="6858000" cy="9144000"/>
  <p:embeddedFontLst>
    <p:embeddedFont>
      <p:font typeface="Work Sans"/>
      <p:regular r:id="rId24"/>
      <p:bold r:id="rId25"/>
      <p:italic r:id="rId26"/>
      <p:boldItalic r:id="rId27"/>
    </p:embeddedFont>
    <p:embeddedFont>
      <p:font typeface="JetBrains Mono"/>
      <p:regular r:id="rId28"/>
      <p:bold r:id="rId29"/>
      <p:italic r:id="rId30"/>
      <p:boldItalic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F98CAC7-E04E-48D0-B0AF-D407BFE19C45}">
  <a:tblStyle styleId="{FF98CAC7-E04E-48D0-B0AF-D407BFE19C45}"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734B2607-A136-4DDC-85CE-FCE2F60A348C}" styleName="Table_1">
    <a:wholeTbl>
      <a:tcTxStyle>
        <a:font>
          <a:latin typeface="Arial"/>
          <a:ea typeface="Arial"/>
          <a:cs typeface="Arial"/>
        </a:font>
        <a:srgbClr val="000000"/>
      </a:tcTxStyle>
      <a:tcStyle>
        <a:tcBdr>
          <a:left>
            <a:ln cap="flat" cmpd="sng" w="6350">
              <a:solidFill>
                <a:srgbClr val="000000"/>
              </a:solidFill>
              <a:prstDash val="solid"/>
              <a:round/>
              <a:headEnd len="sm" w="sm" type="none"/>
              <a:tailEnd len="sm" w="sm" type="none"/>
            </a:ln>
          </a:left>
          <a:right>
            <a:ln cap="flat" cmpd="sng" w="6350">
              <a:solidFill>
                <a:srgbClr val="000000"/>
              </a:solidFill>
              <a:prstDash val="solid"/>
              <a:round/>
              <a:headEnd len="sm" w="sm" type="none"/>
              <a:tailEnd len="sm" w="sm" type="none"/>
            </a:ln>
          </a:right>
          <a:top>
            <a:ln cap="flat" cmpd="sng" w="6350">
              <a:solidFill>
                <a:srgbClr val="000000"/>
              </a:solidFill>
              <a:prstDash val="solid"/>
              <a:round/>
              <a:headEnd len="sm" w="sm" type="none"/>
              <a:tailEnd len="sm" w="sm" type="none"/>
            </a:ln>
          </a:top>
          <a:bottom>
            <a:ln cap="flat" cmpd="sng" w="6350">
              <a:solidFill>
                <a:srgbClr val="000000"/>
              </a:solidFill>
              <a:prstDash val="solid"/>
              <a:round/>
              <a:headEnd len="sm" w="sm" type="none"/>
              <a:tailEnd len="sm" w="sm" type="none"/>
            </a:ln>
          </a:bottom>
          <a:insideH>
            <a:ln cap="flat" cmpd="sng" w="6350">
              <a:solidFill>
                <a:srgbClr val="000000"/>
              </a:solidFill>
              <a:prstDash val="solid"/>
              <a:round/>
              <a:headEnd len="sm" w="sm" type="none"/>
              <a:tailEnd len="sm" w="sm" type="none"/>
            </a:ln>
          </a:insideH>
          <a:insideV>
            <a:ln cap="flat" cmpd="sng" w="6350">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font" Target="fonts/WorkSans-regular.fntdata"/><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WorkSans-italic.fntdata"/><Relationship Id="rId25" Type="http://schemas.openxmlformats.org/officeDocument/2006/relationships/font" Target="fonts/WorkSans-bold.fntdata"/><Relationship Id="rId28" Type="http://schemas.openxmlformats.org/officeDocument/2006/relationships/font" Target="fonts/JetBrainsMono-regular.fntdata"/><Relationship Id="rId27" Type="http://schemas.openxmlformats.org/officeDocument/2006/relationships/font" Target="fonts/WorkSans-bold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JetBrainsMono-bold.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JetBrainsMono-boldItalic.fntdata"/><Relationship Id="rId30" Type="http://schemas.openxmlformats.org/officeDocument/2006/relationships/font" Target="fonts/JetBrainsMono-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h250b42d2691ec82_6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h250b42d2691ec82_6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h643d2a54fead8b76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h643d2a54fead8b76_0_4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h643d2a54fead8b76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h643d2a54fead8b76_0_6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h643d2a54fead8b76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h643d2a54fead8b76_0_7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h250b42d2691ec82_6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h250b42d2691ec82_6_2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117"/>
        </a:solidFill>
      </p:bgPr>
    </p:bg>
    <p:spTree>
      <p:nvGrpSpPr>
        <p:cNvPr id="83" name="Shape 83"/>
        <p:cNvGrpSpPr/>
        <p:nvPr/>
      </p:nvGrpSpPr>
      <p:grpSpPr>
        <a:xfrm>
          <a:off x="0" y="0"/>
          <a:ext cx="0" cy="0"/>
          <a:chOff x="0" y="0"/>
          <a:chExt cx="0" cy="0"/>
        </a:xfrm>
      </p:grpSpPr>
      <p:sp>
        <p:nvSpPr>
          <p:cNvPr id="84" name="Google Shape;84;p13"/>
          <p:cNvSpPr/>
          <p:nvPr/>
        </p:nvSpPr>
        <p:spPr>
          <a:xfrm>
            <a:off x="609600" y="4007048"/>
            <a:ext cx="10972800" cy="628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5" name="Google Shape;85;p13"/>
          <p:cNvSpPr/>
          <p:nvPr/>
        </p:nvSpPr>
        <p:spPr>
          <a:xfrm>
            <a:off x="609600" y="4007048"/>
            <a:ext cx="10972800" cy="9600"/>
          </a:xfrm>
          <a:prstGeom prst="rect">
            <a:avLst/>
          </a:prstGeom>
          <a:solidFill>
            <a:srgbClr val="21262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6" name="Google Shape;86;p13"/>
          <p:cNvSpPr/>
          <p:nvPr/>
        </p:nvSpPr>
        <p:spPr>
          <a:xfrm>
            <a:off x="9166625" y="4278473"/>
            <a:ext cx="1924200" cy="352500"/>
          </a:xfrm>
          <a:prstGeom prst="roundRect">
            <a:avLst>
              <a:gd fmla="val 16216" name="adj"/>
            </a:avLst>
          </a:prstGeom>
          <a:solidFill>
            <a:srgbClr val="161B22"/>
          </a:solidFill>
          <a:ln cap="flat" cmpd="sng" w="9525">
            <a:solidFill>
              <a:srgbClr val="30363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87" name="Google Shape;87;p13"/>
          <p:cNvPicPr preferRelativeResize="0"/>
          <p:nvPr/>
        </p:nvPicPr>
        <p:blipFill rotWithShape="1">
          <a:blip r:embed="rId3">
            <a:alphaModFix/>
          </a:blip>
          <a:srcRect b="0" l="0" r="0" t="0"/>
          <a:stretch/>
        </p:blipFill>
        <p:spPr>
          <a:xfrm rot="42">
            <a:off x="609598" y="4385423"/>
            <a:ext cx="202147" cy="161698"/>
          </a:xfrm>
          <a:prstGeom prst="rect">
            <a:avLst/>
          </a:prstGeom>
          <a:noFill/>
          <a:ln>
            <a:noFill/>
          </a:ln>
        </p:spPr>
      </p:pic>
      <p:sp>
        <p:nvSpPr>
          <p:cNvPr id="88" name="Google Shape;88;p13"/>
          <p:cNvSpPr txBox="1"/>
          <p:nvPr/>
        </p:nvSpPr>
        <p:spPr>
          <a:xfrm>
            <a:off x="609600" y="2222152"/>
            <a:ext cx="4845900" cy="200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2F91F9"/>
                </a:solidFill>
                <a:latin typeface="JetBrains Mono"/>
                <a:ea typeface="JetBrains Mono"/>
                <a:cs typeface="JetBrains Mono"/>
                <a:sym typeface="JetBrains Mono"/>
              </a:rPr>
              <a:t>PROYECTO INTERMODULAR · DAW 2026/2027</a:t>
            </a:r>
            <a:endParaRPr/>
          </a:p>
        </p:txBody>
      </p:sp>
      <p:sp>
        <p:nvSpPr>
          <p:cNvPr id="89" name="Google Shape;89;p13"/>
          <p:cNvSpPr txBox="1"/>
          <p:nvPr/>
        </p:nvSpPr>
        <p:spPr>
          <a:xfrm>
            <a:off x="609600" y="2574577"/>
            <a:ext cx="4013100" cy="6705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4800" u="none" cap="none" strike="noStrike">
                <a:solidFill>
                  <a:srgbClr val="FFFFFF"/>
                </a:solidFill>
                <a:latin typeface="Work Sans"/>
                <a:ea typeface="Work Sans"/>
                <a:cs typeface="Work Sans"/>
                <a:sym typeface="Work Sans"/>
              </a:rPr>
              <a:t>StockLink</a:t>
            </a:r>
            <a:endParaRPr/>
          </a:p>
        </p:txBody>
      </p:sp>
      <p:sp>
        <p:nvSpPr>
          <p:cNvPr id="90" name="Google Shape;90;p13"/>
          <p:cNvSpPr txBox="1"/>
          <p:nvPr/>
        </p:nvSpPr>
        <p:spPr>
          <a:xfrm>
            <a:off x="609600" y="3397398"/>
            <a:ext cx="7810500" cy="27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94A3B8"/>
                </a:solidFill>
                <a:latin typeface="Work Sans"/>
                <a:ea typeface="Work Sans"/>
                <a:cs typeface="Work Sans"/>
                <a:sym typeface="Work Sans"/>
              </a:rPr>
              <a:t>Sistema de gestión de stock multiempresa centralizado</a:t>
            </a:r>
            <a:endParaRPr/>
          </a:p>
        </p:txBody>
      </p:sp>
      <p:sp>
        <p:nvSpPr>
          <p:cNvPr id="91" name="Google Shape;91;p13"/>
          <p:cNvSpPr txBox="1"/>
          <p:nvPr/>
        </p:nvSpPr>
        <p:spPr>
          <a:xfrm>
            <a:off x="952800" y="4362325"/>
            <a:ext cx="36192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BD5E1"/>
                </a:solidFill>
                <a:latin typeface="Work Sans"/>
                <a:ea typeface="Work Sans"/>
                <a:cs typeface="Work Sans"/>
                <a:sym typeface="Work Sans"/>
              </a:rPr>
              <a:t>Daniel Jiménez</a:t>
            </a:r>
            <a:r>
              <a:rPr lang="en-US" sz="1200">
                <a:solidFill>
                  <a:srgbClr val="CBD5E1"/>
                </a:solidFill>
                <a:latin typeface="Work Sans"/>
                <a:ea typeface="Work Sans"/>
                <a:cs typeface="Work Sans"/>
                <a:sym typeface="Work Sans"/>
              </a:rPr>
              <a:t> Ramírez</a:t>
            </a:r>
            <a:r>
              <a:rPr b="0" i="0" lang="en-US" sz="1200" u="none" cap="none" strike="noStrike">
                <a:solidFill>
                  <a:srgbClr val="CBD5E1"/>
                </a:solidFill>
                <a:latin typeface="Work Sans"/>
                <a:ea typeface="Work Sans"/>
                <a:cs typeface="Work Sans"/>
                <a:sym typeface="Work Sans"/>
              </a:rPr>
              <a:t> · Pepe Gil · Daniel Ortiz</a:t>
            </a:r>
            <a:endParaRPr/>
          </a:p>
        </p:txBody>
      </p:sp>
      <p:sp>
        <p:nvSpPr>
          <p:cNvPr id="92" name="Google Shape;92;p13"/>
          <p:cNvSpPr txBox="1"/>
          <p:nvPr/>
        </p:nvSpPr>
        <p:spPr>
          <a:xfrm>
            <a:off x="9319025" y="4354673"/>
            <a:ext cx="1714500" cy="1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94A3B8"/>
                </a:solidFill>
                <a:latin typeface="Work Sans"/>
                <a:ea typeface="Work Sans"/>
                <a:cs typeface="Work Sans"/>
                <a:sym typeface="Work Sans"/>
              </a:rPr>
              <a:t>Campus Cámara Sevilla</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96" name="Shape 96"/>
        <p:cNvGrpSpPr/>
        <p:nvPr/>
      </p:nvGrpSpPr>
      <p:grpSpPr>
        <a:xfrm>
          <a:off x="0" y="0"/>
          <a:ext cx="0" cy="0"/>
          <a:chOff x="0" y="0"/>
          <a:chExt cx="0" cy="0"/>
        </a:xfrm>
      </p:grpSpPr>
      <p:sp>
        <p:nvSpPr>
          <p:cNvPr id="97" name="Google Shape;97;p14"/>
          <p:cNvSpPr txBox="1"/>
          <p:nvPr/>
        </p:nvSpPr>
        <p:spPr>
          <a:xfrm>
            <a:off x="609600" y="457200"/>
            <a:ext cx="11582400" cy="1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050">
                <a:solidFill>
                  <a:srgbClr val="2F91F9"/>
                </a:solidFill>
                <a:latin typeface="JetBrains Mono"/>
                <a:ea typeface="JetBrains Mono"/>
                <a:cs typeface="JetBrains Mono"/>
                <a:sym typeface="JetBrains Mono"/>
              </a:rPr>
              <a:t>PRESENTACIÓN</a:t>
            </a:r>
            <a:endParaRPr/>
          </a:p>
        </p:txBody>
      </p:sp>
      <p:sp>
        <p:nvSpPr>
          <p:cNvPr id="98" name="Google Shape;98;p14"/>
          <p:cNvSpPr txBox="1"/>
          <p:nvPr/>
        </p:nvSpPr>
        <p:spPr>
          <a:xfrm>
            <a:off x="609600" y="704850"/>
            <a:ext cx="11582400" cy="369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400">
                <a:solidFill>
                  <a:srgbClr val="0F172A"/>
                </a:solidFill>
                <a:latin typeface="Work Sans"/>
                <a:ea typeface="Work Sans"/>
                <a:cs typeface="Work Sans"/>
                <a:sym typeface="Work Sans"/>
              </a:rPr>
              <a:t>¿De que trata StockLink?</a:t>
            </a:r>
            <a:endParaRPr/>
          </a:p>
        </p:txBody>
      </p:sp>
      <p:sp>
        <p:nvSpPr>
          <p:cNvPr id="99" name="Google Shape;99;p14"/>
          <p:cNvSpPr txBox="1"/>
          <p:nvPr/>
        </p:nvSpPr>
        <p:spPr>
          <a:xfrm>
            <a:off x="2315425" y="1860450"/>
            <a:ext cx="7327200" cy="2770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t/>
            </a:r>
            <a:endParaRPr sz="1200">
              <a:solidFill>
                <a:srgbClr val="475569"/>
              </a:solidFill>
              <a:latin typeface="Work Sans"/>
              <a:ea typeface="Work Sans"/>
              <a:cs typeface="Work Sans"/>
              <a:sym typeface="Work Sans"/>
            </a:endParaRPr>
          </a:p>
          <a:p>
            <a:pPr indent="0" lvl="0" marL="0" marR="0" rtl="0" algn="l">
              <a:spcBef>
                <a:spcPts val="0"/>
              </a:spcBef>
              <a:spcAft>
                <a:spcPts val="0"/>
              </a:spcAft>
              <a:buNone/>
            </a:pPr>
            <a:r>
              <a:rPr lang="en-US" sz="1200">
                <a:solidFill>
                  <a:srgbClr val="475569"/>
                </a:solidFill>
                <a:latin typeface="Work Sans"/>
                <a:ea typeface="Work Sans"/>
                <a:cs typeface="Work Sans"/>
                <a:sym typeface="Work Sans"/>
              </a:rPr>
              <a:t>StockLink es una aplicación web destinada a la gestión centralizada del stock de diferentes empresas y locales, permitiendo registrar, consultar y actualizar de forma rápida y organizada las existencias de los productos. </a:t>
            </a:r>
            <a:endParaRPr sz="1200">
              <a:solidFill>
                <a:srgbClr val="475569"/>
              </a:solidFill>
              <a:latin typeface="Work Sans"/>
              <a:ea typeface="Work Sans"/>
              <a:cs typeface="Work Sans"/>
              <a:sym typeface="Work Sans"/>
            </a:endParaRPr>
          </a:p>
          <a:p>
            <a:pPr indent="0" lvl="0" marL="0" marR="0" rtl="0" algn="l">
              <a:spcBef>
                <a:spcPts val="0"/>
              </a:spcBef>
              <a:spcAft>
                <a:spcPts val="0"/>
              </a:spcAft>
              <a:buNone/>
            </a:pPr>
            <a:r>
              <a:t/>
            </a:r>
            <a:endParaRPr sz="1200">
              <a:solidFill>
                <a:srgbClr val="475569"/>
              </a:solidFill>
              <a:latin typeface="Work Sans"/>
              <a:ea typeface="Work Sans"/>
              <a:cs typeface="Work Sans"/>
              <a:sym typeface="Work Sans"/>
            </a:endParaRPr>
          </a:p>
          <a:p>
            <a:pPr indent="0" lvl="0" marL="0" marR="0" rtl="0" algn="l">
              <a:spcBef>
                <a:spcPts val="0"/>
              </a:spcBef>
              <a:spcAft>
                <a:spcPts val="0"/>
              </a:spcAft>
              <a:buNone/>
            </a:pPr>
            <a:r>
              <a:rPr lang="en-US" sz="1200">
                <a:solidFill>
                  <a:srgbClr val="475569"/>
                </a:solidFill>
                <a:latin typeface="Work Sans"/>
                <a:ea typeface="Work Sans"/>
                <a:cs typeface="Work Sans"/>
                <a:sym typeface="Work Sans"/>
              </a:rPr>
              <a:t>La aplicación busca reducir los problemas derivados de la gestión manual del inventario, como roturas de stock, sobrestock y errores en el registro de movimientos. </a:t>
            </a:r>
            <a:endParaRPr sz="1200">
              <a:solidFill>
                <a:srgbClr val="475569"/>
              </a:solidFill>
              <a:latin typeface="Work Sans"/>
              <a:ea typeface="Work Sans"/>
              <a:cs typeface="Work Sans"/>
              <a:sym typeface="Work Sans"/>
            </a:endParaRPr>
          </a:p>
          <a:p>
            <a:pPr indent="0" lvl="0" marL="0" marR="0" rtl="0" algn="l">
              <a:spcBef>
                <a:spcPts val="0"/>
              </a:spcBef>
              <a:spcAft>
                <a:spcPts val="0"/>
              </a:spcAft>
              <a:buNone/>
            </a:pPr>
            <a:r>
              <a:t/>
            </a:r>
            <a:endParaRPr sz="1200">
              <a:solidFill>
                <a:srgbClr val="475569"/>
              </a:solidFill>
              <a:latin typeface="Work Sans"/>
              <a:ea typeface="Work Sans"/>
              <a:cs typeface="Work Sans"/>
              <a:sym typeface="Work Sans"/>
            </a:endParaRPr>
          </a:p>
          <a:p>
            <a:pPr indent="0" lvl="0" marL="0" marR="0" rtl="0" algn="l">
              <a:spcBef>
                <a:spcPts val="0"/>
              </a:spcBef>
              <a:spcAft>
                <a:spcPts val="0"/>
              </a:spcAft>
              <a:buNone/>
            </a:pPr>
            <a:r>
              <a:rPr lang="en-US" sz="1200">
                <a:solidFill>
                  <a:srgbClr val="475569"/>
                </a:solidFill>
                <a:latin typeface="Work Sans"/>
                <a:ea typeface="Work Sans"/>
                <a:cs typeface="Work Sans"/>
                <a:sym typeface="Work Sans"/>
              </a:rPr>
              <a:t>Cada empresa dispone de un espacio propio desde el que puede organizar sus productos, categorías y existencias, consultar el estado del inventario y controlar las entradas y salidas de productos.</a:t>
            </a:r>
            <a:endParaRPr sz="1200">
              <a:solidFill>
                <a:srgbClr val="475569"/>
              </a:solidFill>
              <a:latin typeface="Work Sans"/>
              <a:ea typeface="Work Sans"/>
              <a:cs typeface="Work Sans"/>
              <a:sym typeface="Work Sans"/>
            </a:endParaRPr>
          </a:p>
          <a:p>
            <a:pPr indent="0" lvl="0" marL="0" marR="0" rtl="0" algn="l">
              <a:lnSpc>
                <a:spcPct val="100000"/>
              </a:lnSpc>
              <a:spcBef>
                <a:spcPts val="0"/>
              </a:spcBef>
              <a:spcAft>
                <a:spcPts val="0"/>
              </a:spcAft>
              <a:buNone/>
            </a:pPr>
            <a:r>
              <a:t/>
            </a:r>
            <a:endParaRPr sz="1200">
              <a:solidFill>
                <a:srgbClr val="475569"/>
              </a:solidFill>
              <a:latin typeface="Work Sans"/>
              <a:ea typeface="Work Sans"/>
              <a:cs typeface="Work Sans"/>
              <a:sym typeface="Work Sans"/>
            </a:endParaRPr>
          </a:p>
          <a:p>
            <a:pPr indent="0" lvl="0" marL="0" marR="0" rtl="0" algn="l">
              <a:lnSpc>
                <a:spcPct val="100000"/>
              </a:lnSpc>
              <a:spcBef>
                <a:spcPts val="0"/>
              </a:spcBef>
              <a:spcAft>
                <a:spcPts val="0"/>
              </a:spcAft>
              <a:buClr>
                <a:srgbClr val="000000"/>
              </a:buClr>
              <a:buFont typeface="Arial"/>
              <a:buNone/>
            </a:pPr>
            <a:r>
              <a:rPr lang="en-US" sz="1200">
                <a:solidFill>
                  <a:srgbClr val="475569"/>
                </a:solidFill>
                <a:latin typeface="Work Sans"/>
                <a:ea typeface="Work Sans"/>
                <a:cs typeface="Work Sans"/>
                <a:sym typeface="Work Sans"/>
              </a:rPr>
              <a:t>En conjunto, StockLink proporciona una solución orientada a centralizar y simplificar la gestión de inventarios, permitiendo a las empresas disponer de una visión más clara de sus existencias y agilizar las operaciones habituales relacionadas con el stock.</a:t>
            </a:r>
            <a:endParaRPr sz="1200">
              <a:solidFill>
                <a:srgbClr val="475569"/>
              </a:solidFill>
              <a:latin typeface="Work Sans"/>
              <a:ea typeface="Work Sans"/>
              <a:cs typeface="Work Sans"/>
              <a:sym typeface="Work Sans"/>
            </a:endParaRPr>
          </a:p>
        </p:txBody>
      </p:sp>
      <p:sp>
        <p:nvSpPr>
          <p:cNvPr id="100" name="Google Shape;100;p14"/>
          <p:cNvSpPr/>
          <p:nvPr/>
        </p:nvSpPr>
        <p:spPr>
          <a:xfrm>
            <a:off x="1939973" y="1982172"/>
            <a:ext cx="19500" cy="2694600"/>
          </a:xfrm>
          <a:prstGeom prst="rect">
            <a:avLst/>
          </a:prstGeom>
          <a:solidFill>
            <a:srgbClr val="2F91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04" name="Shape 104"/>
        <p:cNvGrpSpPr/>
        <p:nvPr/>
      </p:nvGrpSpPr>
      <p:grpSpPr>
        <a:xfrm>
          <a:off x="0" y="0"/>
          <a:ext cx="0" cy="0"/>
          <a:chOff x="0" y="0"/>
          <a:chExt cx="0" cy="0"/>
        </a:xfrm>
      </p:grpSpPr>
      <p:sp>
        <p:nvSpPr>
          <p:cNvPr id="105" name="Google Shape;105;p15"/>
          <p:cNvSpPr/>
          <p:nvPr/>
        </p:nvSpPr>
        <p:spPr>
          <a:xfrm>
            <a:off x="2184200" y="4561900"/>
            <a:ext cx="3505200" cy="1923900"/>
          </a:xfrm>
          <a:prstGeom prst="roundRect">
            <a:avLst>
              <a:gd fmla="val 6382" name="adj"/>
            </a:avLst>
          </a:prstGeom>
          <a:solidFill>
            <a:srgbClr val="FFFFFF"/>
          </a:solidFill>
          <a:ln cap="flat" cmpd="sng" w="952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6" name="Google Shape;106;p15"/>
          <p:cNvSpPr/>
          <p:nvPr/>
        </p:nvSpPr>
        <p:spPr>
          <a:xfrm>
            <a:off x="5918000" y="4561900"/>
            <a:ext cx="3505200" cy="1923900"/>
          </a:xfrm>
          <a:prstGeom prst="roundRect">
            <a:avLst>
              <a:gd fmla="val 6382" name="adj"/>
            </a:avLst>
          </a:prstGeom>
          <a:solidFill>
            <a:srgbClr val="FFFFFF"/>
          </a:solidFill>
          <a:ln cap="flat" cmpd="sng" w="952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107" name="Google Shape;107;p15"/>
          <p:cNvPicPr preferRelativeResize="0"/>
          <p:nvPr/>
        </p:nvPicPr>
        <p:blipFill rotWithShape="1">
          <a:blip r:embed="rId3">
            <a:alphaModFix/>
          </a:blip>
          <a:srcRect b="0" l="0" r="0" t="0"/>
          <a:stretch/>
        </p:blipFill>
        <p:spPr>
          <a:xfrm>
            <a:off x="2327962" y="5000050"/>
            <a:ext cx="219075" cy="190500"/>
          </a:xfrm>
          <a:prstGeom prst="rect">
            <a:avLst/>
          </a:prstGeom>
          <a:noFill/>
          <a:ln>
            <a:noFill/>
          </a:ln>
        </p:spPr>
      </p:pic>
      <p:pic>
        <p:nvPicPr>
          <p:cNvPr descr="image.png" id="108" name="Google Shape;108;p15"/>
          <p:cNvPicPr preferRelativeResize="0"/>
          <p:nvPr/>
        </p:nvPicPr>
        <p:blipFill rotWithShape="1">
          <a:blip r:embed="rId4">
            <a:alphaModFix/>
          </a:blip>
          <a:srcRect b="0" l="0" r="0" t="0"/>
          <a:stretch/>
        </p:blipFill>
        <p:spPr>
          <a:xfrm>
            <a:off x="6184712" y="5000050"/>
            <a:ext cx="238125" cy="190500"/>
          </a:xfrm>
          <a:prstGeom prst="rect">
            <a:avLst/>
          </a:prstGeom>
          <a:noFill/>
          <a:ln>
            <a:noFill/>
          </a:ln>
        </p:spPr>
      </p:pic>
      <p:sp>
        <p:nvSpPr>
          <p:cNvPr id="109" name="Google Shape;109;p15"/>
          <p:cNvSpPr txBox="1"/>
          <p:nvPr/>
        </p:nvSpPr>
        <p:spPr>
          <a:xfrm>
            <a:off x="609600" y="457200"/>
            <a:ext cx="11582400" cy="171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2F91F9"/>
                </a:solidFill>
                <a:latin typeface="JetBrains Mono"/>
                <a:ea typeface="JetBrains Mono"/>
                <a:cs typeface="JetBrains Mono"/>
                <a:sym typeface="JetBrains Mono"/>
              </a:rPr>
              <a:t>1. ANÁLISIS INICIAL</a:t>
            </a:r>
            <a:endParaRPr/>
          </a:p>
        </p:txBody>
      </p:sp>
      <p:sp>
        <p:nvSpPr>
          <p:cNvPr id="110" name="Google Shape;110;p15"/>
          <p:cNvSpPr txBox="1"/>
          <p:nvPr/>
        </p:nvSpPr>
        <p:spPr>
          <a:xfrm>
            <a:off x="609600" y="704850"/>
            <a:ext cx="11582400" cy="3619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400" u="none" cap="none" strike="noStrike">
                <a:solidFill>
                  <a:srgbClr val="0F172A"/>
                </a:solidFill>
                <a:latin typeface="Work Sans"/>
                <a:ea typeface="Work Sans"/>
                <a:cs typeface="Work Sans"/>
                <a:sym typeface="Work Sans"/>
              </a:rPr>
              <a:t>Identificación del Público Objetivo</a:t>
            </a:r>
            <a:endParaRPr/>
          </a:p>
        </p:txBody>
      </p:sp>
      <p:sp>
        <p:nvSpPr>
          <p:cNvPr id="111" name="Google Shape;111;p15"/>
          <p:cNvSpPr txBox="1"/>
          <p:nvPr/>
        </p:nvSpPr>
        <p:spPr>
          <a:xfrm>
            <a:off x="2327938" y="5317938"/>
            <a:ext cx="3775500" cy="231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0F172A"/>
                </a:solidFill>
                <a:latin typeface="Work Sans"/>
                <a:ea typeface="Work Sans"/>
                <a:cs typeface="Work Sans"/>
                <a:sym typeface="Work Sans"/>
              </a:rPr>
              <a:t>¿A quién va dirigido StockLink? </a:t>
            </a:r>
            <a:endParaRPr/>
          </a:p>
        </p:txBody>
      </p:sp>
      <p:sp>
        <p:nvSpPr>
          <p:cNvPr id="112" name="Google Shape;112;p15"/>
          <p:cNvSpPr txBox="1"/>
          <p:nvPr/>
        </p:nvSpPr>
        <p:spPr>
          <a:xfrm>
            <a:off x="2327951" y="5676325"/>
            <a:ext cx="3142500" cy="738900"/>
          </a:xfrm>
          <a:prstGeom prst="rect">
            <a:avLst/>
          </a:prstGeom>
          <a:noFill/>
          <a:ln>
            <a:noFill/>
          </a:ln>
        </p:spPr>
        <p:txBody>
          <a:bodyPr anchorCtr="0" anchor="t" bIns="0" lIns="0" spcFirstLastPara="1" rIns="0" wrap="square" tIns="0">
            <a:spAutoFit/>
          </a:bodyPr>
          <a:lstStyle/>
          <a:p>
            <a:pPr indent="0" lvl="0" marL="0" rtl="0" algn="just">
              <a:spcBef>
                <a:spcPts val="0"/>
              </a:spcBef>
              <a:spcAft>
                <a:spcPts val="0"/>
              </a:spcAft>
              <a:buNone/>
            </a:pPr>
            <a:r>
              <a:rPr lang="en-US" sz="1200">
                <a:solidFill>
                  <a:srgbClr val="475569"/>
                </a:solidFill>
                <a:latin typeface="Work Sans"/>
                <a:ea typeface="Work Sans"/>
                <a:cs typeface="Work Sans"/>
                <a:sym typeface="Work Sans"/>
              </a:rPr>
              <a:t>Pequeñas y medianas empresas, empresas con uno o varios locales,  Comercio minorista, hostelería, farmacias..</a:t>
            </a:r>
            <a:endParaRPr/>
          </a:p>
        </p:txBody>
      </p:sp>
      <p:sp>
        <p:nvSpPr>
          <p:cNvPr id="113" name="Google Shape;113;p15"/>
          <p:cNvSpPr txBox="1"/>
          <p:nvPr/>
        </p:nvSpPr>
        <p:spPr>
          <a:xfrm>
            <a:off x="6184688" y="5317950"/>
            <a:ext cx="3775500" cy="231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0F172A"/>
                </a:solidFill>
                <a:latin typeface="Work Sans"/>
                <a:ea typeface="Work Sans"/>
                <a:cs typeface="Work Sans"/>
                <a:sym typeface="Work Sans"/>
              </a:rPr>
              <a:t>Problemas</a:t>
            </a:r>
            <a:endParaRPr/>
          </a:p>
        </p:txBody>
      </p:sp>
      <p:sp>
        <p:nvSpPr>
          <p:cNvPr id="114" name="Google Shape;114;p15"/>
          <p:cNvSpPr txBox="1"/>
          <p:nvPr/>
        </p:nvSpPr>
        <p:spPr>
          <a:xfrm>
            <a:off x="6184688" y="5588975"/>
            <a:ext cx="2971800" cy="738900"/>
          </a:xfrm>
          <a:prstGeom prst="rect">
            <a:avLst/>
          </a:prstGeom>
          <a:noFill/>
          <a:ln>
            <a:noFill/>
          </a:ln>
        </p:spPr>
        <p:txBody>
          <a:bodyPr anchorCtr="0" anchor="t" bIns="0" lIns="0" spcFirstLastPara="1" rIns="0" wrap="square" tIns="0">
            <a:spAutoFit/>
          </a:bodyPr>
          <a:lstStyle/>
          <a:p>
            <a:pPr indent="0" lvl="0" marL="0" marR="0" rtl="0" algn="just">
              <a:spcBef>
                <a:spcPts val="0"/>
              </a:spcBef>
              <a:spcAft>
                <a:spcPts val="0"/>
              </a:spcAft>
              <a:buNone/>
            </a:pPr>
            <a:r>
              <a:rPr lang="en-US" sz="1200">
                <a:solidFill>
                  <a:srgbClr val="475569"/>
                </a:solidFill>
                <a:latin typeface="Work Sans"/>
                <a:ea typeface="Work Sans"/>
                <a:cs typeface="Work Sans"/>
                <a:sym typeface="Work Sans"/>
              </a:rPr>
              <a:t>Muchas de estas empresas todavía gestionan el stock de una forma bastante manual, utilizando hojas de cálculo, papel o incluso de memoria. </a:t>
            </a:r>
            <a:endParaRPr/>
          </a:p>
        </p:txBody>
      </p:sp>
      <p:sp>
        <p:nvSpPr>
          <p:cNvPr id="115" name="Google Shape;115;p15"/>
          <p:cNvSpPr txBox="1"/>
          <p:nvPr/>
        </p:nvSpPr>
        <p:spPr>
          <a:xfrm>
            <a:off x="2426175" y="1540263"/>
            <a:ext cx="7327200" cy="31371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200"/>
              </a:spcBef>
              <a:spcAft>
                <a:spcPts val="0"/>
              </a:spcAft>
              <a:buSzPts val="1100"/>
              <a:buNone/>
            </a:pPr>
            <a:r>
              <a:rPr lang="en-US" sz="1200">
                <a:solidFill>
                  <a:srgbClr val="475569"/>
                </a:solidFill>
                <a:latin typeface="Work Sans"/>
                <a:ea typeface="Work Sans"/>
                <a:cs typeface="Work Sans"/>
                <a:sym typeface="Work Sans"/>
              </a:rPr>
              <a:t>StockLink está pensado principalmente para pequeñas y medianas empresas que tienen que gestionar su inventario. Por ejemplo, puede ser una tienda, un restaurante, una farmacia o un almacén.</a:t>
            </a:r>
            <a:endParaRPr sz="1200">
              <a:solidFill>
                <a:srgbClr val="475569"/>
              </a:solidFill>
              <a:latin typeface="Work Sans"/>
              <a:ea typeface="Work Sans"/>
              <a:cs typeface="Work Sans"/>
              <a:sym typeface="Work Sans"/>
            </a:endParaRPr>
          </a:p>
          <a:p>
            <a:pPr indent="0" lvl="0" marL="0" rtl="0" algn="l">
              <a:lnSpc>
                <a:spcPct val="115000"/>
              </a:lnSpc>
              <a:spcBef>
                <a:spcPts val="1200"/>
              </a:spcBef>
              <a:spcAft>
                <a:spcPts val="0"/>
              </a:spcAft>
              <a:buSzPts val="1100"/>
              <a:buNone/>
            </a:pPr>
            <a:r>
              <a:rPr lang="en-US" sz="1200">
                <a:solidFill>
                  <a:srgbClr val="475569"/>
                </a:solidFill>
                <a:latin typeface="Work Sans"/>
                <a:ea typeface="Work Sans"/>
                <a:cs typeface="Work Sans"/>
                <a:sym typeface="Work Sans"/>
              </a:rPr>
              <a:t>El problema que hemos detectado es que muchas de estas empresas todavía gestionan el stock de una forma bastante manual, utilizando hojas de cálculo, papel o incluso de memoria. Esto puede provocar errores y dificultar saber cuánto stock tienen realmente.</a:t>
            </a:r>
            <a:endParaRPr sz="1200">
              <a:solidFill>
                <a:srgbClr val="475569"/>
              </a:solidFill>
              <a:latin typeface="Work Sans"/>
              <a:ea typeface="Work Sans"/>
              <a:cs typeface="Work Sans"/>
              <a:sym typeface="Work Sans"/>
            </a:endParaRPr>
          </a:p>
          <a:p>
            <a:pPr indent="0" lvl="0" marL="0" rtl="0" algn="l">
              <a:lnSpc>
                <a:spcPct val="115000"/>
              </a:lnSpc>
              <a:spcBef>
                <a:spcPts val="1200"/>
              </a:spcBef>
              <a:spcAft>
                <a:spcPts val="0"/>
              </a:spcAft>
              <a:buSzPts val="1100"/>
              <a:buNone/>
            </a:pPr>
            <a:r>
              <a:rPr lang="en-US" sz="1200">
                <a:solidFill>
                  <a:srgbClr val="475569"/>
                </a:solidFill>
                <a:latin typeface="Work Sans"/>
                <a:ea typeface="Work Sans"/>
                <a:cs typeface="Work Sans"/>
                <a:sym typeface="Work Sans"/>
              </a:rPr>
              <a:t>Además, hemos tenido en cuenta empresas que tienen varios locales. En estos casos, con StockLink se podría acceder desde una misma sesión a los diferentes locales y consultar su inventario sin tener que utilizar una cuenta diferente para cada uno.</a:t>
            </a:r>
            <a:endParaRPr sz="1200">
              <a:solidFill>
                <a:srgbClr val="475569"/>
              </a:solidFill>
              <a:latin typeface="Work Sans"/>
              <a:ea typeface="Work Sans"/>
              <a:cs typeface="Work Sans"/>
              <a:sym typeface="Work Sans"/>
            </a:endParaRPr>
          </a:p>
          <a:p>
            <a:pPr indent="0" lvl="0" marL="0" rtl="0" algn="l">
              <a:lnSpc>
                <a:spcPct val="115000"/>
              </a:lnSpc>
              <a:spcBef>
                <a:spcPts val="1200"/>
              </a:spcBef>
              <a:spcAft>
                <a:spcPts val="0"/>
              </a:spcAft>
              <a:buSzPts val="1100"/>
              <a:buNone/>
            </a:pPr>
            <a:r>
              <a:rPr lang="en-US" sz="1200">
                <a:solidFill>
                  <a:srgbClr val="475569"/>
                </a:solidFill>
                <a:latin typeface="Work Sans"/>
                <a:ea typeface="Work Sans"/>
                <a:cs typeface="Work Sans"/>
                <a:sym typeface="Work Sans"/>
              </a:rPr>
              <a:t>Por tanto, nuestro objetivo es centralizar toda esta información y hacer que la gestión del stock sea más sencilla.</a:t>
            </a:r>
            <a:endParaRPr sz="1200">
              <a:solidFill>
                <a:srgbClr val="475569"/>
              </a:solidFill>
              <a:latin typeface="Work Sans"/>
              <a:ea typeface="Work Sans"/>
              <a:cs typeface="Work Sans"/>
              <a:sym typeface="Work Sans"/>
            </a:endParaRPr>
          </a:p>
          <a:p>
            <a:pPr indent="0" lvl="0" marL="0" marR="0" rtl="0" algn="l">
              <a:spcBef>
                <a:spcPts val="1200"/>
              </a:spcBef>
              <a:spcAft>
                <a:spcPts val="0"/>
              </a:spcAft>
              <a:buNone/>
            </a:pPr>
            <a:r>
              <a:t/>
            </a:r>
            <a:endParaRPr sz="1200">
              <a:solidFill>
                <a:srgbClr val="475569"/>
              </a:solidFill>
              <a:latin typeface="Work Sans"/>
              <a:ea typeface="Work Sans"/>
              <a:cs typeface="Work Sans"/>
              <a:sym typeface="Work Sans"/>
            </a:endParaRPr>
          </a:p>
        </p:txBody>
      </p:sp>
      <p:sp>
        <p:nvSpPr>
          <p:cNvPr id="116" name="Google Shape;116;p15"/>
          <p:cNvSpPr/>
          <p:nvPr/>
        </p:nvSpPr>
        <p:spPr>
          <a:xfrm>
            <a:off x="2184198" y="1540272"/>
            <a:ext cx="19500" cy="2694600"/>
          </a:xfrm>
          <a:prstGeom prst="rect">
            <a:avLst/>
          </a:prstGeom>
          <a:solidFill>
            <a:srgbClr val="2F91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20" name="Shape 120"/>
        <p:cNvGrpSpPr/>
        <p:nvPr/>
      </p:nvGrpSpPr>
      <p:grpSpPr>
        <a:xfrm>
          <a:off x="0" y="0"/>
          <a:ext cx="0" cy="0"/>
          <a:chOff x="0" y="0"/>
          <a:chExt cx="0" cy="0"/>
        </a:xfrm>
      </p:grpSpPr>
      <p:sp>
        <p:nvSpPr>
          <p:cNvPr id="121" name="Google Shape;121;p16"/>
          <p:cNvSpPr/>
          <p:nvPr/>
        </p:nvSpPr>
        <p:spPr>
          <a:xfrm>
            <a:off x="1281750" y="4518229"/>
            <a:ext cx="3875700" cy="828600"/>
          </a:xfrm>
          <a:prstGeom prst="roundRect">
            <a:avLst>
              <a:gd fmla="val 11494" name="adj"/>
            </a:avLst>
          </a:prstGeom>
          <a:solidFill>
            <a:srgbClr val="FFFFFF"/>
          </a:solidFill>
          <a:ln cap="flat" cmpd="sng" w="952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2" name="Google Shape;122;p16"/>
          <p:cNvSpPr/>
          <p:nvPr/>
        </p:nvSpPr>
        <p:spPr>
          <a:xfrm>
            <a:off x="1281750" y="5499304"/>
            <a:ext cx="3875700" cy="828600"/>
          </a:xfrm>
          <a:prstGeom prst="roundRect">
            <a:avLst>
              <a:gd fmla="val 11494" name="adj"/>
            </a:avLst>
          </a:prstGeom>
          <a:solidFill>
            <a:srgbClr val="FFFFFF"/>
          </a:solidFill>
          <a:ln cap="flat" cmpd="sng" w="952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3" name="Google Shape;123;p16"/>
          <p:cNvSpPr txBox="1"/>
          <p:nvPr/>
        </p:nvSpPr>
        <p:spPr>
          <a:xfrm>
            <a:off x="609600" y="457200"/>
            <a:ext cx="11582400" cy="171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2F91F9"/>
                </a:solidFill>
                <a:latin typeface="JetBrains Mono"/>
                <a:ea typeface="JetBrains Mono"/>
                <a:cs typeface="JetBrains Mono"/>
                <a:sym typeface="JetBrains Mono"/>
              </a:rPr>
              <a:t>1. ANÁLISIS INICIAL</a:t>
            </a:r>
            <a:endParaRPr/>
          </a:p>
        </p:txBody>
      </p:sp>
      <p:sp>
        <p:nvSpPr>
          <p:cNvPr id="124" name="Google Shape;124;p16"/>
          <p:cNvSpPr txBox="1"/>
          <p:nvPr/>
        </p:nvSpPr>
        <p:spPr>
          <a:xfrm>
            <a:off x="609600" y="704850"/>
            <a:ext cx="11582400" cy="3619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400" u="none" cap="none" strike="noStrike">
                <a:solidFill>
                  <a:srgbClr val="0F172A"/>
                </a:solidFill>
                <a:latin typeface="Work Sans"/>
                <a:ea typeface="Work Sans"/>
                <a:cs typeface="Work Sans"/>
                <a:sym typeface="Work Sans"/>
              </a:rPr>
              <a:t>Objetivos Principales de la Interfaz</a:t>
            </a:r>
            <a:endParaRPr/>
          </a:p>
        </p:txBody>
      </p:sp>
      <p:sp>
        <p:nvSpPr>
          <p:cNvPr id="125" name="Google Shape;125;p16"/>
          <p:cNvSpPr txBox="1"/>
          <p:nvPr/>
        </p:nvSpPr>
        <p:spPr>
          <a:xfrm>
            <a:off x="1365675" y="4572754"/>
            <a:ext cx="6475800" cy="207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350">
                <a:solidFill>
                  <a:srgbClr val="0F172A"/>
                </a:solidFill>
                <a:latin typeface="Work Sans"/>
                <a:ea typeface="Work Sans"/>
                <a:cs typeface="Work Sans"/>
                <a:sym typeface="Work Sans"/>
              </a:rPr>
              <a:t>🎯 Claridad y usabilidad</a:t>
            </a:r>
            <a:endParaRPr/>
          </a:p>
        </p:txBody>
      </p:sp>
      <p:sp>
        <p:nvSpPr>
          <p:cNvPr id="126" name="Google Shape;126;p16"/>
          <p:cNvSpPr txBox="1"/>
          <p:nvPr/>
        </p:nvSpPr>
        <p:spPr>
          <a:xfrm>
            <a:off x="1519875" y="4975429"/>
            <a:ext cx="6167400" cy="173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125">
                <a:solidFill>
                  <a:srgbClr val="475569"/>
                </a:solidFill>
                <a:latin typeface="Work Sans"/>
                <a:ea typeface="Work Sans"/>
                <a:cs typeface="Work Sans"/>
                <a:sym typeface="Work Sans"/>
              </a:rPr>
              <a:t>Interfaz sencilla e intuitiva.</a:t>
            </a:r>
            <a:endParaRPr/>
          </a:p>
        </p:txBody>
      </p:sp>
      <p:sp>
        <p:nvSpPr>
          <p:cNvPr id="127" name="Google Shape;127;p16"/>
          <p:cNvSpPr txBox="1"/>
          <p:nvPr/>
        </p:nvSpPr>
        <p:spPr>
          <a:xfrm>
            <a:off x="1365675" y="5688854"/>
            <a:ext cx="6475800" cy="207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350">
                <a:solidFill>
                  <a:srgbClr val="0F172A"/>
                </a:solidFill>
                <a:latin typeface="Work Sans"/>
                <a:ea typeface="Work Sans"/>
                <a:cs typeface="Work Sans"/>
                <a:sym typeface="Work Sans"/>
              </a:rPr>
              <a:t>🧭 Navegación</a:t>
            </a:r>
            <a:endParaRPr/>
          </a:p>
        </p:txBody>
      </p:sp>
      <p:sp>
        <p:nvSpPr>
          <p:cNvPr id="128" name="Google Shape;128;p16"/>
          <p:cNvSpPr txBox="1"/>
          <p:nvPr/>
        </p:nvSpPr>
        <p:spPr>
          <a:xfrm>
            <a:off x="1281750" y="1301428"/>
            <a:ext cx="7327200" cy="2586000"/>
          </a:xfrm>
          <a:prstGeom prst="rect">
            <a:avLst/>
          </a:prstGeom>
          <a:noFill/>
          <a:ln>
            <a:noFill/>
          </a:ln>
        </p:spPr>
        <p:txBody>
          <a:bodyPr anchorCtr="0" anchor="t" bIns="0" lIns="0" spcFirstLastPara="1" rIns="0" wrap="square" tIns="0">
            <a:spAutoFit/>
          </a:bodyPr>
          <a:lstStyle/>
          <a:p>
            <a:pPr indent="0" lvl="0" marL="0" marR="0" rtl="0" algn="just">
              <a:spcBef>
                <a:spcPts val="0"/>
              </a:spcBef>
              <a:spcAft>
                <a:spcPts val="0"/>
              </a:spcAft>
              <a:buNone/>
            </a:pPr>
            <a:r>
              <a:rPr lang="en-US" sz="1200">
                <a:solidFill>
                  <a:srgbClr val="475569"/>
                </a:solidFill>
                <a:latin typeface="Work Sans"/>
                <a:ea typeface="Work Sans"/>
                <a:cs typeface="Work Sans"/>
                <a:sym typeface="Work Sans"/>
              </a:rPr>
              <a:t>Nuestros objetivos específicos están centrados principalmente en conseguir una buena interfaz de usuario.</a:t>
            </a:r>
            <a:endParaRPr sz="1200">
              <a:solidFill>
                <a:srgbClr val="475569"/>
              </a:solidFill>
              <a:latin typeface="Work Sans"/>
              <a:ea typeface="Work Sans"/>
              <a:cs typeface="Work Sans"/>
              <a:sym typeface="Work Sans"/>
            </a:endParaRPr>
          </a:p>
          <a:p>
            <a:pPr indent="0" lvl="0" marL="0" marR="0" rtl="0" algn="just">
              <a:spcBef>
                <a:spcPts val="0"/>
              </a:spcBef>
              <a:spcAft>
                <a:spcPts val="0"/>
              </a:spcAft>
              <a:buNone/>
            </a:pPr>
            <a:r>
              <a:t/>
            </a:r>
            <a:endParaRPr sz="1200">
              <a:solidFill>
                <a:srgbClr val="475569"/>
              </a:solidFill>
              <a:latin typeface="Work Sans"/>
              <a:ea typeface="Work Sans"/>
              <a:cs typeface="Work Sans"/>
              <a:sym typeface="Work Sans"/>
            </a:endParaRPr>
          </a:p>
          <a:p>
            <a:pPr indent="0" lvl="0" marL="0" marR="0" rtl="0" algn="just">
              <a:spcBef>
                <a:spcPts val="0"/>
              </a:spcBef>
              <a:spcAft>
                <a:spcPts val="0"/>
              </a:spcAft>
              <a:buNone/>
            </a:pPr>
            <a:r>
              <a:rPr lang="en-US" sz="1200">
                <a:solidFill>
                  <a:srgbClr val="475569"/>
                </a:solidFill>
                <a:latin typeface="Work Sans"/>
                <a:ea typeface="Work Sans"/>
                <a:cs typeface="Work Sans"/>
                <a:sym typeface="Work Sans"/>
              </a:rPr>
              <a:t>Primero buscamos que la aplicación sea clara y sencilla, ya que está pensada también para personas con un nivel tecnológico medio-bajo. </a:t>
            </a:r>
            <a:endParaRPr sz="1200">
              <a:solidFill>
                <a:srgbClr val="475569"/>
              </a:solidFill>
              <a:latin typeface="Work Sans"/>
              <a:ea typeface="Work Sans"/>
              <a:cs typeface="Work Sans"/>
              <a:sym typeface="Work Sans"/>
            </a:endParaRPr>
          </a:p>
          <a:p>
            <a:pPr indent="0" lvl="0" marL="0" marR="0" rtl="0" algn="just">
              <a:spcBef>
                <a:spcPts val="0"/>
              </a:spcBef>
              <a:spcAft>
                <a:spcPts val="0"/>
              </a:spcAft>
              <a:buNone/>
            </a:pPr>
            <a:r>
              <a:t/>
            </a:r>
            <a:endParaRPr sz="1200">
              <a:solidFill>
                <a:srgbClr val="475569"/>
              </a:solidFill>
              <a:latin typeface="Work Sans"/>
              <a:ea typeface="Work Sans"/>
              <a:cs typeface="Work Sans"/>
              <a:sym typeface="Work Sans"/>
            </a:endParaRPr>
          </a:p>
          <a:p>
            <a:pPr indent="0" lvl="0" marL="0" marR="0" rtl="0" algn="just">
              <a:spcBef>
                <a:spcPts val="0"/>
              </a:spcBef>
              <a:spcAft>
                <a:spcPts val="0"/>
              </a:spcAft>
              <a:buNone/>
            </a:pPr>
            <a:r>
              <a:rPr lang="en-US" sz="1200">
                <a:solidFill>
                  <a:srgbClr val="475569"/>
                </a:solidFill>
                <a:latin typeface="Work Sans"/>
                <a:ea typeface="Work Sans"/>
                <a:cs typeface="Work Sans"/>
                <a:sym typeface="Work Sans"/>
              </a:rPr>
              <a:t>Después, queremos conseguir una navegación intuitiva, para que el usuario pueda encontrar rápidamente lo que necesita sin tener que dar muchas vueltas. </a:t>
            </a:r>
            <a:endParaRPr sz="1200">
              <a:solidFill>
                <a:srgbClr val="475569"/>
              </a:solidFill>
              <a:latin typeface="Work Sans"/>
              <a:ea typeface="Work Sans"/>
              <a:cs typeface="Work Sans"/>
              <a:sym typeface="Work Sans"/>
            </a:endParaRPr>
          </a:p>
          <a:p>
            <a:pPr indent="0" lvl="0" marL="0" marR="0" rtl="0" algn="just">
              <a:spcBef>
                <a:spcPts val="0"/>
              </a:spcBef>
              <a:spcAft>
                <a:spcPts val="0"/>
              </a:spcAft>
              <a:buNone/>
            </a:pPr>
            <a:r>
              <a:t/>
            </a:r>
            <a:endParaRPr sz="1200">
              <a:solidFill>
                <a:srgbClr val="475569"/>
              </a:solidFill>
              <a:latin typeface="Work Sans"/>
              <a:ea typeface="Work Sans"/>
              <a:cs typeface="Work Sans"/>
              <a:sym typeface="Work Sans"/>
            </a:endParaRPr>
          </a:p>
          <a:p>
            <a:pPr indent="0" lvl="0" marL="0" marR="0" rtl="0" algn="just">
              <a:spcBef>
                <a:spcPts val="0"/>
              </a:spcBef>
              <a:spcAft>
                <a:spcPts val="0"/>
              </a:spcAft>
              <a:buNone/>
            </a:pPr>
            <a:r>
              <a:rPr lang="en-US" sz="1200">
                <a:solidFill>
                  <a:srgbClr val="475569"/>
                </a:solidFill>
                <a:latin typeface="Work Sans"/>
                <a:ea typeface="Work Sans"/>
                <a:cs typeface="Work Sans"/>
                <a:sym typeface="Work Sans"/>
              </a:rPr>
              <a:t>Otro punto importante es que sea responsive, es decir, que pueda utilizarse correctamente tanto en ordenador como en tablet o móvil. </a:t>
            </a:r>
            <a:endParaRPr sz="1200">
              <a:solidFill>
                <a:srgbClr val="475569"/>
              </a:solidFill>
              <a:latin typeface="Work Sans"/>
              <a:ea typeface="Work Sans"/>
              <a:cs typeface="Work Sans"/>
              <a:sym typeface="Work Sans"/>
            </a:endParaRPr>
          </a:p>
          <a:p>
            <a:pPr indent="0" lvl="0" marL="0" marR="0" rtl="0" algn="just">
              <a:spcBef>
                <a:spcPts val="0"/>
              </a:spcBef>
              <a:spcAft>
                <a:spcPts val="0"/>
              </a:spcAft>
              <a:buNone/>
            </a:pPr>
            <a:r>
              <a:t/>
            </a:r>
            <a:endParaRPr sz="1200">
              <a:solidFill>
                <a:srgbClr val="475569"/>
              </a:solidFill>
              <a:latin typeface="Work Sans"/>
              <a:ea typeface="Work Sans"/>
              <a:cs typeface="Work Sans"/>
              <a:sym typeface="Work Sans"/>
            </a:endParaRPr>
          </a:p>
          <a:p>
            <a:pPr indent="0" lvl="0" marL="0" marR="0" rtl="0" algn="just">
              <a:spcBef>
                <a:spcPts val="0"/>
              </a:spcBef>
              <a:spcAft>
                <a:spcPts val="0"/>
              </a:spcAft>
              <a:buNone/>
            </a:pPr>
            <a:r>
              <a:rPr lang="en-US" sz="1200">
                <a:solidFill>
                  <a:srgbClr val="475569"/>
                </a:solidFill>
                <a:latin typeface="Work Sans"/>
                <a:ea typeface="Work Sans"/>
                <a:cs typeface="Work Sans"/>
                <a:sym typeface="Work Sans"/>
              </a:rPr>
              <a:t>También queremos mantener una consistencia visual, utilizando los mismos colores, tipografías y componentes en toda la aplicación.</a:t>
            </a:r>
            <a:endParaRPr sz="1200">
              <a:solidFill>
                <a:srgbClr val="475569"/>
              </a:solidFill>
              <a:latin typeface="Work Sans"/>
              <a:ea typeface="Work Sans"/>
              <a:cs typeface="Work Sans"/>
              <a:sym typeface="Work Sans"/>
            </a:endParaRPr>
          </a:p>
        </p:txBody>
      </p:sp>
      <p:sp>
        <p:nvSpPr>
          <p:cNvPr id="129" name="Google Shape;129;p16"/>
          <p:cNvSpPr txBox="1"/>
          <p:nvPr/>
        </p:nvSpPr>
        <p:spPr>
          <a:xfrm>
            <a:off x="1592200" y="6071579"/>
            <a:ext cx="6167400" cy="173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125">
                <a:solidFill>
                  <a:srgbClr val="475569"/>
                </a:solidFill>
                <a:latin typeface="Work Sans"/>
                <a:ea typeface="Work Sans"/>
                <a:cs typeface="Work Sans"/>
                <a:sym typeface="Work Sans"/>
              </a:rPr>
              <a:t>Acceso rápido y organizado a las funciones.</a:t>
            </a:r>
            <a:endParaRPr/>
          </a:p>
        </p:txBody>
      </p:sp>
      <p:sp>
        <p:nvSpPr>
          <p:cNvPr id="130" name="Google Shape;130;p16"/>
          <p:cNvSpPr/>
          <p:nvPr/>
        </p:nvSpPr>
        <p:spPr>
          <a:xfrm>
            <a:off x="5785925" y="4572754"/>
            <a:ext cx="4184700" cy="828600"/>
          </a:xfrm>
          <a:prstGeom prst="roundRect">
            <a:avLst>
              <a:gd fmla="val 11494" name="adj"/>
            </a:avLst>
          </a:prstGeom>
          <a:solidFill>
            <a:srgbClr val="FFFFFF"/>
          </a:solidFill>
          <a:ln cap="flat" cmpd="sng" w="952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1" name="Google Shape;131;p16"/>
          <p:cNvSpPr txBox="1"/>
          <p:nvPr/>
        </p:nvSpPr>
        <p:spPr>
          <a:xfrm>
            <a:off x="5869850" y="4627279"/>
            <a:ext cx="6475800" cy="207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350">
                <a:solidFill>
                  <a:srgbClr val="0F172A"/>
                </a:solidFill>
                <a:latin typeface="Work Sans"/>
                <a:ea typeface="Work Sans"/>
                <a:cs typeface="Work Sans"/>
                <a:sym typeface="Work Sans"/>
              </a:rPr>
              <a:t>📱 Responsive</a:t>
            </a:r>
            <a:endParaRPr/>
          </a:p>
        </p:txBody>
      </p:sp>
      <p:sp>
        <p:nvSpPr>
          <p:cNvPr id="132" name="Google Shape;132;p16"/>
          <p:cNvSpPr txBox="1"/>
          <p:nvPr/>
        </p:nvSpPr>
        <p:spPr>
          <a:xfrm>
            <a:off x="6024050" y="5029954"/>
            <a:ext cx="6167400" cy="173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125">
                <a:solidFill>
                  <a:srgbClr val="475569"/>
                </a:solidFill>
                <a:latin typeface="Work Sans"/>
                <a:ea typeface="Work Sans"/>
                <a:cs typeface="Work Sans"/>
                <a:sym typeface="Work Sans"/>
              </a:rPr>
              <a:t>Adaptación a PC, tablet y móvil.</a:t>
            </a:r>
            <a:endParaRPr/>
          </a:p>
        </p:txBody>
      </p:sp>
      <p:sp>
        <p:nvSpPr>
          <p:cNvPr id="133" name="Google Shape;133;p16"/>
          <p:cNvSpPr/>
          <p:nvPr/>
        </p:nvSpPr>
        <p:spPr>
          <a:xfrm>
            <a:off x="5785926" y="5617004"/>
            <a:ext cx="4184700" cy="828600"/>
          </a:xfrm>
          <a:prstGeom prst="roundRect">
            <a:avLst>
              <a:gd fmla="val 11494" name="adj"/>
            </a:avLst>
          </a:prstGeom>
          <a:solidFill>
            <a:srgbClr val="FFFFFF"/>
          </a:solidFill>
          <a:ln cap="flat" cmpd="sng" w="952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4" name="Google Shape;134;p16"/>
          <p:cNvSpPr txBox="1"/>
          <p:nvPr/>
        </p:nvSpPr>
        <p:spPr>
          <a:xfrm>
            <a:off x="5869838" y="5671529"/>
            <a:ext cx="6475800" cy="207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350">
                <a:solidFill>
                  <a:srgbClr val="0F172A"/>
                </a:solidFill>
                <a:latin typeface="Work Sans"/>
                <a:ea typeface="Work Sans"/>
                <a:cs typeface="Work Sans"/>
                <a:sym typeface="Work Sans"/>
              </a:rPr>
              <a:t>♿ Accesibilidad y feedback</a:t>
            </a:r>
            <a:endParaRPr/>
          </a:p>
        </p:txBody>
      </p:sp>
      <p:sp>
        <p:nvSpPr>
          <p:cNvPr id="135" name="Google Shape;135;p16"/>
          <p:cNvSpPr txBox="1"/>
          <p:nvPr/>
        </p:nvSpPr>
        <p:spPr>
          <a:xfrm>
            <a:off x="5919163" y="6040554"/>
            <a:ext cx="6167400" cy="173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125">
                <a:solidFill>
                  <a:srgbClr val="475569"/>
                </a:solidFill>
                <a:latin typeface="Work Sans"/>
                <a:ea typeface="Work Sans"/>
                <a:cs typeface="Work Sans"/>
                <a:sym typeface="Work Sans"/>
              </a:rPr>
              <a:t>Información sobre acciones, errores y estados del stock.</a:t>
            </a:r>
            <a:endParaRPr/>
          </a:p>
        </p:txBody>
      </p:sp>
      <p:sp>
        <p:nvSpPr>
          <p:cNvPr id="136" name="Google Shape;136;p16"/>
          <p:cNvSpPr/>
          <p:nvPr/>
        </p:nvSpPr>
        <p:spPr>
          <a:xfrm>
            <a:off x="1038173" y="1248147"/>
            <a:ext cx="19500" cy="2694600"/>
          </a:xfrm>
          <a:prstGeom prst="rect">
            <a:avLst/>
          </a:prstGeom>
          <a:solidFill>
            <a:srgbClr val="2F91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40" name="Shape 140"/>
        <p:cNvGrpSpPr/>
        <p:nvPr/>
      </p:nvGrpSpPr>
      <p:grpSpPr>
        <a:xfrm>
          <a:off x="0" y="0"/>
          <a:ext cx="0" cy="0"/>
          <a:chOff x="0" y="0"/>
          <a:chExt cx="0" cy="0"/>
        </a:xfrm>
      </p:grpSpPr>
      <p:sp>
        <p:nvSpPr>
          <p:cNvPr id="141" name="Google Shape;141;p17"/>
          <p:cNvSpPr/>
          <p:nvPr/>
        </p:nvSpPr>
        <p:spPr>
          <a:xfrm>
            <a:off x="1248800" y="4997650"/>
            <a:ext cx="9694500" cy="1633500"/>
          </a:xfrm>
          <a:prstGeom prst="roundRect">
            <a:avLst>
              <a:gd fmla="val 0" name="adj"/>
            </a:avLst>
          </a:prstGeom>
          <a:solidFill>
            <a:srgbClr val="FFFFFF"/>
          </a:solidFill>
          <a:ln cap="flat" cmpd="sng" w="9525">
            <a:solidFill>
              <a:srgbClr val="4A7DBA"/>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aphicFrame>
        <p:nvGraphicFramePr>
          <p:cNvPr id="142" name="Google Shape;142;p17"/>
          <p:cNvGraphicFramePr/>
          <p:nvPr/>
        </p:nvGraphicFramePr>
        <p:xfrm>
          <a:off x="1248775" y="4997600"/>
          <a:ext cx="3000000" cy="3000000"/>
        </p:xfrm>
        <a:graphic>
          <a:graphicData uri="http://schemas.openxmlformats.org/drawingml/2006/table">
            <a:tbl>
              <a:tblPr>
                <a:noFill/>
                <a:tableStyleId>{FF98CAC7-E04E-48D0-B0AF-D407BFE19C45}</a:tableStyleId>
              </a:tblPr>
              <a:tblGrid>
                <a:gridCol w="1849175"/>
                <a:gridCol w="3036725"/>
                <a:gridCol w="2477050"/>
                <a:gridCol w="2331500"/>
              </a:tblGrid>
              <a:tr h="408350">
                <a:tc>
                  <a:txBody>
                    <a:bodyPr/>
                    <a:lstStyle/>
                    <a:p>
                      <a:pPr indent="0" lvl="0" marL="0" marR="0" rtl="0" algn="l">
                        <a:spcBef>
                          <a:spcPts val="0"/>
                        </a:spcBef>
                        <a:spcAft>
                          <a:spcPts val="0"/>
                        </a:spcAft>
                        <a:buNone/>
                      </a:pPr>
                      <a:r>
                        <a:rPr b="1" i="0" lang="en-US" sz="1125" u="none" cap="none" strike="noStrike">
                          <a:solidFill>
                            <a:srgbClr val="0F172A"/>
                          </a:solidFill>
                          <a:latin typeface="Work Sans"/>
                          <a:ea typeface="Work Sans"/>
                          <a:cs typeface="Work Sans"/>
                          <a:sym typeface="Work Sans"/>
                        </a:rPr>
                        <a:t>Plataforma</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1F5F9"/>
                    </a:solidFill>
                  </a:tcPr>
                </a:tc>
                <a:tc>
                  <a:txBody>
                    <a:bodyPr/>
                    <a:lstStyle/>
                    <a:p>
                      <a:pPr indent="0" lvl="0" marL="0" marR="0" rtl="0" algn="l">
                        <a:spcBef>
                          <a:spcPts val="0"/>
                        </a:spcBef>
                        <a:spcAft>
                          <a:spcPts val="0"/>
                        </a:spcAft>
                        <a:buNone/>
                      </a:pPr>
                      <a:r>
                        <a:rPr b="1" i="0" lang="en-US" sz="1125" u="none" cap="none" strike="noStrike">
                          <a:solidFill>
                            <a:srgbClr val="0F172A"/>
                          </a:solidFill>
                          <a:latin typeface="Work Sans"/>
                          <a:ea typeface="Work Sans"/>
                          <a:cs typeface="Work Sans"/>
                          <a:sym typeface="Work Sans"/>
                        </a:rPr>
                        <a:t>Aspectos Destacados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1F5F9"/>
                    </a:solidFill>
                  </a:tcPr>
                </a:tc>
                <a:tc>
                  <a:txBody>
                    <a:bodyPr/>
                    <a:lstStyle/>
                    <a:p>
                      <a:pPr indent="0" lvl="0" marL="0" marR="0" rtl="0" algn="l">
                        <a:spcBef>
                          <a:spcPts val="0"/>
                        </a:spcBef>
                        <a:spcAft>
                          <a:spcPts val="0"/>
                        </a:spcAft>
                        <a:buNone/>
                      </a:pPr>
                      <a:r>
                        <a:rPr b="1" i="0" lang="en-US" sz="1125" u="none" cap="none" strike="noStrike">
                          <a:solidFill>
                            <a:srgbClr val="0F172A"/>
                          </a:solidFill>
                          <a:latin typeface="Work Sans"/>
                          <a:ea typeface="Work Sans"/>
                          <a:cs typeface="Work Sans"/>
                          <a:sym typeface="Work Sans"/>
                        </a:rPr>
                        <a:t>A Tomar / Referencia</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1F5F9"/>
                    </a:solidFill>
                  </a:tcPr>
                </a:tc>
                <a:tc>
                  <a:txBody>
                    <a:bodyPr/>
                    <a:lstStyle/>
                    <a:p>
                      <a:pPr indent="0" lvl="0" marL="0" marR="0" rtl="0" algn="l">
                        <a:spcBef>
                          <a:spcPts val="0"/>
                        </a:spcBef>
                        <a:spcAft>
                          <a:spcPts val="0"/>
                        </a:spcAft>
                        <a:buNone/>
                      </a:pPr>
                      <a:r>
                        <a:rPr b="1" i="0" lang="en-US" sz="1125" u="none" cap="none" strike="noStrike">
                          <a:solidFill>
                            <a:srgbClr val="0F172A"/>
                          </a:solidFill>
                          <a:latin typeface="Work Sans"/>
                          <a:ea typeface="Work Sans"/>
                          <a:cs typeface="Work Sans"/>
                          <a:sym typeface="Work Sans"/>
                        </a:rPr>
                        <a:t>Debilidad Detectada</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1F5F9"/>
                    </a:solidFill>
                  </a:tcPr>
                </a:tc>
              </a:tr>
              <a:tr h="408350">
                <a:tc>
                  <a:txBody>
                    <a:bodyPr/>
                    <a:lstStyle/>
                    <a:p>
                      <a:pPr indent="0" lvl="0" marL="0" marR="0" rtl="0" algn="l">
                        <a:spcBef>
                          <a:spcPts val="0"/>
                        </a:spcBef>
                        <a:spcAft>
                          <a:spcPts val="0"/>
                        </a:spcAft>
                        <a:buNone/>
                      </a:pPr>
                      <a:r>
                        <a:rPr b="1" i="0" lang="en-US" sz="1200" u="none" cap="none" strike="noStrike">
                          <a:solidFill>
                            <a:srgbClr val="0F172A"/>
                          </a:solidFill>
                          <a:latin typeface="Work Sans"/>
                          <a:ea typeface="Work Sans"/>
                          <a:cs typeface="Work Sans"/>
                          <a:sym typeface="Work Sans"/>
                        </a:rPr>
                        <a:t>Zoho Inventory</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i="0" lang="en-US" sz="1125" u="none" cap="none" strike="noStrike">
                          <a:solidFill>
                            <a:srgbClr val="475569"/>
                          </a:solidFill>
                          <a:latin typeface="Work Sans"/>
                          <a:ea typeface="Work Sans"/>
                          <a:cs typeface="Work Sans"/>
                          <a:sym typeface="Work Sans"/>
                        </a:rPr>
                        <a:t>Gestión multialmacén y órdenes de compra.</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i="0" lang="en-US" sz="1125" u="none" cap="none" strike="noStrike">
                          <a:solidFill>
                            <a:srgbClr val="0F172A"/>
                          </a:solidFill>
                          <a:latin typeface="Work Sans"/>
                          <a:ea typeface="Work Sans"/>
                          <a:cs typeface="Work Sans"/>
                          <a:sym typeface="Work Sans"/>
                        </a:rPr>
                        <a:t>Sistema de alertas por umbral.</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i="0" lang="en-US" sz="1125" u="none" cap="none" strike="noStrike">
                          <a:solidFill>
                            <a:srgbClr val="EF4444"/>
                          </a:solidFill>
                          <a:latin typeface="Work Sans"/>
                          <a:ea typeface="Work Sans"/>
                          <a:cs typeface="Work Sans"/>
                          <a:sym typeface="Work Sans"/>
                        </a:rPr>
                        <a:t>Diseño complejo y genérico.</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r h="408350">
                <a:tc>
                  <a:txBody>
                    <a:bodyPr/>
                    <a:lstStyle/>
                    <a:p>
                      <a:pPr indent="0" lvl="0" marL="0" marR="0" rtl="0" algn="l">
                        <a:spcBef>
                          <a:spcPts val="0"/>
                        </a:spcBef>
                        <a:spcAft>
                          <a:spcPts val="0"/>
                        </a:spcAft>
                        <a:buNone/>
                      </a:pPr>
                      <a:r>
                        <a:rPr b="1" lang="en-US" sz="1200">
                          <a:solidFill>
                            <a:srgbClr val="0F172A"/>
                          </a:solidFill>
                          <a:latin typeface="Work Sans"/>
                          <a:ea typeface="Work Sans"/>
                          <a:cs typeface="Work Sans"/>
                          <a:sym typeface="Work Sans"/>
                        </a:rPr>
                        <a:t>inFlow Inventory </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en-US" sz="1125">
                          <a:solidFill>
                            <a:srgbClr val="475569"/>
                          </a:solidFill>
                          <a:latin typeface="Work Sans"/>
                          <a:ea typeface="Work Sans"/>
                          <a:cs typeface="Work Sans"/>
                          <a:sym typeface="Work Sans"/>
                        </a:rPr>
                        <a:t>Gestión de stock en varias ubicaciones. </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en-US" sz="1125">
                          <a:solidFill>
                            <a:srgbClr val="0F172A"/>
                          </a:solidFill>
                          <a:latin typeface="Work Sans"/>
                          <a:ea typeface="Work Sans"/>
                          <a:cs typeface="Work Sans"/>
                          <a:sym typeface="Work Sans"/>
                        </a:rPr>
                        <a:t>Permisos por rol de usuario. </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en-US" sz="1125">
                          <a:solidFill>
                            <a:srgbClr val="EF4444"/>
                          </a:solidFill>
                          <a:latin typeface="Work Sans"/>
                          <a:ea typeface="Work Sans"/>
                          <a:cs typeface="Work Sans"/>
                          <a:sym typeface="Work Sans"/>
                        </a:rPr>
                        <a:t>Pensado para 1 sola empresa.</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r h="408350">
                <a:tc>
                  <a:txBody>
                    <a:bodyPr/>
                    <a:lstStyle/>
                    <a:p>
                      <a:pPr indent="0" lvl="0" marL="0" marR="0" rtl="0" algn="l">
                        <a:spcBef>
                          <a:spcPts val="0"/>
                        </a:spcBef>
                        <a:spcAft>
                          <a:spcPts val="0"/>
                        </a:spcAft>
                        <a:buNone/>
                      </a:pPr>
                      <a:r>
                        <a:rPr b="1" i="0" lang="en-US" sz="1200" u="none" cap="none" strike="noStrike">
                          <a:solidFill>
                            <a:srgbClr val="0F172A"/>
                          </a:solidFill>
                          <a:latin typeface="Work Sans"/>
                          <a:ea typeface="Work Sans"/>
                          <a:cs typeface="Work Sans"/>
                          <a:sym typeface="Work Sans"/>
                        </a:rPr>
                        <a:t>StockLink (Propuesta)</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EFF6FF"/>
                    </a:solidFill>
                  </a:tcPr>
                </a:tc>
                <a:tc>
                  <a:txBody>
                    <a:bodyPr/>
                    <a:lstStyle/>
                    <a:p>
                      <a:pPr indent="0" lvl="0" marL="0" marR="0" rtl="0" algn="l">
                        <a:spcBef>
                          <a:spcPts val="0"/>
                        </a:spcBef>
                        <a:spcAft>
                          <a:spcPts val="0"/>
                        </a:spcAft>
                        <a:buNone/>
                      </a:pPr>
                      <a:r>
                        <a:rPr b="1" i="0" lang="en-US" sz="1125" u="none" cap="none" strike="noStrike">
                          <a:solidFill>
                            <a:srgbClr val="0F172A"/>
                          </a:solidFill>
                          <a:latin typeface="Work Sans"/>
                          <a:ea typeface="Work Sans"/>
                          <a:cs typeface="Work Sans"/>
                          <a:sym typeface="Work Sans"/>
                        </a:rPr>
                        <a:t>Gestión multiempresa real en 1 sesión.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EFF6FF"/>
                    </a:solidFill>
                  </a:tcPr>
                </a:tc>
                <a:tc>
                  <a:txBody>
                    <a:bodyPr/>
                    <a:lstStyle/>
                    <a:p>
                      <a:pPr indent="0" lvl="0" marL="0" marR="0" rtl="0" algn="l">
                        <a:spcBef>
                          <a:spcPts val="0"/>
                        </a:spcBef>
                        <a:spcAft>
                          <a:spcPts val="0"/>
                        </a:spcAft>
                        <a:buNone/>
                      </a:pPr>
                      <a:r>
                        <a:rPr b="1" i="0" lang="en-US" sz="1125" u="none" cap="none" strike="noStrike">
                          <a:solidFill>
                            <a:srgbClr val="0F172A"/>
                          </a:solidFill>
                          <a:latin typeface="Work Sans"/>
                          <a:ea typeface="Work Sans"/>
                          <a:cs typeface="Work Sans"/>
                          <a:sym typeface="Work Sans"/>
                        </a:rPr>
                        <a:t>Interfaz ultrasimple sin formación.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EFF6FF"/>
                    </a:solidFill>
                  </a:tcPr>
                </a:tc>
                <a:tc>
                  <a:txBody>
                    <a:bodyPr/>
                    <a:lstStyle/>
                    <a:p>
                      <a:pPr indent="0" lvl="0" marL="0" marR="0" rtl="0" algn="l">
                        <a:spcBef>
                          <a:spcPts val="0"/>
                        </a:spcBef>
                        <a:spcAft>
                          <a:spcPts val="0"/>
                        </a:spcAft>
                        <a:buNone/>
                      </a:pPr>
                      <a:r>
                        <a:rPr b="1" i="0" lang="en-US" sz="1125" u="none" cap="none" strike="noStrike">
                          <a:solidFill>
                            <a:srgbClr val="0F172A"/>
                          </a:solidFill>
                          <a:latin typeface="Work Sans"/>
                          <a:ea typeface="Work Sans"/>
                          <a:cs typeface="Work Sans"/>
                          <a:sym typeface="Work Sans"/>
                        </a:rPr>
                        <a:t>Optimizado para PYMEs.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EFF6FF"/>
                    </a:solidFill>
                  </a:tcPr>
                </a:tc>
              </a:tr>
            </a:tbl>
          </a:graphicData>
        </a:graphic>
      </p:graphicFrame>
      <p:sp>
        <p:nvSpPr>
          <p:cNvPr id="143" name="Google Shape;143;p17"/>
          <p:cNvSpPr txBox="1"/>
          <p:nvPr/>
        </p:nvSpPr>
        <p:spPr>
          <a:xfrm>
            <a:off x="609600" y="457200"/>
            <a:ext cx="11582400" cy="171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2F91F9"/>
                </a:solidFill>
                <a:latin typeface="JetBrains Mono"/>
                <a:ea typeface="JetBrains Mono"/>
                <a:cs typeface="JetBrains Mono"/>
                <a:sym typeface="JetBrains Mono"/>
              </a:rPr>
              <a:t>1. ANÁLISIS INICIAL</a:t>
            </a:r>
            <a:endParaRPr/>
          </a:p>
        </p:txBody>
      </p:sp>
      <p:sp>
        <p:nvSpPr>
          <p:cNvPr id="144" name="Google Shape;144;p17"/>
          <p:cNvSpPr txBox="1"/>
          <p:nvPr/>
        </p:nvSpPr>
        <p:spPr>
          <a:xfrm>
            <a:off x="609600" y="704850"/>
            <a:ext cx="11582400" cy="362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400" u="none" cap="none" strike="noStrike">
                <a:solidFill>
                  <a:srgbClr val="0F172A"/>
                </a:solidFill>
                <a:latin typeface="Work Sans"/>
                <a:ea typeface="Work Sans"/>
                <a:cs typeface="Work Sans"/>
                <a:sym typeface="Work Sans"/>
              </a:rPr>
              <a:t>Benchmarking: Análisis de Referencias</a:t>
            </a:r>
            <a:endParaRPr/>
          </a:p>
        </p:txBody>
      </p:sp>
      <p:sp>
        <p:nvSpPr>
          <p:cNvPr id="145" name="Google Shape;145;p17"/>
          <p:cNvSpPr txBox="1"/>
          <p:nvPr/>
        </p:nvSpPr>
        <p:spPr>
          <a:xfrm>
            <a:off x="1827050" y="1290500"/>
            <a:ext cx="8900400" cy="3347700"/>
          </a:xfrm>
          <a:prstGeom prst="rect">
            <a:avLst/>
          </a:prstGeom>
          <a:noFill/>
          <a:ln>
            <a:noFill/>
          </a:ln>
        </p:spPr>
        <p:txBody>
          <a:bodyPr anchorCtr="0" anchor="t" bIns="0" lIns="0" spcFirstLastPara="1" rIns="0" wrap="square" tIns="0">
            <a:spAutoFit/>
          </a:bodyPr>
          <a:lstStyle/>
          <a:p>
            <a:pPr indent="0" lvl="0" marL="0" marR="0" rtl="0" algn="just">
              <a:spcBef>
                <a:spcPts val="0"/>
              </a:spcBef>
              <a:spcAft>
                <a:spcPts val="0"/>
              </a:spcAft>
              <a:buNone/>
            </a:pPr>
            <a:r>
              <a:rPr lang="en-US" sz="1200">
                <a:solidFill>
                  <a:srgbClr val="475569"/>
                </a:solidFill>
                <a:latin typeface="Work Sans"/>
                <a:ea typeface="Work Sans"/>
                <a:cs typeface="Work Sans"/>
                <a:sym typeface="Work Sans"/>
              </a:rPr>
              <a:t>Para definir StockLink hemos realizado un pequeño benchmarking, comparándolo con soluciones que ya existen en el mercado, como Zoho Inventory e inFlow Inventory. </a:t>
            </a:r>
            <a:endParaRPr sz="1200">
              <a:solidFill>
                <a:srgbClr val="475569"/>
              </a:solidFill>
              <a:latin typeface="Work Sans"/>
              <a:ea typeface="Work Sans"/>
              <a:cs typeface="Work Sans"/>
              <a:sym typeface="Work Sans"/>
            </a:endParaRPr>
          </a:p>
          <a:p>
            <a:pPr indent="0" lvl="0" marL="0" marR="0" rtl="0" algn="just">
              <a:spcBef>
                <a:spcPts val="0"/>
              </a:spcBef>
              <a:spcAft>
                <a:spcPts val="0"/>
              </a:spcAft>
              <a:buNone/>
            </a:pPr>
            <a:r>
              <a:t/>
            </a:r>
            <a:endParaRPr sz="1200">
              <a:solidFill>
                <a:srgbClr val="475569"/>
              </a:solidFill>
              <a:latin typeface="Work Sans"/>
              <a:ea typeface="Work Sans"/>
              <a:cs typeface="Work Sans"/>
              <a:sym typeface="Work Sans"/>
            </a:endParaRPr>
          </a:p>
          <a:p>
            <a:pPr indent="0" lvl="0" marL="0" marR="0" rtl="0" algn="just">
              <a:spcBef>
                <a:spcPts val="0"/>
              </a:spcBef>
              <a:spcAft>
                <a:spcPts val="0"/>
              </a:spcAft>
              <a:buNone/>
            </a:pPr>
            <a:r>
              <a:rPr lang="en-US" sz="1200">
                <a:solidFill>
                  <a:srgbClr val="475569"/>
                </a:solidFill>
                <a:latin typeface="Work Sans"/>
                <a:ea typeface="Work Sans"/>
                <a:cs typeface="Work Sans"/>
                <a:sym typeface="Work Sans"/>
              </a:rPr>
              <a:t>De Zoho Inventory nos interesó especialmente su sistema de alertas cuando el stock llega a un determinado nivel. Sin embargo, vimos que puede resultar una herramienta bastante compleja para usuarios que no tienen mucha experiencia. </a:t>
            </a:r>
            <a:endParaRPr sz="1200">
              <a:solidFill>
                <a:srgbClr val="475569"/>
              </a:solidFill>
              <a:latin typeface="Work Sans"/>
              <a:ea typeface="Work Sans"/>
              <a:cs typeface="Work Sans"/>
              <a:sym typeface="Work Sans"/>
            </a:endParaRPr>
          </a:p>
          <a:p>
            <a:pPr indent="0" lvl="0" marL="0" marR="0" rtl="0" algn="just">
              <a:spcBef>
                <a:spcPts val="0"/>
              </a:spcBef>
              <a:spcAft>
                <a:spcPts val="0"/>
              </a:spcAft>
              <a:buNone/>
            </a:pPr>
            <a:r>
              <a:t/>
            </a:r>
            <a:endParaRPr sz="1200">
              <a:solidFill>
                <a:srgbClr val="475569"/>
              </a:solidFill>
              <a:latin typeface="Work Sans"/>
              <a:ea typeface="Work Sans"/>
              <a:cs typeface="Work Sans"/>
              <a:sym typeface="Work Sans"/>
            </a:endParaRPr>
          </a:p>
          <a:p>
            <a:pPr indent="0" lvl="0" marL="0" marR="0" rtl="0" algn="just">
              <a:spcBef>
                <a:spcPts val="0"/>
              </a:spcBef>
              <a:spcAft>
                <a:spcPts val="0"/>
              </a:spcAft>
              <a:buNone/>
            </a:pPr>
            <a:r>
              <a:rPr lang="en-US" sz="1200">
                <a:solidFill>
                  <a:srgbClr val="475569"/>
                </a:solidFill>
                <a:latin typeface="Work Sans"/>
                <a:ea typeface="Work Sans"/>
                <a:cs typeface="Work Sans"/>
                <a:sym typeface="Work Sans"/>
              </a:rPr>
              <a:t>De inFlow Inventory nos interesó su gestión de stock en varias ubicaciones y sus permisos según el rol de cada usuario. En este caso, hemos detectado que, igual que Zoho, está pensada para gestionar una sola empresa con varios almacenes, no varias empresas distintas desde la misma cuenta </a:t>
            </a:r>
            <a:endParaRPr sz="1200">
              <a:solidFill>
                <a:srgbClr val="475569"/>
              </a:solidFill>
              <a:latin typeface="Work Sans"/>
              <a:ea typeface="Work Sans"/>
              <a:cs typeface="Work Sans"/>
              <a:sym typeface="Work Sans"/>
            </a:endParaRPr>
          </a:p>
          <a:p>
            <a:pPr indent="0" lvl="0" marL="0" marR="0" rtl="0" algn="just">
              <a:spcBef>
                <a:spcPts val="0"/>
              </a:spcBef>
              <a:spcAft>
                <a:spcPts val="0"/>
              </a:spcAft>
              <a:buNone/>
            </a:pPr>
            <a:r>
              <a:t/>
            </a:r>
            <a:endParaRPr sz="1200">
              <a:solidFill>
                <a:srgbClr val="475569"/>
              </a:solidFill>
              <a:latin typeface="Work Sans"/>
              <a:ea typeface="Work Sans"/>
              <a:cs typeface="Work Sans"/>
              <a:sym typeface="Work Sans"/>
            </a:endParaRPr>
          </a:p>
          <a:p>
            <a:pPr indent="0" lvl="0" marL="0" marR="0" rtl="0" algn="just">
              <a:spcBef>
                <a:spcPts val="0"/>
              </a:spcBef>
              <a:spcAft>
                <a:spcPts val="0"/>
              </a:spcAft>
              <a:buNone/>
            </a:pPr>
            <a:r>
              <a:rPr lang="en-US" sz="1200">
                <a:solidFill>
                  <a:srgbClr val="475569"/>
                </a:solidFill>
                <a:latin typeface="Work Sans"/>
                <a:ea typeface="Work Sans"/>
                <a:cs typeface="Work Sans"/>
                <a:sym typeface="Work Sans"/>
              </a:rPr>
              <a:t>A partir de este análisis decidimos orientar StockLink a un problema concreto: poder gestionar varias empresas o locales desde una misma sesión y hacerlo mediante una interfaz sencilla, pensada especialmente para PYMEs.</a:t>
            </a:r>
            <a:endParaRPr sz="1200">
              <a:solidFill>
                <a:srgbClr val="475569"/>
              </a:solidFill>
              <a:latin typeface="Work Sans"/>
              <a:ea typeface="Work Sans"/>
              <a:cs typeface="Work Sans"/>
              <a:sym typeface="Work Sans"/>
            </a:endParaRPr>
          </a:p>
          <a:p>
            <a:pPr indent="0" lvl="0" marL="0" marR="0" rtl="0" algn="just">
              <a:spcBef>
                <a:spcPts val="0"/>
              </a:spcBef>
              <a:spcAft>
                <a:spcPts val="0"/>
              </a:spcAft>
              <a:buNone/>
            </a:pPr>
            <a:r>
              <a:t/>
            </a:r>
            <a:endParaRPr sz="1200">
              <a:solidFill>
                <a:srgbClr val="475569"/>
              </a:solidFill>
              <a:latin typeface="Work Sans"/>
              <a:ea typeface="Work Sans"/>
              <a:cs typeface="Work Sans"/>
              <a:sym typeface="Work Sans"/>
            </a:endParaRPr>
          </a:p>
          <a:p>
            <a:pPr indent="0" lvl="0" marL="0" marR="0" rtl="0" algn="just">
              <a:spcBef>
                <a:spcPts val="0"/>
              </a:spcBef>
              <a:spcAft>
                <a:spcPts val="0"/>
              </a:spcAft>
              <a:buNone/>
            </a:pPr>
            <a:r>
              <a:rPr b="1" lang="en-US" sz="1350">
                <a:solidFill>
                  <a:srgbClr val="0F172A"/>
                </a:solidFill>
                <a:latin typeface="Work Sans"/>
                <a:ea typeface="Work Sans"/>
                <a:cs typeface="Work Sans"/>
                <a:sym typeface="Work Sans"/>
              </a:rPr>
              <a:t>¿Qué aporta StockLink?</a:t>
            </a:r>
            <a:endParaRPr sz="1200">
              <a:solidFill>
                <a:srgbClr val="475569"/>
              </a:solidFill>
              <a:latin typeface="Work Sans"/>
              <a:ea typeface="Work Sans"/>
              <a:cs typeface="Work Sans"/>
              <a:sym typeface="Work Sans"/>
            </a:endParaRPr>
          </a:p>
          <a:p>
            <a:pPr indent="0" lvl="0" marL="0" marR="0" rtl="0" algn="just">
              <a:spcBef>
                <a:spcPts val="0"/>
              </a:spcBef>
              <a:spcAft>
                <a:spcPts val="0"/>
              </a:spcAft>
              <a:buNone/>
            </a:pPr>
            <a:r>
              <a:t/>
            </a:r>
            <a:endParaRPr sz="1200">
              <a:solidFill>
                <a:srgbClr val="475569"/>
              </a:solidFill>
              <a:latin typeface="Work Sans"/>
              <a:ea typeface="Work Sans"/>
              <a:cs typeface="Work Sans"/>
              <a:sym typeface="Work Sans"/>
            </a:endParaRPr>
          </a:p>
          <a:p>
            <a:pPr indent="0" lvl="0" marL="0" marR="0" rtl="0" algn="just">
              <a:spcBef>
                <a:spcPts val="0"/>
              </a:spcBef>
              <a:spcAft>
                <a:spcPts val="0"/>
              </a:spcAft>
              <a:buNone/>
            </a:pPr>
            <a:r>
              <a:rPr lang="en-US" sz="1200">
                <a:solidFill>
                  <a:srgbClr val="475569"/>
                </a:solidFill>
                <a:latin typeface="Work Sans"/>
                <a:ea typeface="Work Sans"/>
                <a:cs typeface="Work Sans"/>
                <a:sym typeface="Work Sans"/>
              </a:rPr>
              <a:t>La principal diferencia es que queremos combinar la gestión multiempresa en una única sesión con una interfaz muy sencilla, pensada para usuarios con poca experiencia tecnológica. </a:t>
            </a:r>
            <a:endParaRPr sz="1200">
              <a:solidFill>
                <a:srgbClr val="475569"/>
              </a:solidFill>
              <a:latin typeface="Work Sans"/>
              <a:ea typeface="Work Sans"/>
              <a:cs typeface="Work Sans"/>
              <a:sym typeface="Work Sans"/>
            </a:endParaRPr>
          </a:p>
        </p:txBody>
      </p:sp>
      <p:sp>
        <p:nvSpPr>
          <p:cNvPr id="146" name="Google Shape;146;p17"/>
          <p:cNvSpPr/>
          <p:nvPr/>
        </p:nvSpPr>
        <p:spPr>
          <a:xfrm flipH="1">
            <a:off x="1518975" y="1388750"/>
            <a:ext cx="12000" cy="3151200"/>
          </a:xfrm>
          <a:prstGeom prst="rect">
            <a:avLst/>
          </a:prstGeom>
          <a:solidFill>
            <a:srgbClr val="2F91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50" name="Shape 150"/>
        <p:cNvGrpSpPr/>
        <p:nvPr/>
      </p:nvGrpSpPr>
      <p:grpSpPr>
        <a:xfrm>
          <a:off x="0" y="0"/>
          <a:ext cx="0" cy="0"/>
          <a:chOff x="0" y="0"/>
          <a:chExt cx="0" cy="0"/>
        </a:xfrm>
      </p:grpSpPr>
      <p:sp>
        <p:nvSpPr>
          <p:cNvPr id="151" name="Google Shape;151;p18"/>
          <p:cNvSpPr/>
          <p:nvPr/>
        </p:nvSpPr>
        <p:spPr>
          <a:xfrm>
            <a:off x="609600" y="2895600"/>
            <a:ext cx="5353200" cy="19812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2" name="Google Shape;152;p18"/>
          <p:cNvSpPr/>
          <p:nvPr/>
        </p:nvSpPr>
        <p:spPr>
          <a:xfrm>
            <a:off x="6229350" y="2895600"/>
            <a:ext cx="5353200" cy="19812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3" name="Google Shape;153;p18"/>
          <p:cNvSpPr/>
          <p:nvPr/>
        </p:nvSpPr>
        <p:spPr>
          <a:xfrm>
            <a:off x="609600" y="2895600"/>
            <a:ext cx="38100" cy="1981200"/>
          </a:xfrm>
          <a:prstGeom prst="rect">
            <a:avLst/>
          </a:prstGeom>
          <a:solidFill>
            <a:srgbClr val="2F91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4" name="Google Shape;154;p18"/>
          <p:cNvSpPr/>
          <p:nvPr/>
        </p:nvSpPr>
        <p:spPr>
          <a:xfrm>
            <a:off x="6229350" y="2895600"/>
            <a:ext cx="38100" cy="1981200"/>
          </a:xfrm>
          <a:prstGeom prst="rect">
            <a:avLst/>
          </a:prstGeom>
          <a:solidFill>
            <a:srgbClr val="0F17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5" name="Google Shape;155;p18"/>
          <p:cNvSpPr txBox="1"/>
          <p:nvPr/>
        </p:nvSpPr>
        <p:spPr>
          <a:xfrm>
            <a:off x="609600" y="457200"/>
            <a:ext cx="11582400" cy="171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2F91F9"/>
                </a:solidFill>
                <a:latin typeface="JetBrains Mono"/>
                <a:ea typeface="JetBrains Mono"/>
                <a:cs typeface="JetBrains Mono"/>
                <a:sym typeface="JetBrains Mono"/>
              </a:rPr>
              <a:t>2. PLAN DE DISEÑO</a:t>
            </a:r>
            <a:endParaRPr/>
          </a:p>
        </p:txBody>
      </p:sp>
      <p:sp>
        <p:nvSpPr>
          <p:cNvPr id="156" name="Google Shape;156;p18"/>
          <p:cNvSpPr txBox="1"/>
          <p:nvPr/>
        </p:nvSpPr>
        <p:spPr>
          <a:xfrm>
            <a:off x="609600" y="704850"/>
            <a:ext cx="11582400" cy="3619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400" u="none" cap="none" strike="noStrike">
                <a:solidFill>
                  <a:srgbClr val="0F172A"/>
                </a:solidFill>
                <a:latin typeface="Work Sans"/>
                <a:ea typeface="Work Sans"/>
                <a:cs typeface="Work Sans"/>
                <a:sym typeface="Work Sans"/>
              </a:rPr>
              <a:t>Requerimientos Funcionales y Estéticos</a:t>
            </a:r>
            <a:endParaRPr/>
          </a:p>
        </p:txBody>
      </p:sp>
      <p:sp>
        <p:nvSpPr>
          <p:cNvPr id="157" name="Google Shape;157;p18"/>
          <p:cNvSpPr txBox="1"/>
          <p:nvPr/>
        </p:nvSpPr>
        <p:spPr>
          <a:xfrm>
            <a:off x="914400" y="3162300"/>
            <a:ext cx="6275784" cy="22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0F172A"/>
                </a:solidFill>
                <a:latin typeface="Work Sans"/>
                <a:ea typeface="Work Sans"/>
                <a:cs typeface="Work Sans"/>
                <a:sym typeface="Work Sans"/>
              </a:rPr>
              <a:t>Requerimientos Funcionales</a:t>
            </a:r>
            <a:endParaRPr/>
          </a:p>
        </p:txBody>
      </p:sp>
      <p:sp>
        <p:nvSpPr>
          <p:cNvPr id="158" name="Google Shape;158;p18"/>
          <p:cNvSpPr txBox="1"/>
          <p:nvPr/>
        </p:nvSpPr>
        <p:spPr>
          <a:xfrm>
            <a:off x="6534150" y="3162300"/>
            <a:ext cx="5657850" cy="22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0F172A"/>
                </a:solidFill>
                <a:latin typeface="Work Sans"/>
                <a:ea typeface="Work Sans"/>
                <a:cs typeface="Work Sans"/>
                <a:sym typeface="Work Sans"/>
              </a:rPr>
              <a:t>Requerimientos Estéticos</a:t>
            </a:r>
            <a:endParaRPr/>
          </a:p>
        </p:txBody>
      </p:sp>
      <p:sp>
        <p:nvSpPr>
          <p:cNvPr id="159" name="Google Shape;159;p18"/>
          <p:cNvSpPr txBox="1"/>
          <p:nvPr/>
        </p:nvSpPr>
        <p:spPr>
          <a:xfrm>
            <a:off x="914400" y="3543300"/>
            <a:ext cx="5976937" cy="1809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475569"/>
                </a:solidFill>
                <a:latin typeface="Work Sans"/>
                <a:ea typeface="Work Sans"/>
                <a:cs typeface="Work Sans"/>
                <a:sym typeface="Work Sans"/>
              </a:rPr>
              <a:t>RF-01:</a:t>
            </a:r>
            <a:r>
              <a:rPr b="0" i="0" lang="en-US" sz="1200" u="none" cap="none" strike="noStrike">
                <a:solidFill>
                  <a:srgbClr val="475569"/>
                </a:solidFill>
                <a:latin typeface="Work Sans"/>
                <a:ea typeface="Work Sans"/>
                <a:cs typeface="Work Sans"/>
                <a:sym typeface="Work Sans"/>
              </a:rPr>
              <a:t> Registro multiempresa y usuarios.</a:t>
            </a:r>
            <a:endParaRPr/>
          </a:p>
        </p:txBody>
      </p:sp>
      <p:sp>
        <p:nvSpPr>
          <p:cNvPr id="160" name="Google Shape;160;p18"/>
          <p:cNvSpPr txBox="1"/>
          <p:nvPr/>
        </p:nvSpPr>
        <p:spPr>
          <a:xfrm>
            <a:off x="914400" y="3838575"/>
            <a:ext cx="5976937" cy="1809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475569"/>
                </a:solidFill>
                <a:latin typeface="Work Sans"/>
                <a:ea typeface="Work Sans"/>
                <a:cs typeface="Work Sans"/>
                <a:sym typeface="Work Sans"/>
              </a:rPr>
              <a:t>RF-02:</a:t>
            </a:r>
            <a:r>
              <a:rPr b="0" i="0" lang="en-US" sz="1200" u="none" cap="none" strike="noStrike">
                <a:solidFill>
                  <a:srgbClr val="475569"/>
                </a:solidFill>
                <a:latin typeface="Work Sans"/>
                <a:ea typeface="Work Sans"/>
                <a:cs typeface="Work Sans"/>
                <a:sym typeface="Work Sans"/>
              </a:rPr>
              <a:t> Alta, edición y bajas de productos.</a:t>
            </a:r>
            <a:endParaRPr/>
          </a:p>
        </p:txBody>
      </p:sp>
      <p:sp>
        <p:nvSpPr>
          <p:cNvPr id="161" name="Google Shape;161;p18"/>
          <p:cNvSpPr txBox="1"/>
          <p:nvPr/>
        </p:nvSpPr>
        <p:spPr>
          <a:xfrm>
            <a:off x="914400" y="4133850"/>
            <a:ext cx="5976937" cy="1809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475569"/>
                </a:solidFill>
                <a:latin typeface="Work Sans"/>
                <a:ea typeface="Work Sans"/>
                <a:cs typeface="Work Sans"/>
                <a:sym typeface="Work Sans"/>
              </a:rPr>
              <a:t>RF-03:</a:t>
            </a:r>
            <a:r>
              <a:rPr b="0" i="0" lang="en-US" sz="1200" u="none" cap="none" strike="noStrike">
                <a:solidFill>
                  <a:srgbClr val="475569"/>
                </a:solidFill>
                <a:latin typeface="Work Sans"/>
                <a:ea typeface="Work Sans"/>
                <a:cs typeface="Work Sans"/>
                <a:sym typeface="Work Sans"/>
              </a:rPr>
              <a:t> Control de stock y movimientos.</a:t>
            </a:r>
            <a:endParaRPr/>
          </a:p>
        </p:txBody>
      </p:sp>
      <p:sp>
        <p:nvSpPr>
          <p:cNvPr id="162" name="Google Shape;162;p18"/>
          <p:cNvSpPr txBox="1"/>
          <p:nvPr/>
        </p:nvSpPr>
        <p:spPr>
          <a:xfrm>
            <a:off x="914400" y="4429125"/>
            <a:ext cx="5976937" cy="1809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475569"/>
                </a:solidFill>
                <a:latin typeface="Work Sans"/>
                <a:ea typeface="Work Sans"/>
                <a:cs typeface="Work Sans"/>
                <a:sym typeface="Work Sans"/>
              </a:rPr>
              <a:t>RF-04:</a:t>
            </a:r>
            <a:r>
              <a:rPr b="0" i="0" lang="en-US" sz="1200" u="none" cap="none" strike="noStrike">
                <a:solidFill>
                  <a:srgbClr val="475569"/>
                </a:solidFill>
                <a:latin typeface="Work Sans"/>
                <a:ea typeface="Work Sans"/>
                <a:cs typeface="Work Sans"/>
                <a:sym typeface="Work Sans"/>
              </a:rPr>
              <a:t> Alertas automáticas de stock mínimo.</a:t>
            </a:r>
            <a:endParaRPr/>
          </a:p>
        </p:txBody>
      </p:sp>
      <p:sp>
        <p:nvSpPr>
          <p:cNvPr id="163" name="Google Shape;163;p18"/>
          <p:cNvSpPr txBox="1"/>
          <p:nvPr/>
        </p:nvSpPr>
        <p:spPr>
          <a:xfrm>
            <a:off x="6534150" y="3543300"/>
            <a:ext cx="5657850" cy="1809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475569"/>
                </a:solidFill>
                <a:latin typeface="Work Sans"/>
                <a:ea typeface="Work Sans"/>
                <a:cs typeface="Work Sans"/>
                <a:sym typeface="Work Sans"/>
              </a:rPr>
              <a:t>Soporte de Temas:</a:t>
            </a:r>
            <a:r>
              <a:rPr b="0" i="0" lang="en-US" sz="1200" u="none" cap="none" strike="noStrike">
                <a:solidFill>
                  <a:srgbClr val="475569"/>
                </a:solidFill>
                <a:latin typeface="Work Sans"/>
                <a:ea typeface="Work Sans"/>
                <a:cs typeface="Work Sans"/>
                <a:sym typeface="Work Sans"/>
              </a:rPr>
              <a:t> Modo oscuro y claro.</a:t>
            </a:r>
            <a:endParaRPr/>
          </a:p>
        </p:txBody>
      </p:sp>
      <p:sp>
        <p:nvSpPr>
          <p:cNvPr id="164" name="Google Shape;164;p18"/>
          <p:cNvSpPr txBox="1"/>
          <p:nvPr/>
        </p:nvSpPr>
        <p:spPr>
          <a:xfrm>
            <a:off x="6534150" y="3838575"/>
            <a:ext cx="5657850" cy="1809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475569"/>
                </a:solidFill>
                <a:latin typeface="Work Sans"/>
                <a:ea typeface="Work Sans"/>
                <a:cs typeface="Work Sans"/>
                <a:sym typeface="Work Sans"/>
              </a:rPr>
              <a:t>Jerarquía Clara:</a:t>
            </a:r>
            <a:r>
              <a:rPr b="0" i="0" lang="en-US" sz="1200" u="none" cap="none" strike="noStrike">
                <a:solidFill>
                  <a:srgbClr val="475569"/>
                </a:solidFill>
                <a:latin typeface="Work Sans"/>
                <a:ea typeface="Work Sans"/>
                <a:cs typeface="Work Sans"/>
                <a:sym typeface="Work Sans"/>
              </a:rPr>
              <a:t> Tipografía funcional.</a:t>
            </a:r>
            <a:endParaRPr/>
          </a:p>
        </p:txBody>
      </p:sp>
      <p:sp>
        <p:nvSpPr>
          <p:cNvPr id="165" name="Google Shape;165;p18"/>
          <p:cNvSpPr txBox="1"/>
          <p:nvPr/>
        </p:nvSpPr>
        <p:spPr>
          <a:xfrm>
            <a:off x="6534150" y="4133850"/>
            <a:ext cx="5657850" cy="1809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475569"/>
                </a:solidFill>
                <a:latin typeface="Work Sans"/>
                <a:ea typeface="Work Sans"/>
                <a:cs typeface="Work Sans"/>
                <a:sym typeface="Work Sans"/>
              </a:rPr>
              <a:t>Uso del Color:</a:t>
            </a:r>
            <a:r>
              <a:rPr b="0" i="0" lang="en-US" sz="1200" u="none" cap="none" strike="noStrike">
                <a:solidFill>
                  <a:srgbClr val="475569"/>
                </a:solidFill>
                <a:latin typeface="Work Sans"/>
                <a:ea typeface="Work Sans"/>
                <a:cs typeface="Work Sans"/>
                <a:sym typeface="Work Sans"/>
              </a:rPr>
              <a:t> Colores semánticos aislados.</a:t>
            </a:r>
            <a:endParaRPr/>
          </a:p>
        </p:txBody>
      </p:sp>
      <p:sp>
        <p:nvSpPr>
          <p:cNvPr id="166" name="Google Shape;166;p18"/>
          <p:cNvSpPr txBox="1"/>
          <p:nvPr/>
        </p:nvSpPr>
        <p:spPr>
          <a:xfrm>
            <a:off x="6534150" y="4429125"/>
            <a:ext cx="5657850" cy="1809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475569"/>
                </a:solidFill>
                <a:latin typeface="Work Sans"/>
                <a:ea typeface="Work Sans"/>
                <a:cs typeface="Work Sans"/>
                <a:sym typeface="Work Sans"/>
              </a:rPr>
              <a:t>Diseño Limpio:</a:t>
            </a:r>
            <a:r>
              <a:rPr b="0" i="0" lang="en-US" sz="1200" u="none" cap="none" strike="noStrike">
                <a:solidFill>
                  <a:srgbClr val="475569"/>
                </a:solidFill>
                <a:latin typeface="Work Sans"/>
                <a:ea typeface="Work Sans"/>
                <a:cs typeface="Work Sans"/>
                <a:sym typeface="Work Sans"/>
              </a:rPr>
              <a:t> Aspecto profesional y moderno.</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70" name="Shape 170"/>
        <p:cNvGrpSpPr/>
        <p:nvPr/>
      </p:nvGrpSpPr>
      <p:grpSpPr>
        <a:xfrm>
          <a:off x="0" y="0"/>
          <a:ext cx="0" cy="0"/>
          <a:chOff x="0" y="0"/>
          <a:chExt cx="0" cy="0"/>
        </a:xfrm>
      </p:grpSpPr>
      <p:sp>
        <p:nvSpPr>
          <p:cNvPr id="171" name="Google Shape;171;p19"/>
          <p:cNvSpPr/>
          <p:nvPr/>
        </p:nvSpPr>
        <p:spPr>
          <a:xfrm>
            <a:off x="516850" y="2976550"/>
            <a:ext cx="3690900" cy="1819200"/>
          </a:xfrm>
          <a:prstGeom prst="roundRect">
            <a:avLst>
              <a:gd fmla="val 6282" name="adj"/>
            </a:avLst>
          </a:prstGeom>
          <a:solidFill>
            <a:srgbClr val="FFFFFF"/>
          </a:solidFill>
          <a:ln cap="flat" cmpd="sng" w="952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2" name="Google Shape;172;p19"/>
          <p:cNvSpPr/>
          <p:nvPr/>
        </p:nvSpPr>
        <p:spPr>
          <a:xfrm>
            <a:off x="4299950" y="2976550"/>
            <a:ext cx="3641700" cy="1819200"/>
          </a:xfrm>
          <a:prstGeom prst="roundRect">
            <a:avLst>
              <a:gd fmla="val 6282" name="adj"/>
            </a:avLst>
          </a:prstGeom>
          <a:solidFill>
            <a:srgbClr val="FFFFFF"/>
          </a:solidFill>
          <a:ln cap="flat" cmpd="sng" w="952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3" name="Google Shape;173;p19"/>
          <p:cNvSpPr/>
          <p:nvPr/>
        </p:nvSpPr>
        <p:spPr>
          <a:xfrm>
            <a:off x="8077200" y="2976562"/>
            <a:ext cx="3505200" cy="1819275"/>
          </a:xfrm>
          <a:prstGeom prst="roundRect">
            <a:avLst>
              <a:gd fmla="val 6282" name="adj"/>
            </a:avLst>
          </a:prstGeom>
          <a:solidFill>
            <a:srgbClr val="FFFFFF"/>
          </a:solidFill>
          <a:ln cap="flat" cmpd="sng" w="952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4" name="Google Shape;174;p19"/>
          <p:cNvSpPr/>
          <p:nvPr/>
        </p:nvSpPr>
        <p:spPr>
          <a:xfrm>
            <a:off x="2066925" y="3243262"/>
            <a:ext cx="590550" cy="228600"/>
          </a:xfrm>
          <a:prstGeom prst="roundRect">
            <a:avLst>
              <a:gd fmla="val 16666" name="adj"/>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5" name="Google Shape;175;p19"/>
          <p:cNvSpPr/>
          <p:nvPr/>
        </p:nvSpPr>
        <p:spPr>
          <a:xfrm>
            <a:off x="5800725" y="3243262"/>
            <a:ext cx="590550" cy="228600"/>
          </a:xfrm>
          <a:prstGeom prst="roundRect">
            <a:avLst>
              <a:gd fmla="val 16666" name="adj"/>
            </a:avLst>
          </a:prstGeom>
          <a:solidFill>
            <a:srgbClr val="EFF6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6" name="Google Shape;176;p19"/>
          <p:cNvSpPr/>
          <p:nvPr/>
        </p:nvSpPr>
        <p:spPr>
          <a:xfrm>
            <a:off x="9534525" y="3243262"/>
            <a:ext cx="590550" cy="228600"/>
          </a:xfrm>
          <a:prstGeom prst="roundRect">
            <a:avLst>
              <a:gd fmla="val 16666" name="adj"/>
            </a:avLst>
          </a:prstGeom>
          <a:solidFill>
            <a:srgbClr val="ECFDF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7" name="Google Shape;177;p19"/>
          <p:cNvSpPr txBox="1"/>
          <p:nvPr/>
        </p:nvSpPr>
        <p:spPr>
          <a:xfrm>
            <a:off x="609600" y="457200"/>
            <a:ext cx="11582400" cy="171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2F91F9"/>
                </a:solidFill>
                <a:latin typeface="JetBrains Mono"/>
                <a:ea typeface="JetBrains Mono"/>
                <a:cs typeface="JetBrains Mono"/>
                <a:sym typeface="JetBrains Mono"/>
              </a:rPr>
              <a:t>2. PLAN DE DISEÑO</a:t>
            </a:r>
            <a:endParaRPr/>
          </a:p>
        </p:txBody>
      </p:sp>
      <p:sp>
        <p:nvSpPr>
          <p:cNvPr id="178" name="Google Shape;178;p19"/>
          <p:cNvSpPr txBox="1"/>
          <p:nvPr/>
        </p:nvSpPr>
        <p:spPr>
          <a:xfrm>
            <a:off x="609600" y="704850"/>
            <a:ext cx="11582400" cy="3619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400" u="none" cap="none" strike="noStrike">
                <a:solidFill>
                  <a:srgbClr val="0F172A"/>
                </a:solidFill>
                <a:latin typeface="Work Sans"/>
                <a:ea typeface="Work Sans"/>
                <a:cs typeface="Work Sans"/>
                <a:sym typeface="Work Sans"/>
              </a:rPr>
              <a:t>Bocetos, Mockups y Prototipo</a:t>
            </a:r>
            <a:endParaRPr/>
          </a:p>
        </p:txBody>
      </p:sp>
      <p:sp>
        <p:nvSpPr>
          <p:cNvPr id="179" name="Google Shape;179;p19"/>
          <p:cNvSpPr txBox="1"/>
          <p:nvPr/>
        </p:nvSpPr>
        <p:spPr>
          <a:xfrm>
            <a:off x="2019300" y="3281362"/>
            <a:ext cx="685800" cy="15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900" u="none" cap="none" strike="noStrike">
                <a:solidFill>
                  <a:srgbClr val="64748B"/>
                </a:solidFill>
                <a:latin typeface="JetBrains Mono"/>
                <a:ea typeface="JetBrains Mono"/>
                <a:cs typeface="JetBrains Mono"/>
                <a:sym typeface="JetBrains Mono"/>
              </a:rPr>
              <a:t>FASE 1</a:t>
            </a:r>
            <a:endParaRPr/>
          </a:p>
        </p:txBody>
      </p:sp>
      <p:sp>
        <p:nvSpPr>
          <p:cNvPr id="180" name="Google Shape;180;p19"/>
          <p:cNvSpPr txBox="1"/>
          <p:nvPr/>
        </p:nvSpPr>
        <p:spPr>
          <a:xfrm>
            <a:off x="424457" y="3586162"/>
            <a:ext cx="3875484" cy="2286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500" u="none" cap="none" strike="noStrike">
                <a:solidFill>
                  <a:srgbClr val="0F172A"/>
                </a:solidFill>
                <a:latin typeface="Work Sans"/>
                <a:ea typeface="Work Sans"/>
                <a:cs typeface="Work Sans"/>
                <a:sym typeface="Work Sans"/>
              </a:rPr>
              <a:t>Wireframes</a:t>
            </a:r>
            <a:endParaRPr/>
          </a:p>
        </p:txBody>
      </p:sp>
      <p:sp>
        <p:nvSpPr>
          <p:cNvPr id="181" name="Google Shape;181;p19"/>
          <p:cNvSpPr txBox="1"/>
          <p:nvPr/>
        </p:nvSpPr>
        <p:spPr>
          <a:xfrm>
            <a:off x="516731" y="3890962"/>
            <a:ext cx="3690937" cy="1714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125" u="none" cap="none" strike="noStrike">
                <a:solidFill>
                  <a:srgbClr val="64748B"/>
                </a:solidFill>
                <a:latin typeface="Work Sans"/>
                <a:ea typeface="Work Sans"/>
                <a:cs typeface="Work Sans"/>
                <a:sym typeface="Work Sans"/>
              </a:rPr>
              <a:t>Baja Fidelidad</a:t>
            </a:r>
            <a:endParaRPr/>
          </a:p>
        </p:txBody>
      </p:sp>
      <p:sp>
        <p:nvSpPr>
          <p:cNvPr id="182" name="Google Shape;182;p19"/>
          <p:cNvSpPr txBox="1"/>
          <p:nvPr/>
        </p:nvSpPr>
        <p:spPr>
          <a:xfrm>
            <a:off x="609600" y="4229125"/>
            <a:ext cx="3505200" cy="3462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125" u="none" cap="none" strike="noStrike">
                <a:solidFill>
                  <a:srgbClr val="475569"/>
                </a:solidFill>
                <a:latin typeface="Work Sans"/>
                <a:ea typeface="Work Sans"/>
                <a:cs typeface="Work Sans"/>
                <a:sym typeface="Work Sans"/>
              </a:rPr>
              <a:t>Estructura básica de Login y Dashboard en blanco y negro.</a:t>
            </a:r>
            <a:endParaRPr/>
          </a:p>
        </p:txBody>
      </p:sp>
      <p:sp>
        <p:nvSpPr>
          <p:cNvPr id="183" name="Google Shape;183;p19"/>
          <p:cNvSpPr txBox="1"/>
          <p:nvPr/>
        </p:nvSpPr>
        <p:spPr>
          <a:xfrm>
            <a:off x="5753100" y="3281362"/>
            <a:ext cx="685800" cy="15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900" u="none" cap="none" strike="noStrike">
                <a:solidFill>
                  <a:srgbClr val="0F172A"/>
                </a:solidFill>
                <a:latin typeface="JetBrains Mono"/>
                <a:ea typeface="JetBrains Mono"/>
                <a:cs typeface="JetBrains Mono"/>
                <a:sym typeface="JetBrains Mono"/>
              </a:rPr>
              <a:t>FASE 2</a:t>
            </a:r>
            <a:endParaRPr/>
          </a:p>
        </p:txBody>
      </p:sp>
      <p:sp>
        <p:nvSpPr>
          <p:cNvPr id="184" name="Google Shape;184;p19"/>
          <p:cNvSpPr txBox="1"/>
          <p:nvPr/>
        </p:nvSpPr>
        <p:spPr>
          <a:xfrm>
            <a:off x="4158257" y="3586162"/>
            <a:ext cx="3875484" cy="2286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500" u="none" cap="none" strike="noStrike">
                <a:solidFill>
                  <a:srgbClr val="0F172A"/>
                </a:solidFill>
                <a:latin typeface="Work Sans"/>
                <a:ea typeface="Work Sans"/>
                <a:cs typeface="Work Sans"/>
                <a:sym typeface="Work Sans"/>
              </a:rPr>
              <a:t>Mockups</a:t>
            </a:r>
            <a:endParaRPr/>
          </a:p>
        </p:txBody>
      </p:sp>
      <p:sp>
        <p:nvSpPr>
          <p:cNvPr id="185" name="Google Shape;185;p19"/>
          <p:cNvSpPr txBox="1"/>
          <p:nvPr/>
        </p:nvSpPr>
        <p:spPr>
          <a:xfrm>
            <a:off x="4250531" y="3890962"/>
            <a:ext cx="3690937" cy="1714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125" u="none" cap="none" strike="noStrike">
                <a:solidFill>
                  <a:srgbClr val="2F91F9"/>
                </a:solidFill>
                <a:latin typeface="Work Sans"/>
                <a:ea typeface="Work Sans"/>
                <a:cs typeface="Work Sans"/>
                <a:sym typeface="Work Sans"/>
              </a:rPr>
              <a:t>Alta Fidelidad (Figma)</a:t>
            </a:r>
            <a:endParaRPr/>
          </a:p>
        </p:txBody>
      </p:sp>
      <p:sp>
        <p:nvSpPr>
          <p:cNvPr id="186" name="Google Shape;186;p19"/>
          <p:cNvSpPr txBox="1"/>
          <p:nvPr/>
        </p:nvSpPr>
        <p:spPr>
          <a:xfrm>
            <a:off x="4250525" y="4176700"/>
            <a:ext cx="3505200" cy="3462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125" u="none" cap="none" strike="noStrike">
                <a:solidFill>
                  <a:srgbClr val="475569"/>
                </a:solidFill>
                <a:latin typeface="Work Sans"/>
                <a:ea typeface="Work Sans"/>
                <a:cs typeface="Work Sans"/>
                <a:sym typeface="Work Sans"/>
              </a:rPr>
              <a:t>Diseño detallado con componentes en modo oscuro y claro.</a:t>
            </a:r>
            <a:endParaRPr/>
          </a:p>
        </p:txBody>
      </p:sp>
      <p:sp>
        <p:nvSpPr>
          <p:cNvPr id="187" name="Google Shape;187;p19"/>
          <p:cNvSpPr txBox="1"/>
          <p:nvPr/>
        </p:nvSpPr>
        <p:spPr>
          <a:xfrm>
            <a:off x="9486900" y="3281362"/>
            <a:ext cx="685800" cy="15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900" u="none" cap="none" strike="noStrike">
                <a:solidFill>
                  <a:srgbClr val="0F172A"/>
                </a:solidFill>
                <a:latin typeface="JetBrains Mono"/>
                <a:ea typeface="JetBrains Mono"/>
                <a:cs typeface="JetBrains Mono"/>
                <a:sym typeface="JetBrains Mono"/>
              </a:rPr>
              <a:t>FASE 3</a:t>
            </a:r>
            <a:endParaRPr/>
          </a:p>
        </p:txBody>
      </p:sp>
      <p:sp>
        <p:nvSpPr>
          <p:cNvPr id="188" name="Google Shape;188;p19"/>
          <p:cNvSpPr txBox="1"/>
          <p:nvPr/>
        </p:nvSpPr>
        <p:spPr>
          <a:xfrm>
            <a:off x="7892057" y="3586162"/>
            <a:ext cx="3875484" cy="2286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500" u="none" cap="none" strike="noStrike">
                <a:solidFill>
                  <a:srgbClr val="0F172A"/>
                </a:solidFill>
                <a:latin typeface="Work Sans"/>
                <a:ea typeface="Work Sans"/>
                <a:cs typeface="Work Sans"/>
                <a:sym typeface="Work Sans"/>
              </a:rPr>
              <a:t>Prototipo</a:t>
            </a:r>
            <a:endParaRPr/>
          </a:p>
        </p:txBody>
      </p:sp>
      <p:sp>
        <p:nvSpPr>
          <p:cNvPr id="189" name="Google Shape;189;p19"/>
          <p:cNvSpPr txBox="1"/>
          <p:nvPr/>
        </p:nvSpPr>
        <p:spPr>
          <a:xfrm>
            <a:off x="7984331" y="3890962"/>
            <a:ext cx="3690937" cy="1714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125" u="none" cap="none" strike="noStrike">
                <a:solidFill>
                  <a:srgbClr val="0F172A"/>
                </a:solidFill>
                <a:latin typeface="Work Sans"/>
                <a:ea typeface="Work Sans"/>
                <a:cs typeface="Work Sans"/>
                <a:sym typeface="Work Sans"/>
              </a:rPr>
              <a:t>Dinámico e Interactivo</a:t>
            </a:r>
            <a:endParaRPr/>
          </a:p>
        </p:txBody>
      </p:sp>
      <p:sp>
        <p:nvSpPr>
          <p:cNvPr id="190" name="Google Shape;190;p19"/>
          <p:cNvSpPr txBox="1"/>
          <p:nvPr/>
        </p:nvSpPr>
        <p:spPr>
          <a:xfrm>
            <a:off x="7984331" y="4176712"/>
            <a:ext cx="3690937" cy="3429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125" u="none" cap="none" strike="noStrike">
                <a:solidFill>
                  <a:srgbClr val="475569"/>
                </a:solidFill>
                <a:latin typeface="Work Sans"/>
                <a:ea typeface="Work Sans"/>
                <a:cs typeface="Work Sans"/>
                <a:sym typeface="Work Sans"/>
              </a:rPr>
              <a:t>Simulación funcional de navegación creada con HTML/CSS/JS.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94" name="Shape 194"/>
        <p:cNvGrpSpPr/>
        <p:nvPr/>
      </p:nvGrpSpPr>
      <p:grpSpPr>
        <a:xfrm>
          <a:off x="0" y="0"/>
          <a:ext cx="0" cy="0"/>
          <a:chOff x="0" y="0"/>
          <a:chExt cx="0" cy="0"/>
        </a:xfrm>
      </p:grpSpPr>
      <p:sp>
        <p:nvSpPr>
          <p:cNvPr id="195" name="Google Shape;195;p20"/>
          <p:cNvSpPr txBox="1"/>
          <p:nvPr/>
        </p:nvSpPr>
        <p:spPr>
          <a:xfrm>
            <a:off x="609600" y="457200"/>
            <a:ext cx="11582400" cy="1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2F91F9"/>
                </a:solidFill>
                <a:latin typeface="JetBrains Mono"/>
                <a:ea typeface="JetBrains Mono"/>
                <a:cs typeface="JetBrains Mono"/>
                <a:sym typeface="JetBrains Mono"/>
              </a:rPr>
              <a:t>2. PLAN DE DISEÑO</a:t>
            </a:r>
            <a:endParaRPr/>
          </a:p>
        </p:txBody>
      </p:sp>
      <p:sp>
        <p:nvSpPr>
          <p:cNvPr id="196" name="Google Shape;196;p20"/>
          <p:cNvSpPr txBox="1"/>
          <p:nvPr/>
        </p:nvSpPr>
        <p:spPr>
          <a:xfrm>
            <a:off x="609600" y="704850"/>
            <a:ext cx="11582400" cy="369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400" u="none" cap="none" strike="noStrike">
                <a:solidFill>
                  <a:srgbClr val="0F172A"/>
                </a:solidFill>
                <a:latin typeface="Work Sans"/>
                <a:ea typeface="Work Sans"/>
                <a:cs typeface="Work Sans"/>
                <a:sym typeface="Work Sans"/>
              </a:rPr>
              <a:t>Bocetos, Mockups y Prototipo - Modo oscuro</a:t>
            </a:r>
            <a:endParaRPr/>
          </a:p>
        </p:txBody>
      </p:sp>
      <p:pic>
        <p:nvPicPr>
          <p:cNvPr id="197" name="Google Shape;197;p20" title="Mockup-negro.png"/>
          <p:cNvPicPr preferRelativeResize="0"/>
          <p:nvPr/>
        </p:nvPicPr>
        <p:blipFill>
          <a:blip r:embed="rId3">
            <a:alphaModFix/>
          </a:blip>
          <a:stretch>
            <a:fillRect/>
          </a:stretch>
        </p:blipFill>
        <p:spPr>
          <a:xfrm>
            <a:off x="155710" y="1488075"/>
            <a:ext cx="11887198" cy="440101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201" name="Shape 201"/>
        <p:cNvGrpSpPr/>
        <p:nvPr/>
      </p:nvGrpSpPr>
      <p:grpSpPr>
        <a:xfrm>
          <a:off x="0" y="0"/>
          <a:ext cx="0" cy="0"/>
          <a:chOff x="0" y="0"/>
          <a:chExt cx="0" cy="0"/>
        </a:xfrm>
      </p:grpSpPr>
      <p:sp>
        <p:nvSpPr>
          <p:cNvPr id="202" name="Google Shape;202;p21"/>
          <p:cNvSpPr txBox="1"/>
          <p:nvPr/>
        </p:nvSpPr>
        <p:spPr>
          <a:xfrm>
            <a:off x="609600" y="457200"/>
            <a:ext cx="11582400" cy="1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2F91F9"/>
                </a:solidFill>
                <a:latin typeface="JetBrains Mono"/>
                <a:ea typeface="JetBrains Mono"/>
                <a:cs typeface="JetBrains Mono"/>
                <a:sym typeface="JetBrains Mono"/>
              </a:rPr>
              <a:t>2. PLAN DE DISEÑO</a:t>
            </a:r>
            <a:endParaRPr/>
          </a:p>
        </p:txBody>
      </p:sp>
      <p:sp>
        <p:nvSpPr>
          <p:cNvPr id="203" name="Google Shape;203;p21"/>
          <p:cNvSpPr txBox="1"/>
          <p:nvPr/>
        </p:nvSpPr>
        <p:spPr>
          <a:xfrm>
            <a:off x="609600" y="704850"/>
            <a:ext cx="11582400" cy="369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400" u="none" cap="none" strike="noStrike">
                <a:solidFill>
                  <a:srgbClr val="0F172A"/>
                </a:solidFill>
                <a:latin typeface="Work Sans"/>
                <a:ea typeface="Work Sans"/>
                <a:cs typeface="Work Sans"/>
                <a:sym typeface="Work Sans"/>
              </a:rPr>
              <a:t>Bocetos, Mockups y Prototipo - Modo Claro</a:t>
            </a:r>
            <a:endParaRPr/>
          </a:p>
        </p:txBody>
      </p:sp>
      <p:pic>
        <p:nvPicPr>
          <p:cNvPr id="204" name="Google Shape;204;p21" title="Mockup-blanco.png"/>
          <p:cNvPicPr preferRelativeResize="0"/>
          <p:nvPr/>
        </p:nvPicPr>
        <p:blipFill>
          <a:blip r:embed="rId3">
            <a:alphaModFix/>
          </a:blip>
          <a:stretch>
            <a:fillRect/>
          </a:stretch>
        </p:blipFill>
        <p:spPr>
          <a:xfrm>
            <a:off x="152400" y="1531675"/>
            <a:ext cx="11887201" cy="4648728"/>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208" name="Shape 208"/>
        <p:cNvGrpSpPr/>
        <p:nvPr/>
      </p:nvGrpSpPr>
      <p:grpSpPr>
        <a:xfrm>
          <a:off x="0" y="0"/>
          <a:ext cx="0" cy="0"/>
          <a:chOff x="0" y="0"/>
          <a:chExt cx="0" cy="0"/>
        </a:xfrm>
      </p:grpSpPr>
      <p:sp>
        <p:nvSpPr>
          <p:cNvPr id="209" name="Google Shape;209;p22"/>
          <p:cNvSpPr txBox="1"/>
          <p:nvPr/>
        </p:nvSpPr>
        <p:spPr>
          <a:xfrm>
            <a:off x="609600" y="457200"/>
            <a:ext cx="11582400" cy="1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2F91F9"/>
                </a:solidFill>
                <a:latin typeface="JetBrains Mono"/>
                <a:ea typeface="JetBrains Mono"/>
                <a:cs typeface="JetBrains Mono"/>
                <a:sym typeface="JetBrains Mono"/>
              </a:rPr>
              <a:t>2. PLAN DE DISEÑO</a:t>
            </a:r>
            <a:endParaRPr/>
          </a:p>
        </p:txBody>
      </p:sp>
      <p:sp>
        <p:nvSpPr>
          <p:cNvPr id="210" name="Google Shape;210;p22"/>
          <p:cNvSpPr txBox="1"/>
          <p:nvPr/>
        </p:nvSpPr>
        <p:spPr>
          <a:xfrm>
            <a:off x="609600" y="704850"/>
            <a:ext cx="11582400" cy="369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400" u="none" cap="none" strike="noStrike">
                <a:solidFill>
                  <a:srgbClr val="0F172A"/>
                </a:solidFill>
                <a:latin typeface="Work Sans"/>
                <a:ea typeface="Work Sans"/>
                <a:cs typeface="Work Sans"/>
                <a:sym typeface="Work Sans"/>
              </a:rPr>
              <a:t>Bocetos, Mockups y Prototipo - Dashboard modo oscuro</a:t>
            </a:r>
            <a:endParaRPr/>
          </a:p>
        </p:txBody>
      </p:sp>
      <p:pic>
        <p:nvPicPr>
          <p:cNvPr id="211" name="Google Shape;211;p22" title="Dashboard - Almacenes.png"/>
          <p:cNvPicPr preferRelativeResize="0"/>
          <p:nvPr/>
        </p:nvPicPr>
        <p:blipFill>
          <a:blip r:embed="rId3">
            <a:alphaModFix/>
          </a:blip>
          <a:stretch>
            <a:fillRect/>
          </a:stretch>
        </p:blipFill>
        <p:spPr>
          <a:xfrm>
            <a:off x="2014875" y="1237050"/>
            <a:ext cx="8771844" cy="547904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215" name="Shape 215"/>
        <p:cNvGrpSpPr/>
        <p:nvPr/>
      </p:nvGrpSpPr>
      <p:grpSpPr>
        <a:xfrm>
          <a:off x="0" y="0"/>
          <a:ext cx="0" cy="0"/>
          <a:chOff x="0" y="0"/>
          <a:chExt cx="0" cy="0"/>
        </a:xfrm>
      </p:grpSpPr>
      <p:sp>
        <p:nvSpPr>
          <p:cNvPr id="216" name="Google Shape;216;p23"/>
          <p:cNvSpPr txBox="1"/>
          <p:nvPr/>
        </p:nvSpPr>
        <p:spPr>
          <a:xfrm>
            <a:off x="609600" y="457200"/>
            <a:ext cx="11582400" cy="1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2F91F9"/>
                </a:solidFill>
                <a:latin typeface="JetBrains Mono"/>
                <a:ea typeface="JetBrains Mono"/>
                <a:cs typeface="JetBrains Mono"/>
                <a:sym typeface="JetBrains Mono"/>
              </a:rPr>
              <a:t>2. PLAN DE DISEÑO</a:t>
            </a:r>
            <a:endParaRPr/>
          </a:p>
        </p:txBody>
      </p:sp>
      <p:sp>
        <p:nvSpPr>
          <p:cNvPr id="217" name="Google Shape;217;p23"/>
          <p:cNvSpPr txBox="1"/>
          <p:nvPr/>
        </p:nvSpPr>
        <p:spPr>
          <a:xfrm>
            <a:off x="609600" y="704850"/>
            <a:ext cx="11582400" cy="369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400" u="none" cap="none" strike="noStrike">
                <a:solidFill>
                  <a:srgbClr val="0F172A"/>
                </a:solidFill>
                <a:latin typeface="Work Sans"/>
                <a:ea typeface="Work Sans"/>
                <a:cs typeface="Work Sans"/>
                <a:sym typeface="Work Sans"/>
              </a:rPr>
              <a:t>Bocetos, Mockups y Prototipo - Dashboard modo </a:t>
            </a:r>
            <a:r>
              <a:rPr b="1" lang="en-US" sz="2400">
                <a:solidFill>
                  <a:srgbClr val="0F172A"/>
                </a:solidFill>
                <a:latin typeface="Work Sans"/>
                <a:ea typeface="Work Sans"/>
                <a:cs typeface="Work Sans"/>
                <a:sym typeface="Work Sans"/>
              </a:rPr>
              <a:t>claro</a:t>
            </a:r>
            <a:endParaRPr/>
          </a:p>
        </p:txBody>
      </p:sp>
      <p:pic>
        <p:nvPicPr>
          <p:cNvPr id="218" name="Google Shape;218;p23" title="Mockup-Dashboard-blanco.png"/>
          <p:cNvPicPr preferRelativeResize="0"/>
          <p:nvPr/>
        </p:nvPicPr>
        <p:blipFill>
          <a:blip r:embed="rId3">
            <a:alphaModFix/>
          </a:blip>
          <a:stretch>
            <a:fillRect/>
          </a:stretch>
        </p:blipFill>
        <p:spPr>
          <a:xfrm>
            <a:off x="917625" y="1284650"/>
            <a:ext cx="10356744" cy="547905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222" name="Shape 222"/>
        <p:cNvGrpSpPr/>
        <p:nvPr/>
      </p:nvGrpSpPr>
      <p:grpSpPr>
        <a:xfrm>
          <a:off x="0" y="0"/>
          <a:ext cx="0" cy="0"/>
          <a:chOff x="0" y="0"/>
          <a:chExt cx="0" cy="0"/>
        </a:xfrm>
      </p:grpSpPr>
      <p:sp>
        <p:nvSpPr>
          <p:cNvPr id="223" name="Google Shape;223;p24"/>
          <p:cNvSpPr/>
          <p:nvPr/>
        </p:nvSpPr>
        <p:spPr>
          <a:xfrm>
            <a:off x="609550" y="4893412"/>
            <a:ext cx="5353200" cy="1781100"/>
          </a:xfrm>
          <a:prstGeom prst="roundRect">
            <a:avLst>
              <a:gd fmla="val 6417" name="adj"/>
            </a:avLst>
          </a:prstGeom>
          <a:solidFill>
            <a:srgbClr val="FFFFFF"/>
          </a:solidFill>
          <a:ln cap="flat" cmpd="sng" w="952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4" name="Google Shape;224;p24"/>
          <p:cNvSpPr/>
          <p:nvPr/>
        </p:nvSpPr>
        <p:spPr>
          <a:xfrm>
            <a:off x="6229300" y="4893412"/>
            <a:ext cx="5353200" cy="1781100"/>
          </a:xfrm>
          <a:prstGeom prst="roundRect">
            <a:avLst>
              <a:gd fmla="val 6417" name="adj"/>
            </a:avLst>
          </a:prstGeom>
          <a:solidFill>
            <a:srgbClr val="FFFFFF"/>
          </a:solidFill>
          <a:ln cap="flat" cmpd="sng" w="952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5" name="Google Shape;225;p24"/>
          <p:cNvSpPr/>
          <p:nvPr/>
        </p:nvSpPr>
        <p:spPr>
          <a:xfrm>
            <a:off x="885775" y="5522062"/>
            <a:ext cx="228600" cy="228600"/>
          </a:xfrm>
          <a:prstGeom prst="roundRect">
            <a:avLst>
              <a:gd fmla="val 16666" name="adj"/>
            </a:avLst>
          </a:prstGeom>
          <a:solidFill>
            <a:srgbClr val="2F91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6" name="Google Shape;226;p24"/>
          <p:cNvSpPr/>
          <p:nvPr/>
        </p:nvSpPr>
        <p:spPr>
          <a:xfrm>
            <a:off x="885775" y="5845912"/>
            <a:ext cx="228600" cy="228600"/>
          </a:xfrm>
          <a:prstGeom prst="roundRect">
            <a:avLst>
              <a:gd fmla="val 16666" name="adj"/>
            </a:avLst>
          </a:prstGeom>
          <a:solidFill>
            <a:srgbClr val="0D111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7" name="Google Shape;227;p24"/>
          <p:cNvSpPr/>
          <p:nvPr/>
        </p:nvSpPr>
        <p:spPr>
          <a:xfrm>
            <a:off x="885775" y="6169762"/>
            <a:ext cx="228600" cy="228600"/>
          </a:xfrm>
          <a:prstGeom prst="roundRect">
            <a:avLst>
              <a:gd fmla="val 16666" name="adj"/>
            </a:avLst>
          </a:prstGeom>
          <a:solidFill>
            <a:srgbClr val="EF444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8" name="Google Shape;228;p24"/>
          <p:cNvSpPr txBox="1"/>
          <p:nvPr/>
        </p:nvSpPr>
        <p:spPr>
          <a:xfrm>
            <a:off x="609600" y="457200"/>
            <a:ext cx="11582400" cy="171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2F91F9"/>
                </a:solidFill>
                <a:latin typeface="JetBrains Mono"/>
                <a:ea typeface="JetBrains Mono"/>
                <a:cs typeface="JetBrains Mono"/>
                <a:sym typeface="JetBrains Mono"/>
              </a:rPr>
              <a:t>2. PLAN DE DISEÑO</a:t>
            </a:r>
            <a:endParaRPr/>
          </a:p>
        </p:txBody>
      </p:sp>
      <p:sp>
        <p:nvSpPr>
          <p:cNvPr id="229" name="Google Shape;229;p24"/>
          <p:cNvSpPr txBox="1"/>
          <p:nvPr/>
        </p:nvSpPr>
        <p:spPr>
          <a:xfrm>
            <a:off x="609600" y="704850"/>
            <a:ext cx="11582400" cy="362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400" u="none" cap="none" strike="noStrike">
                <a:solidFill>
                  <a:srgbClr val="0F172A"/>
                </a:solidFill>
                <a:latin typeface="Work Sans"/>
                <a:ea typeface="Work Sans"/>
                <a:cs typeface="Work Sans"/>
                <a:sym typeface="Work Sans"/>
              </a:rPr>
              <a:t>Justificación de Decisiones de Diseño</a:t>
            </a:r>
            <a:endParaRPr/>
          </a:p>
        </p:txBody>
      </p:sp>
      <p:sp>
        <p:nvSpPr>
          <p:cNvPr id="230" name="Google Shape;230;p24"/>
          <p:cNvSpPr txBox="1"/>
          <p:nvPr/>
        </p:nvSpPr>
        <p:spPr>
          <a:xfrm>
            <a:off x="885775" y="5169637"/>
            <a:ext cx="6300900" cy="207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50" u="none" cap="none" strike="noStrike">
                <a:solidFill>
                  <a:srgbClr val="0F172A"/>
                </a:solidFill>
                <a:latin typeface="Work Sans"/>
                <a:ea typeface="Work Sans"/>
                <a:cs typeface="Work Sans"/>
                <a:sym typeface="Work Sans"/>
              </a:rPr>
              <a:t>Paleta de Colores</a:t>
            </a:r>
            <a:endParaRPr/>
          </a:p>
        </p:txBody>
      </p:sp>
      <p:sp>
        <p:nvSpPr>
          <p:cNvPr id="231" name="Google Shape;231;p24"/>
          <p:cNvSpPr txBox="1"/>
          <p:nvPr/>
        </p:nvSpPr>
        <p:spPr>
          <a:xfrm>
            <a:off x="6505525" y="5169637"/>
            <a:ext cx="5686500" cy="207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50" u="none" cap="none" strike="noStrike">
                <a:solidFill>
                  <a:srgbClr val="0F172A"/>
                </a:solidFill>
                <a:latin typeface="Work Sans"/>
                <a:ea typeface="Work Sans"/>
                <a:cs typeface="Work Sans"/>
                <a:sym typeface="Work Sans"/>
              </a:rPr>
              <a:t>Tipografía</a:t>
            </a:r>
            <a:endParaRPr/>
          </a:p>
        </p:txBody>
      </p:sp>
      <p:sp>
        <p:nvSpPr>
          <p:cNvPr id="232" name="Google Shape;232;p24"/>
          <p:cNvSpPr txBox="1"/>
          <p:nvPr/>
        </p:nvSpPr>
        <p:spPr>
          <a:xfrm>
            <a:off x="1228675" y="5550637"/>
            <a:ext cx="1266900" cy="173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125" u="none" cap="none" strike="noStrike">
                <a:solidFill>
                  <a:srgbClr val="0F172A"/>
                </a:solidFill>
                <a:latin typeface="Work Sans"/>
                <a:ea typeface="Work Sans"/>
                <a:cs typeface="Work Sans"/>
                <a:sym typeface="Work Sans"/>
              </a:rPr>
              <a:t>Azul:</a:t>
            </a:r>
            <a:endParaRPr/>
          </a:p>
        </p:txBody>
      </p:sp>
      <p:sp>
        <p:nvSpPr>
          <p:cNvPr id="233" name="Google Shape;233;p24"/>
          <p:cNvSpPr txBox="1"/>
          <p:nvPr/>
        </p:nvSpPr>
        <p:spPr>
          <a:xfrm>
            <a:off x="1663425" y="5569687"/>
            <a:ext cx="2381400" cy="1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475569"/>
                </a:solidFill>
                <a:latin typeface="Work Sans"/>
                <a:ea typeface="Work Sans"/>
                <a:cs typeface="Work Sans"/>
                <a:sym typeface="Work Sans"/>
              </a:rPr>
              <a:t>Fiabilidad y acción principal.</a:t>
            </a:r>
            <a:endParaRPr/>
          </a:p>
        </p:txBody>
      </p:sp>
      <p:sp>
        <p:nvSpPr>
          <p:cNvPr id="234" name="Google Shape;234;p24"/>
          <p:cNvSpPr txBox="1"/>
          <p:nvPr/>
        </p:nvSpPr>
        <p:spPr>
          <a:xfrm>
            <a:off x="1228675" y="5874475"/>
            <a:ext cx="1508100" cy="173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125">
                <a:solidFill>
                  <a:srgbClr val="0F172A"/>
                </a:solidFill>
                <a:latin typeface="Work Sans"/>
                <a:ea typeface="Work Sans"/>
                <a:cs typeface="Work Sans"/>
                <a:sym typeface="Work Sans"/>
              </a:rPr>
              <a:t>Tono </a:t>
            </a:r>
            <a:r>
              <a:rPr b="1" i="0" lang="en-US" sz="1125" u="none" cap="none" strike="noStrike">
                <a:solidFill>
                  <a:srgbClr val="0F172A"/>
                </a:solidFill>
                <a:latin typeface="Work Sans"/>
                <a:ea typeface="Work Sans"/>
                <a:cs typeface="Work Sans"/>
                <a:sym typeface="Work Sans"/>
              </a:rPr>
              <a:t>Oscuro Base:</a:t>
            </a:r>
            <a:endParaRPr/>
          </a:p>
        </p:txBody>
      </p:sp>
      <p:sp>
        <p:nvSpPr>
          <p:cNvPr id="235" name="Google Shape;235;p24"/>
          <p:cNvSpPr txBox="1"/>
          <p:nvPr/>
        </p:nvSpPr>
        <p:spPr>
          <a:xfrm>
            <a:off x="2567025" y="5888762"/>
            <a:ext cx="2274000" cy="1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475569"/>
                </a:solidFill>
                <a:latin typeface="Work Sans"/>
                <a:ea typeface="Work Sans"/>
                <a:cs typeface="Work Sans"/>
                <a:sym typeface="Work Sans"/>
              </a:rPr>
              <a:t>Confort en uso continuado.</a:t>
            </a:r>
            <a:endParaRPr/>
          </a:p>
        </p:txBody>
      </p:sp>
      <p:sp>
        <p:nvSpPr>
          <p:cNvPr id="236" name="Google Shape;236;p24"/>
          <p:cNvSpPr txBox="1"/>
          <p:nvPr/>
        </p:nvSpPr>
        <p:spPr>
          <a:xfrm>
            <a:off x="1228675" y="6198337"/>
            <a:ext cx="1152600" cy="173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125" u="none" cap="none" strike="noStrike">
                <a:solidFill>
                  <a:srgbClr val="0F172A"/>
                </a:solidFill>
                <a:latin typeface="Work Sans"/>
                <a:ea typeface="Work Sans"/>
                <a:cs typeface="Work Sans"/>
                <a:sym typeface="Work Sans"/>
              </a:rPr>
              <a:t>Semánticos:</a:t>
            </a:r>
            <a:endParaRPr/>
          </a:p>
        </p:txBody>
      </p:sp>
      <p:sp>
        <p:nvSpPr>
          <p:cNvPr id="237" name="Google Shape;237;p24"/>
          <p:cNvSpPr txBox="1"/>
          <p:nvPr/>
        </p:nvSpPr>
        <p:spPr>
          <a:xfrm>
            <a:off x="2209750" y="6207862"/>
            <a:ext cx="2631300" cy="1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475569"/>
                </a:solidFill>
                <a:latin typeface="Work Sans"/>
                <a:ea typeface="Work Sans"/>
                <a:cs typeface="Work Sans"/>
                <a:sym typeface="Work Sans"/>
              </a:rPr>
              <a:t>Verde/Ámbar/Rojo para estados.</a:t>
            </a:r>
            <a:endParaRPr/>
          </a:p>
        </p:txBody>
      </p:sp>
      <p:sp>
        <p:nvSpPr>
          <p:cNvPr id="238" name="Google Shape;238;p24"/>
          <p:cNvSpPr txBox="1"/>
          <p:nvPr/>
        </p:nvSpPr>
        <p:spPr>
          <a:xfrm>
            <a:off x="6505525" y="5522062"/>
            <a:ext cx="56865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0F172A"/>
                </a:solidFill>
                <a:latin typeface="Work Sans"/>
                <a:ea typeface="Work Sans"/>
                <a:cs typeface="Work Sans"/>
                <a:sym typeface="Work Sans"/>
              </a:rPr>
              <a:t>Work Sans</a:t>
            </a:r>
            <a:endParaRPr/>
          </a:p>
        </p:txBody>
      </p:sp>
      <p:sp>
        <p:nvSpPr>
          <p:cNvPr id="239" name="Google Shape;239;p24"/>
          <p:cNvSpPr txBox="1"/>
          <p:nvPr/>
        </p:nvSpPr>
        <p:spPr>
          <a:xfrm>
            <a:off x="6505525" y="5741137"/>
            <a:ext cx="5686500" cy="1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475569"/>
                </a:solidFill>
                <a:latin typeface="Work Sans"/>
                <a:ea typeface="Work Sans"/>
                <a:cs typeface="Work Sans"/>
                <a:sym typeface="Work Sans"/>
              </a:rPr>
              <a:t>Fuente principal para interfaz, alta legibilidad.</a:t>
            </a:r>
            <a:endParaRPr/>
          </a:p>
        </p:txBody>
      </p:sp>
      <p:sp>
        <p:nvSpPr>
          <p:cNvPr id="240" name="Google Shape;240;p24"/>
          <p:cNvSpPr txBox="1"/>
          <p:nvPr/>
        </p:nvSpPr>
        <p:spPr>
          <a:xfrm>
            <a:off x="6505525" y="6007837"/>
            <a:ext cx="56865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0F172A"/>
                </a:solidFill>
                <a:latin typeface="JetBrains Mono"/>
                <a:ea typeface="JetBrains Mono"/>
                <a:cs typeface="JetBrains Mono"/>
                <a:sym typeface="JetBrains Mono"/>
              </a:rPr>
              <a:t>JetBrains Mono</a:t>
            </a:r>
            <a:endParaRPr/>
          </a:p>
        </p:txBody>
      </p:sp>
      <p:sp>
        <p:nvSpPr>
          <p:cNvPr id="241" name="Google Shape;241;p24"/>
          <p:cNvSpPr txBox="1"/>
          <p:nvPr/>
        </p:nvSpPr>
        <p:spPr>
          <a:xfrm>
            <a:off x="6505525" y="6245962"/>
            <a:ext cx="5686500" cy="1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475569"/>
                </a:solidFill>
                <a:latin typeface="Work Sans"/>
                <a:ea typeface="Work Sans"/>
                <a:cs typeface="Work Sans"/>
                <a:sym typeface="Work Sans"/>
              </a:rPr>
              <a:t>Fuente monoespaciada para marca y métricas.</a:t>
            </a:r>
            <a:endParaRPr/>
          </a:p>
        </p:txBody>
      </p:sp>
      <p:sp>
        <p:nvSpPr>
          <p:cNvPr id="242" name="Google Shape;242;p24"/>
          <p:cNvSpPr/>
          <p:nvPr/>
        </p:nvSpPr>
        <p:spPr>
          <a:xfrm>
            <a:off x="1564875" y="1725250"/>
            <a:ext cx="5353200" cy="19812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3" name="Google Shape;243;p24"/>
          <p:cNvSpPr/>
          <p:nvPr/>
        </p:nvSpPr>
        <p:spPr>
          <a:xfrm>
            <a:off x="1564875" y="1143150"/>
            <a:ext cx="38100" cy="3533400"/>
          </a:xfrm>
          <a:prstGeom prst="rect">
            <a:avLst/>
          </a:prstGeom>
          <a:solidFill>
            <a:srgbClr val="2F91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4" name="Google Shape;244;p24"/>
          <p:cNvSpPr txBox="1"/>
          <p:nvPr/>
        </p:nvSpPr>
        <p:spPr>
          <a:xfrm>
            <a:off x="1890625" y="1143138"/>
            <a:ext cx="7327200" cy="3509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rgbClr val="475569"/>
                </a:solidFill>
                <a:latin typeface="Work Sans"/>
                <a:ea typeface="Work Sans"/>
                <a:cs typeface="Work Sans"/>
                <a:sym typeface="Work Sans"/>
              </a:rPr>
              <a:t>La elección de los colores y las tipografías no es simplemente estética, sino que está relacionada con la funcionalidad de StockLink. </a:t>
            </a:r>
            <a:endParaRPr sz="1200">
              <a:solidFill>
                <a:srgbClr val="475569"/>
              </a:solidFill>
              <a:latin typeface="Work Sans"/>
              <a:ea typeface="Work Sans"/>
              <a:cs typeface="Work Sans"/>
              <a:sym typeface="Work Sans"/>
            </a:endParaRPr>
          </a:p>
          <a:p>
            <a:pPr indent="0" lvl="0" marL="0" marR="0" rtl="0" algn="l">
              <a:spcBef>
                <a:spcPts val="0"/>
              </a:spcBef>
              <a:spcAft>
                <a:spcPts val="0"/>
              </a:spcAft>
              <a:buNone/>
            </a:pPr>
            <a:r>
              <a:t/>
            </a:r>
            <a:endParaRPr sz="1200">
              <a:solidFill>
                <a:srgbClr val="475569"/>
              </a:solidFill>
              <a:latin typeface="Work Sans"/>
              <a:ea typeface="Work Sans"/>
              <a:cs typeface="Work Sans"/>
              <a:sym typeface="Work Sans"/>
            </a:endParaRPr>
          </a:p>
          <a:p>
            <a:pPr indent="0" lvl="0" marL="0" marR="0" rtl="0" algn="l">
              <a:spcBef>
                <a:spcPts val="0"/>
              </a:spcBef>
              <a:spcAft>
                <a:spcPts val="0"/>
              </a:spcAft>
              <a:buNone/>
            </a:pPr>
            <a:r>
              <a:rPr lang="en-US" sz="1200">
                <a:solidFill>
                  <a:srgbClr val="475569"/>
                </a:solidFill>
                <a:latin typeface="Work Sans"/>
                <a:ea typeface="Work Sans"/>
                <a:cs typeface="Work Sans"/>
                <a:sym typeface="Work Sans"/>
              </a:rPr>
              <a:t>Hemos elegido el azul como color principal porque transmite confianza, seguridad y profesionalidad, que son características que queremos asociar a una aplicación de gestión empresarial. Para el tema oscuro utilizamos tonos oscuros porque buscamos una interfaz moderna y cómoda para utilizar durante periodos prolongados. </a:t>
            </a:r>
            <a:endParaRPr sz="1200">
              <a:solidFill>
                <a:srgbClr val="475569"/>
              </a:solidFill>
              <a:latin typeface="Work Sans"/>
              <a:ea typeface="Work Sans"/>
              <a:cs typeface="Work Sans"/>
              <a:sym typeface="Work Sans"/>
            </a:endParaRPr>
          </a:p>
          <a:p>
            <a:pPr indent="0" lvl="0" marL="0" marR="0" rtl="0" algn="l">
              <a:spcBef>
                <a:spcPts val="0"/>
              </a:spcBef>
              <a:spcAft>
                <a:spcPts val="0"/>
              </a:spcAft>
              <a:buNone/>
            </a:pPr>
            <a:r>
              <a:t/>
            </a:r>
            <a:endParaRPr sz="1200">
              <a:solidFill>
                <a:srgbClr val="475569"/>
              </a:solidFill>
              <a:latin typeface="Work Sans"/>
              <a:ea typeface="Work Sans"/>
              <a:cs typeface="Work Sans"/>
              <a:sym typeface="Work Sans"/>
            </a:endParaRPr>
          </a:p>
          <a:p>
            <a:pPr indent="0" lvl="0" marL="0" marR="0" rtl="0" algn="l">
              <a:spcBef>
                <a:spcPts val="0"/>
              </a:spcBef>
              <a:spcAft>
                <a:spcPts val="0"/>
              </a:spcAft>
              <a:buNone/>
            </a:pPr>
            <a:r>
              <a:rPr lang="en-US" sz="1200">
                <a:solidFill>
                  <a:srgbClr val="475569"/>
                </a:solidFill>
                <a:latin typeface="Work Sans"/>
                <a:ea typeface="Work Sans"/>
                <a:cs typeface="Work Sans"/>
                <a:sym typeface="Work Sans"/>
              </a:rPr>
              <a:t>Además, utilizamos verde, ámbar y rojo como colores semánticos. Esto es especialmente importante en nuestra aplicación porque permiten identificar rápidamente el estado del stock: verde cuando está correcto, ámbar cuando hay que prestar atención y rojo cuando el stock es crítico. </a:t>
            </a:r>
            <a:endParaRPr sz="1200">
              <a:solidFill>
                <a:srgbClr val="475569"/>
              </a:solidFill>
              <a:latin typeface="Work Sans"/>
              <a:ea typeface="Work Sans"/>
              <a:cs typeface="Work Sans"/>
              <a:sym typeface="Work Sans"/>
            </a:endParaRPr>
          </a:p>
          <a:p>
            <a:pPr indent="0" lvl="0" marL="0" marR="0" rtl="0" algn="l">
              <a:spcBef>
                <a:spcPts val="0"/>
              </a:spcBef>
              <a:spcAft>
                <a:spcPts val="0"/>
              </a:spcAft>
              <a:buNone/>
            </a:pPr>
            <a:r>
              <a:t/>
            </a:r>
            <a:endParaRPr sz="1200">
              <a:solidFill>
                <a:srgbClr val="475569"/>
              </a:solidFill>
              <a:latin typeface="Work Sans"/>
              <a:ea typeface="Work Sans"/>
              <a:cs typeface="Work Sans"/>
              <a:sym typeface="Work Sans"/>
            </a:endParaRPr>
          </a:p>
          <a:p>
            <a:pPr indent="0" lvl="0" marL="0" marR="0" rtl="0" algn="l">
              <a:spcBef>
                <a:spcPts val="0"/>
              </a:spcBef>
              <a:spcAft>
                <a:spcPts val="0"/>
              </a:spcAft>
              <a:buNone/>
            </a:pPr>
            <a:r>
              <a:rPr lang="en-US" sz="1200">
                <a:solidFill>
                  <a:srgbClr val="475569"/>
                </a:solidFill>
                <a:latin typeface="Work Sans"/>
                <a:ea typeface="Work Sans"/>
                <a:cs typeface="Work Sans"/>
                <a:sym typeface="Work Sans"/>
              </a:rPr>
              <a:t>En cuanto a las tipografías, utilizamos Work Sans como fuente principal porque es limpia y fácil de leer. Para datos, métricas y algunos elementos de marca utilizamos JetBrains Mono, ya que su aspecto monoespaciado permite diferenciarlos visualmente del resto de la interfaz.</a:t>
            </a:r>
            <a:endParaRPr sz="1200">
              <a:solidFill>
                <a:srgbClr val="475569"/>
              </a:solidFill>
              <a:latin typeface="Work Sans"/>
              <a:ea typeface="Work Sans"/>
              <a:cs typeface="Work Sans"/>
              <a:sym typeface="Work Sans"/>
            </a:endParaRPr>
          </a:p>
          <a:p>
            <a:pPr indent="0" lvl="0" marL="0" marR="0" rtl="0" algn="l">
              <a:spcBef>
                <a:spcPts val="0"/>
              </a:spcBef>
              <a:spcAft>
                <a:spcPts val="0"/>
              </a:spcAft>
              <a:buNone/>
            </a:pPr>
            <a:r>
              <a:t/>
            </a:r>
            <a:endParaRPr sz="1200">
              <a:solidFill>
                <a:srgbClr val="475569"/>
              </a:solidFill>
              <a:latin typeface="Work Sans"/>
              <a:ea typeface="Work Sans"/>
              <a:cs typeface="Work Sans"/>
              <a:sym typeface="Work Sans"/>
            </a:endParaRPr>
          </a:p>
          <a:p>
            <a:pPr indent="0" lvl="0" marL="0" marR="0" rtl="0" algn="l">
              <a:spcBef>
                <a:spcPts val="0"/>
              </a:spcBef>
              <a:spcAft>
                <a:spcPts val="0"/>
              </a:spcAft>
              <a:buNone/>
            </a:pPr>
            <a:r>
              <a:rPr lang="en-US" sz="1200">
                <a:solidFill>
                  <a:srgbClr val="475569"/>
                </a:solidFill>
                <a:latin typeface="Work Sans"/>
                <a:ea typeface="Work Sans"/>
                <a:cs typeface="Work Sans"/>
                <a:sym typeface="Work Sans"/>
              </a:rPr>
              <a:t>En resumen, hemos elegido los colores y tipografías buscando que el diseño sea atractivo, pero sobre todo que ayude al usuario a interpretar la información rápidamente. </a:t>
            </a:r>
            <a:endParaRPr sz="1200">
              <a:solidFill>
                <a:srgbClr val="475569"/>
              </a:solidFill>
              <a:latin typeface="Work Sans"/>
              <a:ea typeface="Work Sans"/>
              <a:cs typeface="Work Sans"/>
              <a:sym typeface="Work San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248" name="Shape 248"/>
        <p:cNvGrpSpPr/>
        <p:nvPr/>
      </p:nvGrpSpPr>
      <p:grpSpPr>
        <a:xfrm>
          <a:off x="0" y="0"/>
          <a:ext cx="0" cy="0"/>
          <a:chOff x="0" y="0"/>
          <a:chExt cx="0" cy="0"/>
        </a:xfrm>
      </p:grpSpPr>
      <p:sp>
        <p:nvSpPr>
          <p:cNvPr id="249" name="Google Shape;249;p25"/>
          <p:cNvSpPr/>
          <p:nvPr/>
        </p:nvSpPr>
        <p:spPr>
          <a:xfrm>
            <a:off x="6892676" y="3286125"/>
            <a:ext cx="549175" cy="114300"/>
          </a:xfrm>
          <a:prstGeom prst="roundRect">
            <a:avLst>
              <a:gd fmla="val 50000" name="adj"/>
            </a:avLst>
          </a:prstGeom>
          <a:solidFill>
            <a:srgbClr val="2F91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0" name="Google Shape;250;p25"/>
          <p:cNvSpPr/>
          <p:nvPr/>
        </p:nvSpPr>
        <p:spPr>
          <a:xfrm>
            <a:off x="7822852" y="3781425"/>
            <a:ext cx="599033" cy="114300"/>
          </a:xfrm>
          <a:prstGeom prst="roundRect">
            <a:avLst>
              <a:gd fmla="val 50000" name="adj"/>
            </a:avLst>
          </a:prstGeom>
          <a:solidFill>
            <a:srgbClr val="2F91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1" name="Google Shape;251;p25"/>
          <p:cNvSpPr/>
          <p:nvPr/>
        </p:nvSpPr>
        <p:spPr>
          <a:xfrm>
            <a:off x="8802885" y="3781425"/>
            <a:ext cx="599033" cy="114300"/>
          </a:xfrm>
          <a:prstGeom prst="roundRect">
            <a:avLst>
              <a:gd fmla="val 50000" name="adj"/>
            </a:avLst>
          </a:prstGeom>
          <a:solidFill>
            <a:srgbClr val="2F91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2" name="Google Shape;252;p25"/>
          <p:cNvSpPr/>
          <p:nvPr/>
        </p:nvSpPr>
        <p:spPr>
          <a:xfrm>
            <a:off x="8671394" y="4717150"/>
            <a:ext cx="615600" cy="114300"/>
          </a:xfrm>
          <a:prstGeom prst="roundRect">
            <a:avLst>
              <a:gd fmla="val 50000" name="adj"/>
            </a:avLst>
          </a:prstGeom>
          <a:solidFill>
            <a:srgbClr val="2F91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3" name="Google Shape;253;p25"/>
          <p:cNvSpPr/>
          <p:nvPr/>
        </p:nvSpPr>
        <p:spPr>
          <a:xfrm>
            <a:off x="1704500" y="2309400"/>
            <a:ext cx="8147700" cy="2907000"/>
          </a:xfrm>
          <a:prstGeom prst="roundRect">
            <a:avLst>
              <a:gd fmla="val 0" name="adj"/>
            </a:avLst>
          </a:prstGeom>
          <a:solidFill>
            <a:srgbClr val="FFFFFF"/>
          </a:solidFill>
          <a:ln cap="flat" cmpd="sng" w="9525">
            <a:solidFill>
              <a:srgbClr val="4A7DBA"/>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4" name="Google Shape;254;p25"/>
          <p:cNvSpPr txBox="1"/>
          <p:nvPr/>
        </p:nvSpPr>
        <p:spPr>
          <a:xfrm>
            <a:off x="609600" y="457200"/>
            <a:ext cx="11582400" cy="171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2F91F9"/>
                </a:solidFill>
                <a:latin typeface="JetBrains Mono"/>
                <a:ea typeface="JetBrains Mono"/>
                <a:cs typeface="JetBrains Mono"/>
                <a:sym typeface="JetBrains Mono"/>
              </a:rPr>
              <a:t>3. CRONOGRAMA DE EJECUCIÓN</a:t>
            </a:r>
            <a:endParaRPr/>
          </a:p>
        </p:txBody>
      </p:sp>
      <p:sp>
        <p:nvSpPr>
          <p:cNvPr id="255" name="Google Shape;255;p25"/>
          <p:cNvSpPr txBox="1"/>
          <p:nvPr/>
        </p:nvSpPr>
        <p:spPr>
          <a:xfrm>
            <a:off x="609600" y="704850"/>
            <a:ext cx="11582400" cy="3619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400" u="none" cap="none" strike="noStrike">
                <a:solidFill>
                  <a:srgbClr val="0F172A"/>
                </a:solidFill>
                <a:latin typeface="Work Sans"/>
                <a:ea typeface="Work Sans"/>
                <a:cs typeface="Work Sans"/>
                <a:sym typeface="Work Sans"/>
              </a:rPr>
              <a:t>Planificación Temporal del Proyecto (5 Semanas)</a:t>
            </a:r>
            <a:endParaRPr/>
          </a:p>
        </p:txBody>
      </p:sp>
      <p:graphicFrame>
        <p:nvGraphicFramePr>
          <p:cNvPr id="256" name="Google Shape;256;p25"/>
          <p:cNvGraphicFramePr/>
          <p:nvPr/>
        </p:nvGraphicFramePr>
        <p:xfrm>
          <a:off x="1704375" y="2309388"/>
          <a:ext cx="3000000" cy="3000000"/>
        </p:xfrm>
        <a:graphic>
          <a:graphicData uri="http://schemas.openxmlformats.org/drawingml/2006/table">
            <a:tbl>
              <a:tblPr bandCol="1" bandRow="1">
                <a:noFill/>
                <a:tableStyleId>{734B2607-A136-4DDC-85CE-FCE2F60A348C}</a:tableStyleId>
              </a:tblPr>
              <a:tblGrid>
                <a:gridCol w="1991675"/>
                <a:gridCol w="1231225"/>
                <a:gridCol w="1231225"/>
                <a:gridCol w="1231225"/>
                <a:gridCol w="1231225"/>
                <a:gridCol w="1231225"/>
              </a:tblGrid>
              <a:tr h="572775">
                <a:tc>
                  <a:txBody>
                    <a:bodyPr/>
                    <a:lstStyle/>
                    <a:p>
                      <a:pPr indent="0" lvl="0" marL="0" rtl="0" algn="l">
                        <a:spcBef>
                          <a:spcPts val="0"/>
                        </a:spcBef>
                        <a:spcAft>
                          <a:spcPts val="0"/>
                        </a:spcAft>
                        <a:buNone/>
                      </a:pPr>
                      <a:r>
                        <a:rPr b="1" lang="en-US" sz="1200">
                          <a:solidFill>
                            <a:srgbClr val="0F172A"/>
                          </a:solidFill>
                          <a:latin typeface="Work Sans"/>
                          <a:ea typeface="Work Sans"/>
                          <a:cs typeface="Work Sans"/>
                          <a:sym typeface="Work Sans"/>
                        </a:rPr>
                        <a:t>Fase</a:t>
                      </a:r>
                      <a:endParaRPr b="1" sz="1200">
                        <a:solidFill>
                          <a:srgbClr val="0F172A"/>
                        </a:solidFill>
                        <a:latin typeface="Work Sans"/>
                        <a:ea typeface="Work Sans"/>
                        <a:cs typeface="Work Sans"/>
                        <a:sym typeface="Work Sans"/>
                      </a:endParaRPr>
                    </a:p>
                  </a:txBody>
                  <a:tcPr marT="50800" marB="50800" marR="63500" marL="63500">
                    <a:solidFill>
                      <a:srgbClr val="F2F2F2"/>
                    </a:solidFill>
                  </a:tcPr>
                </a:tc>
                <a:tc>
                  <a:txBody>
                    <a:bodyPr/>
                    <a:lstStyle/>
                    <a:p>
                      <a:pPr indent="0" lvl="0" marL="0" rtl="0" algn="l">
                        <a:spcBef>
                          <a:spcPts val="0"/>
                        </a:spcBef>
                        <a:spcAft>
                          <a:spcPts val="0"/>
                        </a:spcAft>
                        <a:buNone/>
                      </a:pPr>
                      <a:r>
                        <a:rPr b="1" lang="en-US" sz="1200">
                          <a:solidFill>
                            <a:srgbClr val="0F172A"/>
                          </a:solidFill>
                          <a:latin typeface="Work Sans"/>
                          <a:ea typeface="Work Sans"/>
                          <a:cs typeface="Work Sans"/>
                          <a:sym typeface="Work Sans"/>
                        </a:rPr>
                        <a:t>S1</a:t>
                      </a:r>
                      <a:endParaRPr b="1" sz="1200">
                        <a:solidFill>
                          <a:srgbClr val="0F172A"/>
                        </a:solidFill>
                        <a:latin typeface="Work Sans"/>
                        <a:ea typeface="Work Sans"/>
                        <a:cs typeface="Work Sans"/>
                        <a:sym typeface="Work Sans"/>
                      </a:endParaRPr>
                    </a:p>
                  </a:txBody>
                  <a:tcPr marT="50800" marB="50800" marR="63500" marL="63500">
                    <a:solidFill>
                      <a:srgbClr val="F2F2F2"/>
                    </a:solidFill>
                  </a:tcPr>
                </a:tc>
                <a:tc>
                  <a:txBody>
                    <a:bodyPr/>
                    <a:lstStyle/>
                    <a:p>
                      <a:pPr indent="0" lvl="0" marL="0" rtl="0" algn="l">
                        <a:spcBef>
                          <a:spcPts val="0"/>
                        </a:spcBef>
                        <a:spcAft>
                          <a:spcPts val="0"/>
                        </a:spcAft>
                        <a:buNone/>
                      </a:pPr>
                      <a:r>
                        <a:rPr b="1" lang="en-US" sz="1200">
                          <a:solidFill>
                            <a:srgbClr val="0F172A"/>
                          </a:solidFill>
                          <a:latin typeface="Work Sans"/>
                          <a:ea typeface="Work Sans"/>
                          <a:cs typeface="Work Sans"/>
                          <a:sym typeface="Work Sans"/>
                        </a:rPr>
                        <a:t>S2</a:t>
                      </a:r>
                      <a:endParaRPr b="1" sz="1200">
                        <a:solidFill>
                          <a:srgbClr val="0F172A"/>
                        </a:solidFill>
                        <a:latin typeface="Work Sans"/>
                        <a:ea typeface="Work Sans"/>
                        <a:cs typeface="Work Sans"/>
                        <a:sym typeface="Work Sans"/>
                      </a:endParaRPr>
                    </a:p>
                  </a:txBody>
                  <a:tcPr marT="50800" marB="50800" marR="63500" marL="63500">
                    <a:solidFill>
                      <a:srgbClr val="F2F2F2"/>
                    </a:solidFill>
                  </a:tcPr>
                </a:tc>
                <a:tc>
                  <a:txBody>
                    <a:bodyPr/>
                    <a:lstStyle/>
                    <a:p>
                      <a:pPr indent="0" lvl="0" marL="0" rtl="0" algn="l">
                        <a:spcBef>
                          <a:spcPts val="0"/>
                        </a:spcBef>
                        <a:spcAft>
                          <a:spcPts val="0"/>
                        </a:spcAft>
                        <a:buNone/>
                      </a:pPr>
                      <a:r>
                        <a:rPr b="1" lang="en-US" sz="1200">
                          <a:solidFill>
                            <a:srgbClr val="0F172A"/>
                          </a:solidFill>
                          <a:latin typeface="Work Sans"/>
                          <a:ea typeface="Work Sans"/>
                          <a:cs typeface="Work Sans"/>
                          <a:sym typeface="Work Sans"/>
                        </a:rPr>
                        <a:t>S3</a:t>
                      </a:r>
                      <a:endParaRPr b="1" sz="1200">
                        <a:solidFill>
                          <a:srgbClr val="0F172A"/>
                        </a:solidFill>
                        <a:latin typeface="Work Sans"/>
                        <a:ea typeface="Work Sans"/>
                        <a:cs typeface="Work Sans"/>
                        <a:sym typeface="Work Sans"/>
                      </a:endParaRPr>
                    </a:p>
                  </a:txBody>
                  <a:tcPr marT="50800" marB="50800" marR="63500" marL="63500">
                    <a:solidFill>
                      <a:srgbClr val="F2F2F2"/>
                    </a:solidFill>
                  </a:tcPr>
                </a:tc>
                <a:tc>
                  <a:txBody>
                    <a:bodyPr/>
                    <a:lstStyle/>
                    <a:p>
                      <a:pPr indent="0" lvl="0" marL="0" rtl="0" algn="l">
                        <a:spcBef>
                          <a:spcPts val="0"/>
                        </a:spcBef>
                        <a:spcAft>
                          <a:spcPts val="0"/>
                        </a:spcAft>
                        <a:buNone/>
                      </a:pPr>
                      <a:r>
                        <a:rPr b="1" lang="en-US" sz="1200">
                          <a:solidFill>
                            <a:srgbClr val="0F172A"/>
                          </a:solidFill>
                          <a:latin typeface="Work Sans"/>
                          <a:ea typeface="Work Sans"/>
                          <a:cs typeface="Work Sans"/>
                          <a:sym typeface="Work Sans"/>
                        </a:rPr>
                        <a:t>S4</a:t>
                      </a:r>
                      <a:endParaRPr b="1" sz="1200">
                        <a:solidFill>
                          <a:srgbClr val="0F172A"/>
                        </a:solidFill>
                        <a:latin typeface="Work Sans"/>
                        <a:ea typeface="Work Sans"/>
                        <a:cs typeface="Work Sans"/>
                        <a:sym typeface="Work Sans"/>
                      </a:endParaRPr>
                    </a:p>
                  </a:txBody>
                  <a:tcPr marT="50800" marB="50800" marR="63500" marL="63500">
                    <a:solidFill>
                      <a:srgbClr val="F2F2F2"/>
                    </a:solidFill>
                  </a:tcPr>
                </a:tc>
                <a:tc>
                  <a:txBody>
                    <a:bodyPr/>
                    <a:lstStyle/>
                    <a:p>
                      <a:pPr indent="0" lvl="0" marL="0" rtl="0" algn="l">
                        <a:spcBef>
                          <a:spcPts val="0"/>
                        </a:spcBef>
                        <a:spcAft>
                          <a:spcPts val="0"/>
                        </a:spcAft>
                        <a:buNone/>
                      </a:pPr>
                      <a:r>
                        <a:rPr b="1" lang="en-US" sz="1200">
                          <a:solidFill>
                            <a:srgbClr val="0F172A"/>
                          </a:solidFill>
                          <a:latin typeface="Work Sans"/>
                          <a:ea typeface="Work Sans"/>
                          <a:cs typeface="Work Sans"/>
                          <a:sym typeface="Work Sans"/>
                        </a:rPr>
                        <a:t>S5</a:t>
                      </a:r>
                      <a:endParaRPr b="1" sz="1200">
                        <a:solidFill>
                          <a:srgbClr val="0F172A"/>
                        </a:solidFill>
                        <a:latin typeface="Work Sans"/>
                        <a:ea typeface="Work Sans"/>
                        <a:cs typeface="Work Sans"/>
                        <a:sym typeface="Work Sans"/>
                      </a:endParaRPr>
                    </a:p>
                  </a:txBody>
                  <a:tcPr marT="50800" marB="50800" marR="63500" marL="63500">
                    <a:solidFill>
                      <a:srgbClr val="F2F2F2"/>
                    </a:solidFill>
                  </a:tcPr>
                </a:tc>
              </a:tr>
              <a:tr h="572775">
                <a:tc>
                  <a:txBody>
                    <a:bodyPr/>
                    <a:lstStyle/>
                    <a:p>
                      <a:pPr indent="0" lvl="0" marL="0" rtl="0" algn="l">
                        <a:spcBef>
                          <a:spcPts val="0"/>
                        </a:spcBef>
                        <a:spcAft>
                          <a:spcPts val="0"/>
                        </a:spcAft>
                        <a:buClr>
                          <a:schemeClr val="dk1"/>
                        </a:buClr>
                        <a:buFont typeface="Arial"/>
                        <a:buNone/>
                      </a:pPr>
                      <a:r>
                        <a:rPr b="1" lang="en-US" sz="1200">
                          <a:solidFill>
                            <a:srgbClr val="0F172A"/>
                          </a:solidFill>
                          <a:latin typeface="Work Sans"/>
                          <a:ea typeface="Work Sans"/>
                          <a:cs typeface="Work Sans"/>
                          <a:sym typeface="Work Sans"/>
                        </a:rPr>
                        <a:t>Análisis Inicial y Requisitos</a:t>
                      </a:r>
                      <a:endParaRPr sz="1000">
                        <a:latin typeface="Times New Roman"/>
                        <a:ea typeface="Times New Roman"/>
                        <a:cs typeface="Times New Roman"/>
                        <a:sym typeface="Times New Roman"/>
                      </a:endParaRPr>
                    </a:p>
                  </a:txBody>
                  <a:tcPr marT="50800" marB="50800" marR="63500" marL="63500"/>
                </a:tc>
                <a:tc>
                  <a:txBody>
                    <a:bodyPr/>
                    <a:lstStyle/>
                    <a:p>
                      <a:pPr indent="0" lvl="0" marL="0" rtl="0" algn="l">
                        <a:spcBef>
                          <a:spcPts val="0"/>
                        </a:spcBef>
                        <a:spcAft>
                          <a:spcPts val="0"/>
                        </a:spcAft>
                        <a:buNone/>
                      </a:pPr>
                      <a:r>
                        <a:t/>
                      </a:r>
                      <a:endParaRPr sz="1000">
                        <a:latin typeface="Times New Roman"/>
                        <a:ea typeface="Times New Roman"/>
                        <a:cs typeface="Times New Roman"/>
                        <a:sym typeface="Times New Roman"/>
                      </a:endParaRPr>
                    </a:p>
                  </a:txBody>
                  <a:tcPr marT="50800" marB="50800" marR="63500" marL="63500"/>
                </a:tc>
                <a:tc>
                  <a:txBody>
                    <a:bodyPr/>
                    <a:lstStyle/>
                    <a:p>
                      <a:pPr indent="0" lvl="0" marL="0" rtl="0" algn="l">
                        <a:spcBef>
                          <a:spcPts val="0"/>
                        </a:spcBef>
                        <a:spcAft>
                          <a:spcPts val="0"/>
                        </a:spcAft>
                        <a:buNone/>
                      </a:pPr>
                      <a:r>
                        <a:t/>
                      </a:r>
                      <a:endParaRPr sz="1000">
                        <a:latin typeface="Times New Roman"/>
                        <a:ea typeface="Times New Roman"/>
                        <a:cs typeface="Times New Roman"/>
                        <a:sym typeface="Times New Roman"/>
                      </a:endParaRPr>
                    </a:p>
                  </a:txBody>
                  <a:tcPr marT="50800" marB="50800" marR="63500" marL="63500"/>
                </a:tc>
                <a:tc>
                  <a:txBody>
                    <a:bodyPr/>
                    <a:lstStyle/>
                    <a:p>
                      <a:pPr indent="0" lvl="0" marL="0" rtl="0" algn="l">
                        <a:spcBef>
                          <a:spcPts val="0"/>
                        </a:spcBef>
                        <a:spcAft>
                          <a:spcPts val="0"/>
                        </a:spcAft>
                        <a:buNone/>
                      </a:pPr>
                      <a:r>
                        <a:t/>
                      </a:r>
                      <a:endParaRPr sz="1000">
                        <a:latin typeface="Times New Roman"/>
                        <a:ea typeface="Times New Roman"/>
                        <a:cs typeface="Times New Roman"/>
                        <a:sym typeface="Times New Roman"/>
                      </a:endParaRPr>
                    </a:p>
                  </a:txBody>
                  <a:tcPr marT="50800" marB="50800" marR="63500" marL="63500"/>
                </a:tc>
                <a:tc>
                  <a:txBody>
                    <a:bodyPr/>
                    <a:lstStyle/>
                    <a:p>
                      <a:pPr indent="0" lvl="0" marL="0" rtl="0" algn="l">
                        <a:spcBef>
                          <a:spcPts val="0"/>
                        </a:spcBef>
                        <a:spcAft>
                          <a:spcPts val="0"/>
                        </a:spcAft>
                        <a:buNone/>
                      </a:pPr>
                      <a:r>
                        <a:t/>
                      </a:r>
                      <a:endParaRPr sz="1000">
                        <a:latin typeface="Times New Roman"/>
                        <a:ea typeface="Times New Roman"/>
                        <a:cs typeface="Times New Roman"/>
                        <a:sym typeface="Times New Roman"/>
                      </a:endParaRPr>
                    </a:p>
                  </a:txBody>
                  <a:tcPr marT="50800" marB="50800" marR="63500" marL="63500"/>
                </a:tc>
                <a:tc>
                  <a:txBody>
                    <a:bodyPr/>
                    <a:lstStyle/>
                    <a:p>
                      <a:pPr indent="0" lvl="0" marL="0" rtl="0" algn="l">
                        <a:spcBef>
                          <a:spcPts val="0"/>
                        </a:spcBef>
                        <a:spcAft>
                          <a:spcPts val="0"/>
                        </a:spcAft>
                        <a:buNone/>
                      </a:pPr>
                      <a:r>
                        <a:t/>
                      </a:r>
                      <a:endParaRPr sz="1000">
                        <a:latin typeface="Times New Roman"/>
                        <a:ea typeface="Times New Roman"/>
                        <a:cs typeface="Times New Roman"/>
                        <a:sym typeface="Times New Roman"/>
                      </a:endParaRPr>
                    </a:p>
                  </a:txBody>
                  <a:tcPr marT="50800" marB="50800" marR="63500" marL="63500"/>
                </a:tc>
              </a:tr>
              <a:tr h="572775">
                <a:tc>
                  <a:txBody>
                    <a:bodyPr/>
                    <a:lstStyle/>
                    <a:p>
                      <a:pPr indent="0" lvl="0" marL="0" rtl="0" algn="l">
                        <a:spcBef>
                          <a:spcPts val="0"/>
                        </a:spcBef>
                        <a:spcAft>
                          <a:spcPts val="0"/>
                        </a:spcAft>
                        <a:buClr>
                          <a:schemeClr val="dk1"/>
                        </a:buClr>
                        <a:buFont typeface="Arial"/>
                        <a:buNone/>
                      </a:pPr>
                      <a:r>
                        <a:rPr b="1" lang="en-US" sz="1200">
                          <a:solidFill>
                            <a:srgbClr val="0F172A"/>
                          </a:solidFill>
                          <a:latin typeface="Work Sans"/>
                          <a:ea typeface="Work Sans"/>
                          <a:cs typeface="Work Sans"/>
                          <a:sym typeface="Work Sans"/>
                        </a:rPr>
                        <a:t>Plan de Diseño (Wireframes/Mockups)</a:t>
                      </a:r>
                      <a:endParaRPr sz="1000">
                        <a:latin typeface="Times New Roman"/>
                        <a:ea typeface="Times New Roman"/>
                        <a:cs typeface="Times New Roman"/>
                        <a:sym typeface="Times New Roman"/>
                      </a:endParaRPr>
                    </a:p>
                  </a:txBody>
                  <a:tcPr marT="50800" marB="50800" marR="63500" marL="63500"/>
                </a:tc>
                <a:tc>
                  <a:txBody>
                    <a:bodyPr/>
                    <a:lstStyle/>
                    <a:p>
                      <a:pPr indent="0" lvl="0" marL="0" rtl="0" algn="l">
                        <a:spcBef>
                          <a:spcPts val="0"/>
                        </a:spcBef>
                        <a:spcAft>
                          <a:spcPts val="0"/>
                        </a:spcAft>
                        <a:buNone/>
                      </a:pPr>
                      <a:r>
                        <a:t/>
                      </a:r>
                      <a:endParaRPr sz="1000">
                        <a:latin typeface="Times New Roman"/>
                        <a:ea typeface="Times New Roman"/>
                        <a:cs typeface="Times New Roman"/>
                        <a:sym typeface="Times New Roman"/>
                      </a:endParaRPr>
                    </a:p>
                  </a:txBody>
                  <a:tcPr marT="50800" marB="50800" marR="63500" marL="63500"/>
                </a:tc>
                <a:tc>
                  <a:txBody>
                    <a:bodyPr/>
                    <a:lstStyle/>
                    <a:p>
                      <a:pPr indent="0" lvl="0" marL="0" rtl="0" algn="l">
                        <a:spcBef>
                          <a:spcPts val="0"/>
                        </a:spcBef>
                        <a:spcAft>
                          <a:spcPts val="0"/>
                        </a:spcAft>
                        <a:buNone/>
                      </a:pPr>
                      <a:r>
                        <a:t/>
                      </a:r>
                      <a:endParaRPr sz="1000">
                        <a:latin typeface="Times New Roman"/>
                        <a:ea typeface="Times New Roman"/>
                        <a:cs typeface="Times New Roman"/>
                        <a:sym typeface="Times New Roman"/>
                      </a:endParaRPr>
                    </a:p>
                  </a:txBody>
                  <a:tcPr marT="50800" marB="50800" marR="63500" marL="63500"/>
                </a:tc>
                <a:tc>
                  <a:txBody>
                    <a:bodyPr/>
                    <a:lstStyle/>
                    <a:p>
                      <a:pPr indent="0" lvl="0" marL="0" rtl="0" algn="l">
                        <a:spcBef>
                          <a:spcPts val="0"/>
                        </a:spcBef>
                        <a:spcAft>
                          <a:spcPts val="0"/>
                        </a:spcAft>
                        <a:buNone/>
                      </a:pPr>
                      <a:r>
                        <a:t/>
                      </a:r>
                      <a:endParaRPr sz="1000">
                        <a:latin typeface="Times New Roman"/>
                        <a:ea typeface="Times New Roman"/>
                        <a:cs typeface="Times New Roman"/>
                        <a:sym typeface="Times New Roman"/>
                      </a:endParaRPr>
                    </a:p>
                  </a:txBody>
                  <a:tcPr marT="50800" marB="50800" marR="63500" marL="63500"/>
                </a:tc>
                <a:tc>
                  <a:txBody>
                    <a:bodyPr/>
                    <a:lstStyle/>
                    <a:p>
                      <a:pPr indent="0" lvl="0" marL="0" rtl="0" algn="l">
                        <a:spcBef>
                          <a:spcPts val="0"/>
                        </a:spcBef>
                        <a:spcAft>
                          <a:spcPts val="0"/>
                        </a:spcAft>
                        <a:buNone/>
                      </a:pPr>
                      <a:r>
                        <a:t/>
                      </a:r>
                      <a:endParaRPr sz="1000">
                        <a:latin typeface="Times New Roman"/>
                        <a:ea typeface="Times New Roman"/>
                        <a:cs typeface="Times New Roman"/>
                        <a:sym typeface="Times New Roman"/>
                      </a:endParaRPr>
                    </a:p>
                  </a:txBody>
                  <a:tcPr marT="50800" marB="50800" marR="63500" marL="63500"/>
                </a:tc>
                <a:tc>
                  <a:txBody>
                    <a:bodyPr/>
                    <a:lstStyle/>
                    <a:p>
                      <a:pPr indent="0" lvl="0" marL="0" rtl="0" algn="l">
                        <a:spcBef>
                          <a:spcPts val="0"/>
                        </a:spcBef>
                        <a:spcAft>
                          <a:spcPts val="0"/>
                        </a:spcAft>
                        <a:buNone/>
                      </a:pPr>
                      <a:r>
                        <a:t/>
                      </a:r>
                      <a:endParaRPr sz="1000">
                        <a:latin typeface="Times New Roman"/>
                        <a:ea typeface="Times New Roman"/>
                        <a:cs typeface="Times New Roman"/>
                        <a:sym typeface="Times New Roman"/>
                      </a:endParaRPr>
                    </a:p>
                  </a:txBody>
                  <a:tcPr marT="50800" marB="50800" marR="63500" marL="63500"/>
                </a:tc>
              </a:tr>
              <a:tr h="572775">
                <a:tc>
                  <a:txBody>
                    <a:bodyPr/>
                    <a:lstStyle/>
                    <a:p>
                      <a:pPr indent="0" lvl="0" marL="0" rtl="0" algn="l">
                        <a:spcBef>
                          <a:spcPts val="0"/>
                        </a:spcBef>
                        <a:spcAft>
                          <a:spcPts val="0"/>
                        </a:spcAft>
                        <a:buClr>
                          <a:schemeClr val="dk1"/>
                        </a:buClr>
                        <a:buFont typeface="Arial"/>
                        <a:buNone/>
                      </a:pPr>
                      <a:r>
                        <a:rPr b="1" lang="en-US" sz="1200">
                          <a:solidFill>
                            <a:srgbClr val="0F172A"/>
                          </a:solidFill>
                          <a:latin typeface="Work Sans"/>
                          <a:ea typeface="Work Sans"/>
                          <a:cs typeface="Work Sans"/>
                          <a:sym typeface="Work Sans"/>
                        </a:rPr>
                        <a:t>Validación y Pruebas Iniciales</a:t>
                      </a:r>
                      <a:endParaRPr>
                        <a:solidFill>
                          <a:schemeClr val="dk1"/>
                        </a:solidFill>
                      </a:endParaRPr>
                    </a:p>
                    <a:p>
                      <a:pPr indent="0" lvl="0" marL="0" rtl="0" algn="l">
                        <a:spcBef>
                          <a:spcPts val="0"/>
                        </a:spcBef>
                        <a:spcAft>
                          <a:spcPts val="0"/>
                        </a:spcAft>
                        <a:buNone/>
                      </a:pPr>
                      <a:r>
                        <a:t/>
                      </a:r>
                      <a:endParaRPr sz="1000">
                        <a:latin typeface="Times New Roman"/>
                        <a:ea typeface="Times New Roman"/>
                        <a:cs typeface="Times New Roman"/>
                        <a:sym typeface="Times New Roman"/>
                      </a:endParaRPr>
                    </a:p>
                  </a:txBody>
                  <a:tcPr marT="50800" marB="50800" marR="63500" marL="63500"/>
                </a:tc>
                <a:tc>
                  <a:txBody>
                    <a:bodyPr/>
                    <a:lstStyle/>
                    <a:p>
                      <a:pPr indent="0" lvl="0" marL="0" rtl="0" algn="l">
                        <a:spcBef>
                          <a:spcPts val="0"/>
                        </a:spcBef>
                        <a:spcAft>
                          <a:spcPts val="0"/>
                        </a:spcAft>
                        <a:buNone/>
                      </a:pPr>
                      <a:r>
                        <a:t/>
                      </a:r>
                      <a:endParaRPr sz="1000">
                        <a:latin typeface="Times New Roman"/>
                        <a:ea typeface="Times New Roman"/>
                        <a:cs typeface="Times New Roman"/>
                        <a:sym typeface="Times New Roman"/>
                      </a:endParaRPr>
                    </a:p>
                  </a:txBody>
                  <a:tcPr marT="50800" marB="50800" marR="63500" marL="63500"/>
                </a:tc>
                <a:tc>
                  <a:txBody>
                    <a:bodyPr/>
                    <a:lstStyle/>
                    <a:p>
                      <a:pPr indent="0" lvl="0" marL="0" rtl="0" algn="l">
                        <a:spcBef>
                          <a:spcPts val="0"/>
                        </a:spcBef>
                        <a:spcAft>
                          <a:spcPts val="0"/>
                        </a:spcAft>
                        <a:buNone/>
                      </a:pPr>
                      <a:r>
                        <a:t/>
                      </a:r>
                      <a:endParaRPr sz="1000">
                        <a:latin typeface="Times New Roman"/>
                        <a:ea typeface="Times New Roman"/>
                        <a:cs typeface="Times New Roman"/>
                        <a:sym typeface="Times New Roman"/>
                      </a:endParaRPr>
                    </a:p>
                  </a:txBody>
                  <a:tcPr marT="50800" marB="50800" marR="63500" marL="63500"/>
                </a:tc>
                <a:tc>
                  <a:txBody>
                    <a:bodyPr/>
                    <a:lstStyle/>
                    <a:p>
                      <a:pPr indent="0" lvl="0" marL="0" rtl="0" algn="l">
                        <a:spcBef>
                          <a:spcPts val="0"/>
                        </a:spcBef>
                        <a:spcAft>
                          <a:spcPts val="0"/>
                        </a:spcAft>
                        <a:buNone/>
                      </a:pPr>
                      <a:r>
                        <a:t/>
                      </a:r>
                      <a:endParaRPr sz="1000">
                        <a:latin typeface="Times New Roman"/>
                        <a:ea typeface="Times New Roman"/>
                        <a:cs typeface="Times New Roman"/>
                        <a:sym typeface="Times New Roman"/>
                      </a:endParaRPr>
                    </a:p>
                  </a:txBody>
                  <a:tcPr marT="50800" marB="50800" marR="63500" marL="63500"/>
                </a:tc>
                <a:tc>
                  <a:txBody>
                    <a:bodyPr/>
                    <a:lstStyle/>
                    <a:p>
                      <a:pPr indent="0" lvl="0" marL="0" rtl="0" algn="l">
                        <a:spcBef>
                          <a:spcPts val="0"/>
                        </a:spcBef>
                        <a:spcAft>
                          <a:spcPts val="0"/>
                        </a:spcAft>
                        <a:buNone/>
                      </a:pPr>
                      <a:r>
                        <a:t/>
                      </a:r>
                      <a:endParaRPr sz="1000">
                        <a:latin typeface="Times New Roman"/>
                        <a:ea typeface="Times New Roman"/>
                        <a:cs typeface="Times New Roman"/>
                        <a:sym typeface="Times New Roman"/>
                      </a:endParaRPr>
                    </a:p>
                  </a:txBody>
                  <a:tcPr marT="50800" marB="50800" marR="63500" marL="63500"/>
                </a:tc>
                <a:tc>
                  <a:txBody>
                    <a:bodyPr/>
                    <a:lstStyle/>
                    <a:p>
                      <a:pPr indent="0" lvl="0" marL="0" rtl="0" algn="l">
                        <a:spcBef>
                          <a:spcPts val="0"/>
                        </a:spcBef>
                        <a:spcAft>
                          <a:spcPts val="0"/>
                        </a:spcAft>
                        <a:buNone/>
                      </a:pPr>
                      <a:r>
                        <a:t/>
                      </a:r>
                      <a:endParaRPr sz="1000">
                        <a:latin typeface="Times New Roman"/>
                        <a:ea typeface="Times New Roman"/>
                        <a:cs typeface="Times New Roman"/>
                        <a:sym typeface="Times New Roman"/>
                      </a:endParaRPr>
                    </a:p>
                  </a:txBody>
                  <a:tcPr marT="50800" marB="50800" marR="63500" marL="63500"/>
                </a:tc>
              </a:tr>
              <a:tr h="572775">
                <a:tc>
                  <a:txBody>
                    <a:bodyPr/>
                    <a:lstStyle/>
                    <a:p>
                      <a:pPr indent="0" lvl="0" marL="0" rtl="0" algn="l">
                        <a:spcBef>
                          <a:spcPts val="0"/>
                        </a:spcBef>
                        <a:spcAft>
                          <a:spcPts val="0"/>
                        </a:spcAft>
                        <a:buClr>
                          <a:schemeClr val="dk1"/>
                        </a:buClr>
                        <a:buFont typeface="Arial"/>
                        <a:buNone/>
                      </a:pPr>
                      <a:r>
                        <a:rPr b="1" lang="en-US" sz="1200">
                          <a:solidFill>
                            <a:srgbClr val="0F172A"/>
                          </a:solidFill>
                          <a:latin typeface="Work Sans"/>
                          <a:ea typeface="Work Sans"/>
                          <a:cs typeface="Work Sans"/>
                          <a:sym typeface="Work Sans"/>
                        </a:rPr>
                        <a:t>Ajustes y Documentación Final</a:t>
                      </a:r>
                      <a:endParaRPr sz="1000">
                        <a:latin typeface="Times New Roman"/>
                        <a:ea typeface="Times New Roman"/>
                        <a:cs typeface="Times New Roman"/>
                        <a:sym typeface="Times New Roman"/>
                      </a:endParaRPr>
                    </a:p>
                  </a:txBody>
                  <a:tcPr marT="50800" marB="50800" marR="63500" marL="63500"/>
                </a:tc>
                <a:tc>
                  <a:txBody>
                    <a:bodyPr/>
                    <a:lstStyle/>
                    <a:p>
                      <a:pPr indent="0" lvl="0" marL="0" rtl="0" algn="l">
                        <a:spcBef>
                          <a:spcPts val="0"/>
                        </a:spcBef>
                        <a:spcAft>
                          <a:spcPts val="0"/>
                        </a:spcAft>
                        <a:buNone/>
                      </a:pPr>
                      <a:r>
                        <a:t/>
                      </a:r>
                      <a:endParaRPr sz="1000">
                        <a:latin typeface="Times New Roman"/>
                        <a:ea typeface="Times New Roman"/>
                        <a:cs typeface="Times New Roman"/>
                        <a:sym typeface="Times New Roman"/>
                      </a:endParaRPr>
                    </a:p>
                  </a:txBody>
                  <a:tcPr marT="50800" marB="50800" marR="63500" marL="63500"/>
                </a:tc>
                <a:tc>
                  <a:txBody>
                    <a:bodyPr/>
                    <a:lstStyle/>
                    <a:p>
                      <a:pPr indent="0" lvl="0" marL="0" rtl="0" algn="l">
                        <a:spcBef>
                          <a:spcPts val="0"/>
                        </a:spcBef>
                        <a:spcAft>
                          <a:spcPts val="0"/>
                        </a:spcAft>
                        <a:buNone/>
                      </a:pPr>
                      <a:r>
                        <a:t/>
                      </a:r>
                      <a:endParaRPr sz="1000">
                        <a:latin typeface="Times New Roman"/>
                        <a:ea typeface="Times New Roman"/>
                        <a:cs typeface="Times New Roman"/>
                        <a:sym typeface="Times New Roman"/>
                      </a:endParaRPr>
                    </a:p>
                  </a:txBody>
                  <a:tcPr marT="50800" marB="50800" marR="63500" marL="63500"/>
                </a:tc>
                <a:tc>
                  <a:txBody>
                    <a:bodyPr/>
                    <a:lstStyle/>
                    <a:p>
                      <a:pPr indent="0" lvl="0" marL="0" rtl="0" algn="l">
                        <a:spcBef>
                          <a:spcPts val="0"/>
                        </a:spcBef>
                        <a:spcAft>
                          <a:spcPts val="0"/>
                        </a:spcAft>
                        <a:buNone/>
                      </a:pPr>
                      <a:r>
                        <a:t/>
                      </a:r>
                      <a:endParaRPr sz="1000">
                        <a:latin typeface="Times New Roman"/>
                        <a:ea typeface="Times New Roman"/>
                        <a:cs typeface="Times New Roman"/>
                        <a:sym typeface="Times New Roman"/>
                      </a:endParaRPr>
                    </a:p>
                  </a:txBody>
                  <a:tcPr marT="50800" marB="50800" marR="63500" marL="63500"/>
                </a:tc>
                <a:tc>
                  <a:txBody>
                    <a:bodyPr/>
                    <a:lstStyle/>
                    <a:p>
                      <a:pPr indent="0" lvl="0" marL="0" rtl="0" algn="l">
                        <a:spcBef>
                          <a:spcPts val="0"/>
                        </a:spcBef>
                        <a:spcAft>
                          <a:spcPts val="0"/>
                        </a:spcAft>
                        <a:buNone/>
                      </a:pPr>
                      <a:r>
                        <a:t/>
                      </a:r>
                      <a:endParaRPr sz="1000">
                        <a:latin typeface="Times New Roman"/>
                        <a:ea typeface="Times New Roman"/>
                        <a:cs typeface="Times New Roman"/>
                        <a:sym typeface="Times New Roman"/>
                      </a:endParaRPr>
                    </a:p>
                  </a:txBody>
                  <a:tcPr marT="50800" marB="50800" marR="63500" marL="63500"/>
                </a:tc>
                <a:tc>
                  <a:txBody>
                    <a:bodyPr/>
                    <a:lstStyle/>
                    <a:p>
                      <a:pPr indent="0" lvl="0" marL="0" rtl="0" algn="l">
                        <a:spcBef>
                          <a:spcPts val="0"/>
                        </a:spcBef>
                        <a:spcAft>
                          <a:spcPts val="0"/>
                        </a:spcAft>
                        <a:buNone/>
                      </a:pPr>
                      <a:r>
                        <a:t/>
                      </a:r>
                      <a:endParaRPr sz="1000">
                        <a:latin typeface="Times New Roman"/>
                        <a:ea typeface="Times New Roman"/>
                        <a:cs typeface="Times New Roman"/>
                        <a:sym typeface="Times New Roman"/>
                      </a:endParaRPr>
                    </a:p>
                  </a:txBody>
                  <a:tcPr marT="50800" marB="50800" marR="63500" marL="63500"/>
                </a:tc>
              </a:tr>
            </a:tbl>
          </a:graphicData>
        </a:graphic>
      </p:graphicFrame>
      <p:sp>
        <p:nvSpPr>
          <p:cNvPr id="257" name="Google Shape;257;p25"/>
          <p:cNvSpPr/>
          <p:nvPr/>
        </p:nvSpPr>
        <p:spPr>
          <a:xfrm flipH="1" rot="10800000">
            <a:off x="3738675" y="2965869"/>
            <a:ext cx="603000" cy="213000"/>
          </a:xfrm>
          <a:prstGeom prst="roundRect">
            <a:avLst>
              <a:gd fmla="val 50000" name="adj"/>
            </a:avLst>
          </a:prstGeom>
          <a:solidFill>
            <a:srgbClr val="2F91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8" name="Google Shape;258;p25"/>
          <p:cNvSpPr/>
          <p:nvPr/>
        </p:nvSpPr>
        <p:spPr>
          <a:xfrm flipH="1" rot="10800000">
            <a:off x="5021650" y="3568419"/>
            <a:ext cx="603000" cy="213000"/>
          </a:xfrm>
          <a:prstGeom prst="roundRect">
            <a:avLst>
              <a:gd fmla="val 50000" name="adj"/>
            </a:avLst>
          </a:prstGeom>
          <a:solidFill>
            <a:srgbClr val="2F91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9" name="Google Shape;259;p25"/>
          <p:cNvSpPr/>
          <p:nvPr/>
        </p:nvSpPr>
        <p:spPr>
          <a:xfrm flipH="1" rot="10800000">
            <a:off x="6243650" y="3656394"/>
            <a:ext cx="603000" cy="213000"/>
          </a:xfrm>
          <a:prstGeom prst="roundRect">
            <a:avLst>
              <a:gd fmla="val 50000" name="adj"/>
            </a:avLst>
          </a:prstGeom>
          <a:solidFill>
            <a:srgbClr val="2F91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0" name="Google Shape;260;p25"/>
          <p:cNvSpPr/>
          <p:nvPr/>
        </p:nvSpPr>
        <p:spPr>
          <a:xfrm flipH="1" rot="10800000">
            <a:off x="7441850" y="4112919"/>
            <a:ext cx="603000" cy="213000"/>
          </a:xfrm>
          <a:prstGeom prst="roundRect">
            <a:avLst>
              <a:gd fmla="val 50000" name="adj"/>
            </a:avLst>
          </a:prstGeom>
          <a:solidFill>
            <a:srgbClr val="2F91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1" name="Google Shape;261;p25"/>
          <p:cNvSpPr/>
          <p:nvPr/>
        </p:nvSpPr>
        <p:spPr>
          <a:xfrm flipH="1" rot="10800000">
            <a:off x="8798925" y="4779144"/>
            <a:ext cx="603000" cy="213000"/>
          </a:xfrm>
          <a:prstGeom prst="roundRect">
            <a:avLst>
              <a:gd fmla="val 50000" name="adj"/>
            </a:avLst>
          </a:prstGeom>
          <a:solidFill>
            <a:srgbClr val="2F91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265" name="Shape 265"/>
        <p:cNvGrpSpPr/>
        <p:nvPr/>
      </p:nvGrpSpPr>
      <p:grpSpPr>
        <a:xfrm>
          <a:off x="0" y="0"/>
          <a:ext cx="0" cy="0"/>
          <a:chOff x="0" y="0"/>
          <a:chExt cx="0" cy="0"/>
        </a:xfrm>
      </p:grpSpPr>
      <p:sp>
        <p:nvSpPr>
          <p:cNvPr id="266" name="Google Shape;266;p26"/>
          <p:cNvSpPr/>
          <p:nvPr/>
        </p:nvSpPr>
        <p:spPr>
          <a:xfrm>
            <a:off x="7594550" y="3014662"/>
            <a:ext cx="3987849" cy="1704975"/>
          </a:xfrm>
          <a:prstGeom prst="roundRect">
            <a:avLst>
              <a:gd fmla="val 6703" name="adj"/>
            </a:avLst>
          </a:prstGeom>
          <a:solidFill>
            <a:srgbClr val="FFFFFF"/>
          </a:solidFill>
          <a:ln cap="flat" cmpd="sng" w="952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7" name="Google Shape;267;p26"/>
          <p:cNvSpPr/>
          <p:nvPr/>
        </p:nvSpPr>
        <p:spPr>
          <a:xfrm>
            <a:off x="609600" y="2971800"/>
            <a:ext cx="6718250" cy="1790700"/>
          </a:xfrm>
          <a:prstGeom prst="roundRect">
            <a:avLst>
              <a:gd fmla="val 0" name="adj"/>
            </a:avLst>
          </a:prstGeom>
          <a:solidFill>
            <a:srgbClr val="FFFFFF"/>
          </a:solidFill>
          <a:ln cap="flat" cmpd="sng" w="9525">
            <a:solidFill>
              <a:srgbClr val="4A7DBA"/>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aphicFrame>
        <p:nvGraphicFramePr>
          <p:cNvPr id="268" name="Google Shape;268;p26"/>
          <p:cNvGraphicFramePr/>
          <p:nvPr/>
        </p:nvGraphicFramePr>
        <p:xfrm>
          <a:off x="609600" y="2971800"/>
          <a:ext cx="3000000" cy="3000000"/>
        </p:xfrm>
        <a:graphic>
          <a:graphicData uri="http://schemas.openxmlformats.org/drawingml/2006/table">
            <a:tbl>
              <a:tblPr>
                <a:noFill/>
                <a:tableStyleId>{FF98CAC7-E04E-48D0-B0AF-D407BFE19C45}</a:tableStyleId>
              </a:tblPr>
              <a:tblGrid>
                <a:gridCol w="2800800"/>
                <a:gridCol w="1012325"/>
                <a:gridCol w="1579225"/>
                <a:gridCol w="1316375"/>
              </a:tblGrid>
              <a:tr h="447675">
                <a:tc>
                  <a:txBody>
                    <a:bodyPr/>
                    <a:lstStyle/>
                    <a:p>
                      <a:pPr indent="0" lvl="0" marL="0" marR="0" rtl="0" algn="l">
                        <a:spcBef>
                          <a:spcPts val="0"/>
                        </a:spcBef>
                        <a:spcAft>
                          <a:spcPts val="0"/>
                        </a:spcAft>
                        <a:buNone/>
                      </a:pPr>
                      <a:r>
                        <a:rPr b="1" i="0" lang="en-US" sz="1125" u="none" cap="none" strike="noStrike">
                          <a:solidFill>
                            <a:srgbClr val="0F172A"/>
                          </a:solidFill>
                          <a:latin typeface="Work Sans"/>
                          <a:ea typeface="Work Sans"/>
                          <a:cs typeface="Work Sans"/>
                          <a:sym typeface="Work Sans"/>
                        </a:rPr>
                        <a:t>Integrante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1F5F9"/>
                    </a:solidFill>
                  </a:tcPr>
                </a:tc>
                <a:tc>
                  <a:txBody>
                    <a:bodyPr/>
                    <a:lstStyle/>
                    <a:p>
                      <a:pPr indent="0" lvl="0" marL="0" marR="0" rtl="0" algn="l">
                        <a:spcBef>
                          <a:spcPts val="0"/>
                        </a:spcBef>
                        <a:spcAft>
                          <a:spcPts val="0"/>
                        </a:spcAft>
                        <a:buNone/>
                      </a:pPr>
                      <a:r>
                        <a:rPr b="1" i="0" lang="en-US" sz="1125" u="none" cap="none" strike="noStrike">
                          <a:solidFill>
                            <a:srgbClr val="0F172A"/>
                          </a:solidFill>
                          <a:latin typeface="Work Sans"/>
                          <a:ea typeface="Work Sans"/>
                          <a:cs typeface="Work Sans"/>
                          <a:sym typeface="Work Sans"/>
                        </a:rPr>
                        <a:t>Horas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1F5F9"/>
                    </a:solidFill>
                  </a:tcPr>
                </a:tc>
                <a:tc>
                  <a:txBody>
                    <a:bodyPr/>
                    <a:lstStyle/>
                    <a:p>
                      <a:pPr indent="0" lvl="0" marL="0" marR="0" rtl="0" algn="l">
                        <a:spcBef>
                          <a:spcPts val="0"/>
                        </a:spcBef>
                        <a:spcAft>
                          <a:spcPts val="0"/>
                        </a:spcAft>
                        <a:buNone/>
                      </a:pPr>
                      <a:r>
                        <a:rPr b="1" i="0" lang="en-US" sz="1125" u="none" cap="none" strike="noStrike">
                          <a:solidFill>
                            <a:srgbClr val="0F172A"/>
                          </a:solidFill>
                          <a:latin typeface="Work Sans"/>
                          <a:ea typeface="Work Sans"/>
                          <a:cs typeface="Work Sans"/>
                          <a:sym typeface="Work Sans"/>
                        </a:rPr>
                        <a:t>Coste/Hora</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1F5F9"/>
                    </a:solidFill>
                  </a:tcPr>
                </a:tc>
                <a:tc>
                  <a:txBody>
                    <a:bodyPr/>
                    <a:lstStyle/>
                    <a:p>
                      <a:pPr indent="0" lvl="0" marL="0" marR="0" rtl="0" algn="l">
                        <a:spcBef>
                          <a:spcPts val="0"/>
                        </a:spcBef>
                        <a:spcAft>
                          <a:spcPts val="0"/>
                        </a:spcAft>
                        <a:buNone/>
                      </a:pPr>
                      <a:r>
                        <a:rPr b="1" i="0" lang="en-US" sz="1125" u="none" cap="none" strike="noStrike">
                          <a:solidFill>
                            <a:srgbClr val="0F172A"/>
                          </a:solidFill>
                          <a:latin typeface="Work Sans"/>
                          <a:ea typeface="Work Sans"/>
                          <a:cs typeface="Work Sans"/>
                          <a:sym typeface="Work Sans"/>
                        </a:rPr>
                        <a:t>Subtotal</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1F5F9"/>
                    </a:solidFill>
                  </a:tcPr>
                </a:tc>
              </a:tr>
              <a:tr h="447675">
                <a:tc>
                  <a:txBody>
                    <a:bodyPr/>
                    <a:lstStyle/>
                    <a:p>
                      <a:pPr indent="0" lvl="0" marL="0" marR="0" rtl="0" algn="l">
                        <a:spcBef>
                          <a:spcPts val="0"/>
                        </a:spcBef>
                        <a:spcAft>
                          <a:spcPts val="0"/>
                        </a:spcAft>
                        <a:buNone/>
                      </a:pPr>
                      <a:r>
                        <a:rPr b="0" i="0" lang="en-US" sz="1125" u="none" cap="none" strike="noStrike">
                          <a:solidFill>
                            <a:srgbClr val="0F172A"/>
                          </a:solidFill>
                          <a:latin typeface="Work Sans"/>
                          <a:ea typeface="Work Sans"/>
                          <a:cs typeface="Work Sans"/>
                          <a:sym typeface="Work Sans"/>
                        </a:rPr>
                        <a:t>Daniel Jiménez Ramírez</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i="0" lang="en-US" sz="1125" u="none" cap="none" strike="noStrike">
                          <a:solidFill>
                            <a:srgbClr val="475569"/>
                          </a:solidFill>
                          <a:latin typeface="Work Sans"/>
                          <a:ea typeface="Work Sans"/>
                          <a:cs typeface="Work Sans"/>
                          <a:sym typeface="Work Sans"/>
                        </a:rPr>
                        <a:t>200 h</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en-US" sz="1125">
                          <a:solidFill>
                            <a:srgbClr val="475569"/>
                          </a:solidFill>
                          <a:latin typeface="Work Sans"/>
                          <a:ea typeface="Work Sans"/>
                          <a:cs typeface="Work Sans"/>
                          <a:sym typeface="Work Sans"/>
                        </a:rPr>
                        <a:t>18</a:t>
                      </a:r>
                      <a:r>
                        <a:rPr b="0" i="0" lang="en-US" sz="1125" u="none" cap="none" strike="noStrike">
                          <a:solidFill>
                            <a:srgbClr val="475569"/>
                          </a:solidFill>
                          <a:latin typeface="Work Sans"/>
                          <a:ea typeface="Work Sans"/>
                          <a:cs typeface="Work Sans"/>
                          <a:sym typeface="Work Sans"/>
                        </a:rPr>
                        <a:t> €</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1" lang="en-US" sz="1125">
                          <a:solidFill>
                            <a:srgbClr val="0F172A"/>
                          </a:solidFill>
                          <a:latin typeface="Work Sans"/>
                          <a:ea typeface="Work Sans"/>
                          <a:cs typeface="Work Sans"/>
                          <a:sym typeface="Work Sans"/>
                        </a:rPr>
                        <a:t>3.600 </a:t>
                      </a:r>
                      <a:r>
                        <a:rPr b="1" i="0" lang="en-US" sz="1125" u="none" cap="none" strike="noStrike">
                          <a:solidFill>
                            <a:srgbClr val="0F172A"/>
                          </a:solidFill>
                          <a:latin typeface="Work Sans"/>
                          <a:ea typeface="Work Sans"/>
                          <a:cs typeface="Work Sans"/>
                          <a:sym typeface="Work Sans"/>
                        </a:rPr>
                        <a: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r h="447675">
                <a:tc>
                  <a:txBody>
                    <a:bodyPr/>
                    <a:lstStyle/>
                    <a:p>
                      <a:pPr indent="0" lvl="0" marL="0" marR="0" rtl="0" algn="l">
                        <a:spcBef>
                          <a:spcPts val="0"/>
                        </a:spcBef>
                        <a:spcAft>
                          <a:spcPts val="0"/>
                        </a:spcAft>
                        <a:buNone/>
                      </a:pPr>
                      <a:r>
                        <a:rPr b="0" i="0" lang="en-US" sz="1125" u="none" cap="none" strike="noStrike">
                          <a:solidFill>
                            <a:srgbClr val="0F172A"/>
                          </a:solidFill>
                          <a:latin typeface="Work Sans"/>
                          <a:ea typeface="Work Sans"/>
                          <a:cs typeface="Work Sans"/>
                          <a:sym typeface="Work Sans"/>
                        </a:rPr>
                        <a:t>Pepe Gil Cué</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i="0" lang="en-US" sz="1125" u="none" cap="none" strike="noStrike">
                          <a:solidFill>
                            <a:srgbClr val="475569"/>
                          </a:solidFill>
                          <a:latin typeface="Work Sans"/>
                          <a:ea typeface="Work Sans"/>
                          <a:cs typeface="Work Sans"/>
                          <a:sym typeface="Work Sans"/>
                        </a:rPr>
                        <a:t>200 h</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en-US" sz="1125">
                          <a:solidFill>
                            <a:srgbClr val="475569"/>
                          </a:solidFill>
                          <a:latin typeface="Work Sans"/>
                          <a:ea typeface="Work Sans"/>
                          <a:cs typeface="Work Sans"/>
                          <a:sym typeface="Work Sans"/>
                        </a:rPr>
                        <a:t>18</a:t>
                      </a:r>
                      <a:r>
                        <a:rPr b="0" i="0" lang="en-US" sz="1125" u="none" cap="none" strike="noStrike">
                          <a:solidFill>
                            <a:srgbClr val="475569"/>
                          </a:solidFill>
                          <a:latin typeface="Work Sans"/>
                          <a:ea typeface="Work Sans"/>
                          <a:cs typeface="Work Sans"/>
                          <a:sym typeface="Work Sans"/>
                        </a:rPr>
                        <a:t> €</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rtl="0" algn="l">
                        <a:spcBef>
                          <a:spcPts val="0"/>
                        </a:spcBef>
                        <a:spcAft>
                          <a:spcPts val="0"/>
                        </a:spcAft>
                        <a:buClr>
                          <a:schemeClr val="dk1"/>
                        </a:buClr>
                        <a:buFont typeface="Arial"/>
                        <a:buNone/>
                      </a:pPr>
                      <a:r>
                        <a:rPr b="1" lang="en-US" sz="1125">
                          <a:solidFill>
                            <a:srgbClr val="0F172A"/>
                          </a:solidFill>
                          <a:latin typeface="Work Sans"/>
                          <a:ea typeface="Work Sans"/>
                          <a:cs typeface="Work Sans"/>
                          <a:sym typeface="Work Sans"/>
                        </a:rPr>
                        <a:t>3.600 €</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r h="447675">
                <a:tc>
                  <a:txBody>
                    <a:bodyPr/>
                    <a:lstStyle/>
                    <a:p>
                      <a:pPr indent="0" lvl="0" marL="0" marR="0" rtl="0" algn="l">
                        <a:spcBef>
                          <a:spcPts val="0"/>
                        </a:spcBef>
                        <a:spcAft>
                          <a:spcPts val="0"/>
                        </a:spcAft>
                        <a:buNone/>
                      </a:pPr>
                      <a:r>
                        <a:rPr b="0" i="0" lang="en-US" sz="1125" u="none" cap="none" strike="noStrike">
                          <a:solidFill>
                            <a:srgbClr val="0F172A"/>
                          </a:solidFill>
                          <a:latin typeface="Work Sans"/>
                          <a:ea typeface="Work Sans"/>
                          <a:cs typeface="Work Sans"/>
                          <a:sym typeface="Work Sans"/>
                        </a:rPr>
                        <a:t>Daniel Ortiz</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i="0" lang="en-US" sz="1125" u="none" cap="none" strike="noStrike">
                          <a:solidFill>
                            <a:srgbClr val="475569"/>
                          </a:solidFill>
                          <a:latin typeface="Work Sans"/>
                          <a:ea typeface="Work Sans"/>
                          <a:cs typeface="Work Sans"/>
                          <a:sym typeface="Work Sans"/>
                        </a:rPr>
                        <a:t>200 h</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en-US" sz="1125">
                          <a:solidFill>
                            <a:srgbClr val="475569"/>
                          </a:solidFill>
                          <a:latin typeface="Work Sans"/>
                          <a:ea typeface="Work Sans"/>
                          <a:cs typeface="Work Sans"/>
                          <a:sym typeface="Work Sans"/>
                        </a:rPr>
                        <a:t>18</a:t>
                      </a:r>
                      <a:r>
                        <a:rPr b="0" i="0" lang="en-US" sz="1125" u="none" cap="none" strike="noStrike">
                          <a:solidFill>
                            <a:srgbClr val="475569"/>
                          </a:solidFill>
                          <a:latin typeface="Work Sans"/>
                          <a:ea typeface="Work Sans"/>
                          <a:cs typeface="Work Sans"/>
                          <a:sym typeface="Work Sans"/>
                        </a:rPr>
                        <a:t> €</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rtl="0" algn="l">
                        <a:spcBef>
                          <a:spcPts val="0"/>
                        </a:spcBef>
                        <a:spcAft>
                          <a:spcPts val="0"/>
                        </a:spcAft>
                        <a:buClr>
                          <a:schemeClr val="dk1"/>
                        </a:buClr>
                        <a:buFont typeface="Arial"/>
                        <a:buNone/>
                      </a:pPr>
                      <a:r>
                        <a:rPr b="1" lang="en-US" sz="1125">
                          <a:solidFill>
                            <a:srgbClr val="0F172A"/>
                          </a:solidFill>
                          <a:latin typeface="Work Sans"/>
                          <a:ea typeface="Work Sans"/>
                          <a:cs typeface="Work Sans"/>
                          <a:sym typeface="Work Sans"/>
                        </a:rPr>
                        <a:t>3.600 €</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bl>
          </a:graphicData>
        </a:graphic>
      </p:graphicFrame>
      <p:sp>
        <p:nvSpPr>
          <p:cNvPr id="269" name="Google Shape;269;p26"/>
          <p:cNvSpPr txBox="1"/>
          <p:nvPr/>
        </p:nvSpPr>
        <p:spPr>
          <a:xfrm>
            <a:off x="609600" y="457200"/>
            <a:ext cx="11582400" cy="171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2F91F9"/>
                </a:solidFill>
                <a:latin typeface="JetBrains Mono"/>
                <a:ea typeface="JetBrains Mono"/>
                <a:cs typeface="JetBrains Mono"/>
                <a:sym typeface="JetBrains Mono"/>
              </a:rPr>
              <a:t>4. PRESUPUESTO BÁSICO</a:t>
            </a:r>
            <a:endParaRPr/>
          </a:p>
        </p:txBody>
      </p:sp>
      <p:sp>
        <p:nvSpPr>
          <p:cNvPr id="270" name="Google Shape;270;p26"/>
          <p:cNvSpPr txBox="1"/>
          <p:nvPr/>
        </p:nvSpPr>
        <p:spPr>
          <a:xfrm>
            <a:off x="609600" y="704850"/>
            <a:ext cx="11582400" cy="3619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400" u="none" cap="none" strike="noStrike">
                <a:solidFill>
                  <a:srgbClr val="0F172A"/>
                </a:solidFill>
                <a:latin typeface="Work Sans"/>
                <a:ea typeface="Work Sans"/>
                <a:cs typeface="Work Sans"/>
                <a:sym typeface="Work Sans"/>
              </a:rPr>
              <a:t>Estimación de Recursos Humanos</a:t>
            </a:r>
            <a:endParaRPr/>
          </a:p>
        </p:txBody>
      </p:sp>
      <p:sp>
        <p:nvSpPr>
          <p:cNvPr id="271" name="Google Shape;271;p26"/>
          <p:cNvSpPr txBox="1"/>
          <p:nvPr/>
        </p:nvSpPr>
        <p:spPr>
          <a:xfrm>
            <a:off x="7488975" y="3328987"/>
            <a:ext cx="4198999" cy="15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050" u="none" cap="none" strike="noStrike">
                <a:solidFill>
                  <a:srgbClr val="64748B"/>
                </a:solidFill>
                <a:latin typeface="Work Sans"/>
                <a:ea typeface="Work Sans"/>
                <a:cs typeface="Work Sans"/>
                <a:sym typeface="Work Sans"/>
              </a:rPr>
              <a:t>TOTAL TRABAJO ESTIMADO</a:t>
            </a:r>
            <a:endParaRPr/>
          </a:p>
        </p:txBody>
      </p:sp>
      <p:sp>
        <p:nvSpPr>
          <p:cNvPr id="272" name="Google Shape;272;p26"/>
          <p:cNvSpPr txBox="1"/>
          <p:nvPr/>
        </p:nvSpPr>
        <p:spPr>
          <a:xfrm>
            <a:off x="7488975" y="3557587"/>
            <a:ext cx="4199100" cy="5541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3600">
                <a:solidFill>
                  <a:srgbClr val="2F91F9"/>
                </a:solidFill>
                <a:latin typeface="JetBrains Mono"/>
                <a:ea typeface="JetBrains Mono"/>
                <a:cs typeface="JetBrains Mono"/>
                <a:sym typeface="JetBrains Mono"/>
              </a:rPr>
              <a:t>10</a:t>
            </a:r>
            <a:r>
              <a:rPr b="1" i="0" lang="en-US" sz="3600" u="none" cap="none" strike="noStrike">
                <a:solidFill>
                  <a:srgbClr val="2F91F9"/>
                </a:solidFill>
                <a:latin typeface="JetBrains Mono"/>
                <a:ea typeface="JetBrains Mono"/>
                <a:cs typeface="JetBrains Mono"/>
                <a:sym typeface="JetBrains Mono"/>
              </a:rPr>
              <a:t>.</a:t>
            </a:r>
            <a:r>
              <a:rPr b="1" lang="en-US" sz="3600">
                <a:solidFill>
                  <a:srgbClr val="2F91F9"/>
                </a:solidFill>
                <a:latin typeface="JetBrains Mono"/>
                <a:ea typeface="JetBrains Mono"/>
                <a:cs typeface="JetBrains Mono"/>
                <a:sym typeface="JetBrains Mono"/>
              </a:rPr>
              <a:t>8</a:t>
            </a:r>
            <a:r>
              <a:rPr b="1" i="0" lang="en-US" sz="3600" u="none" cap="none" strike="noStrike">
                <a:solidFill>
                  <a:srgbClr val="2F91F9"/>
                </a:solidFill>
                <a:latin typeface="JetBrains Mono"/>
                <a:ea typeface="JetBrains Mono"/>
                <a:cs typeface="JetBrains Mono"/>
                <a:sym typeface="JetBrains Mono"/>
              </a:rPr>
              <a:t>00 €</a:t>
            </a:r>
            <a:endParaRPr/>
          </a:p>
        </p:txBody>
      </p:sp>
      <p:sp>
        <p:nvSpPr>
          <p:cNvPr id="273" name="Google Shape;273;p26"/>
          <p:cNvSpPr txBox="1"/>
          <p:nvPr/>
        </p:nvSpPr>
        <p:spPr>
          <a:xfrm>
            <a:off x="7488975" y="4233862"/>
            <a:ext cx="4198999" cy="1714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125" u="none" cap="none" strike="noStrike">
                <a:solidFill>
                  <a:srgbClr val="475569"/>
                </a:solidFill>
                <a:latin typeface="Work Sans"/>
                <a:ea typeface="Work Sans"/>
                <a:cs typeface="Work Sans"/>
                <a:sym typeface="Work Sans"/>
              </a:rPr>
              <a:t>600 horas totales de dedicación en equipo.</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277" name="Shape 277"/>
        <p:cNvGrpSpPr/>
        <p:nvPr/>
      </p:nvGrpSpPr>
      <p:grpSpPr>
        <a:xfrm>
          <a:off x="0" y="0"/>
          <a:ext cx="0" cy="0"/>
          <a:chOff x="0" y="0"/>
          <a:chExt cx="0" cy="0"/>
        </a:xfrm>
      </p:grpSpPr>
      <p:sp>
        <p:nvSpPr>
          <p:cNvPr id="278" name="Google Shape;278;p27"/>
          <p:cNvSpPr/>
          <p:nvPr/>
        </p:nvSpPr>
        <p:spPr>
          <a:xfrm>
            <a:off x="609600" y="2158537"/>
            <a:ext cx="3505200" cy="1609800"/>
          </a:xfrm>
          <a:prstGeom prst="roundRect">
            <a:avLst>
              <a:gd fmla="val 7100" name="adj"/>
            </a:avLst>
          </a:prstGeom>
          <a:solidFill>
            <a:srgbClr val="FFFFFF"/>
          </a:solidFill>
          <a:ln cap="flat" cmpd="sng" w="952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9" name="Google Shape;279;p27"/>
          <p:cNvSpPr/>
          <p:nvPr/>
        </p:nvSpPr>
        <p:spPr>
          <a:xfrm>
            <a:off x="4343400" y="2158537"/>
            <a:ext cx="3505200" cy="1609800"/>
          </a:xfrm>
          <a:prstGeom prst="roundRect">
            <a:avLst>
              <a:gd fmla="val 7100" name="adj"/>
            </a:avLst>
          </a:prstGeom>
          <a:solidFill>
            <a:srgbClr val="FFFFFF"/>
          </a:solidFill>
          <a:ln cap="flat" cmpd="sng" w="952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0" name="Google Shape;280;p27"/>
          <p:cNvSpPr/>
          <p:nvPr/>
        </p:nvSpPr>
        <p:spPr>
          <a:xfrm>
            <a:off x="8077200" y="2158537"/>
            <a:ext cx="3505200" cy="1609800"/>
          </a:xfrm>
          <a:prstGeom prst="roundRect">
            <a:avLst>
              <a:gd fmla="val 7100" name="adj"/>
            </a:avLst>
          </a:prstGeom>
          <a:solidFill>
            <a:srgbClr val="FFFFFF"/>
          </a:solidFill>
          <a:ln cap="flat" cmpd="sng" w="952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1" name="Google Shape;281;p27"/>
          <p:cNvSpPr txBox="1"/>
          <p:nvPr/>
        </p:nvSpPr>
        <p:spPr>
          <a:xfrm>
            <a:off x="609600" y="457200"/>
            <a:ext cx="11582400" cy="171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2F91F9"/>
                </a:solidFill>
                <a:latin typeface="JetBrains Mono"/>
                <a:ea typeface="JetBrains Mono"/>
                <a:cs typeface="JetBrains Mono"/>
                <a:sym typeface="JetBrains Mono"/>
              </a:rPr>
              <a:t>4. PRESUPUESTO BÁSICO</a:t>
            </a:r>
            <a:endParaRPr/>
          </a:p>
        </p:txBody>
      </p:sp>
      <p:sp>
        <p:nvSpPr>
          <p:cNvPr id="282" name="Google Shape;282;p27"/>
          <p:cNvSpPr txBox="1"/>
          <p:nvPr/>
        </p:nvSpPr>
        <p:spPr>
          <a:xfrm>
            <a:off x="609600" y="704850"/>
            <a:ext cx="11582400" cy="3619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400" u="none" cap="none" strike="noStrike">
                <a:solidFill>
                  <a:srgbClr val="0F172A"/>
                </a:solidFill>
                <a:latin typeface="Work Sans"/>
                <a:ea typeface="Work Sans"/>
                <a:cs typeface="Work Sans"/>
                <a:sym typeface="Work Sans"/>
              </a:rPr>
              <a:t>Herramientas, Licencias y Otros Gastos</a:t>
            </a:r>
            <a:endParaRPr/>
          </a:p>
        </p:txBody>
      </p:sp>
      <p:sp>
        <p:nvSpPr>
          <p:cNvPr id="283" name="Google Shape;283;p27"/>
          <p:cNvSpPr txBox="1"/>
          <p:nvPr/>
        </p:nvSpPr>
        <p:spPr>
          <a:xfrm>
            <a:off x="876300" y="2701462"/>
            <a:ext cx="3067200" cy="231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0F172A"/>
                </a:solidFill>
                <a:latin typeface="Work Sans"/>
                <a:ea typeface="Work Sans"/>
                <a:cs typeface="Work Sans"/>
                <a:sym typeface="Work Sans"/>
              </a:rPr>
              <a:t>0 € (Open Source)</a:t>
            </a:r>
            <a:endParaRPr/>
          </a:p>
        </p:txBody>
      </p:sp>
      <p:sp>
        <p:nvSpPr>
          <p:cNvPr id="284" name="Google Shape;284;p27"/>
          <p:cNvSpPr txBox="1"/>
          <p:nvPr/>
        </p:nvSpPr>
        <p:spPr>
          <a:xfrm>
            <a:off x="4610100" y="2701462"/>
            <a:ext cx="3067200" cy="231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0F172A"/>
                </a:solidFill>
                <a:latin typeface="Work Sans"/>
                <a:ea typeface="Work Sans"/>
                <a:cs typeface="Work Sans"/>
                <a:sym typeface="Work Sans"/>
              </a:rPr>
              <a:t>0 €</a:t>
            </a:r>
            <a:endParaRPr/>
          </a:p>
        </p:txBody>
      </p:sp>
      <p:sp>
        <p:nvSpPr>
          <p:cNvPr id="285" name="Google Shape;285;p27"/>
          <p:cNvSpPr txBox="1"/>
          <p:nvPr/>
        </p:nvSpPr>
        <p:spPr>
          <a:xfrm>
            <a:off x="8343900" y="2701462"/>
            <a:ext cx="3067200" cy="231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0F172A"/>
                </a:solidFill>
                <a:latin typeface="Work Sans"/>
                <a:ea typeface="Work Sans"/>
                <a:cs typeface="Work Sans"/>
                <a:sym typeface="Work Sans"/>
              </a:rPr>
              <a:t>15</a:t>
            </a:r>
            <a:r>
              <a:rPr b="1" i="0" lang="en-US" sz="1500" u="none" cap="none" strike="noStrike">
                <a:solidFill>
                  <a:srgbClr val="0F172A"/>
                </a:solidFill>
                <a:latin typeface="Work Sans"/>
                <a:ea typeface="Work Sans"/>
                <a:cs typeface="Work Sans"/>
                <a:sym typeface="Work Sans"/>
              </a:rPr>
              <a:t> €/año + </a:t>
            </a:r>
            <a:r>
              <a:rPr b="1" lang="en-US" sz="1500">
                <a:solidFill>
                  <a:srgbClr val="0F172A"/>
                </a:solidFill>
                <a:latin typeface="Work Sans"/>
                <a:ea typeface="Work Sans"/>
                <a:cs typeface="Work Sans"/>
                <a:sym typeface="Work Sans"/>
              </a:rPr>
              <a:t>300 €/año</a:t>
            </a:r>
            <a:endParaRPr/>
          </a:p>
        </p:txBody>
      </p:sp>
      <p:sp>
        <p:nvSpPr>
          <p:cNvPr id="286" name="Google Shape;286;p27"/>
          <p:cNvSpPr txBox="1"/>
          <p:nvPr/>
        </p:nvSpPr>
        <p:spPr>
          <a:xfrm>
            <a:off x="885825" y="2434762"/>
            <a:ext cx="3875400" cy="207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50" u="none" cap="none" strike="noStrike">
                <a:solidFill>
                  <a:srgbClr val="0F172A"/>
                </a:solidFill>
                <a:latin typeface="Work Sans"/>
                <a:ea typeface="Work Sans"/>
                <a:cs typeface="Work Sans"/>
                <a:sym typeface="Work Sans"/>
              </a:rPr>
              <a:t>Herramientas &amp; Software</a:t>
            </a:r>
            <a:endParaRPr/>
          </a:p>
        </p:txBody>
      </p:sp>
      <p:sp>
        <p:nvSpPr>
          <p:cNvPr id="287" name="Google Shape;287;p27"/>
          <p:cNvSpPr txBox="1"/>
          <p:nvPr/>
        </p:nvSpPr>
        <p:spPr>
          <a:xfrm>
            <a:off x="895350" y="3158662"/>
            <a:ext cx="3048000" cy="346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125" u="none" cap="none" strike="noStrike">
                <a:solidFill>
                  <a:srgbClr val="475569"/>
                </a:solidFill>
                <a:latin typeface="Work Sans"/>
                <a:ea typeface="Work Sans"/>
                <a:cs typeface="Work Sans"/>
                <a:sym typeface="Work Sans"/>
              </a:rPr>
              <a:t>VS Code, Angular, Node.js, Express, MySQL, Git, GitHub y Figma.</a:t>
            </a:r>
            <a:endParaRPr/>
          </a:p>
        </p:txBody>
      </p:sp>
      <p:sp>
        <p:nvSpPr>
          <p:cNvPr id="288" name="Google Shape;288;p27"/>
          <p:cNvSpPr txBox="1"/>
          <p:nvPr/>
        </p:nvSpPr>
        <p:spPr>
          <a:xfrm>
            <a:off x="4619625" y="2434762"/>
            <a:ext cx="3875400" cy="207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50" u="none" cap="none" strike="noStrike">
                <a:solidFill>
                  <a:srgbClr val="0F172A"/>
                </a:solidFill>
                <a:latin typeface="Work Sans"/>
                <a:ea typeface="Work Sans"/>
                <a:cs typeface="Work Sans"/>
                <a:sym typeface="Work Sans"/>
              </a:rPr>
              <a:t>Pruebas</a:t>
            </a:r>
            <a:endParaRPr/>
          </a:p>
        </p:txBody>
      </p:sp>
      <p:sp>
        <p:nvSpPr>
          <p:cNvPr id="289" name="Google Shape;289;p27"/>
          <p:cNvSpPr txBox="1"/>
          <p:nvPr/>
        </p:nvSpPr>
        <p:spPr>
          <a:xfrm>
            <a:off x="4572000" y="3161962"/>
            <a:ext cx="3048000" cy="346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125" u="none" cap="none" strike="noStrike">
                <a:solidFill>
                  <a:srgbClr val="475569"/>
                </a:solidFill>
                <a:latin typeface="Work Sans"/>
                <a:ea typeface="Work Sans"/>
                <a:cs typeface="Work Sans"/>
                <a:sym typeface="Work Sans"/>
              </a:rPr>
              <a:t>Pruebas con usuarios cercanos</a:t>
            </a:r>
            <a:r>
              <a:rPr lang="en-US" sz="1125">
                <a:solidFill>
                  <a:srgbClr val="475569"/>
                </a:solidFill>
                <a:latin typeface="Work Sans"/>
                <a:ea typeface="Work Sans"/>
                <a:cs typeface="Work Sans"/>
                <a:sym typeface="Work Sans"/>
              </a:rPr>
              <a:t>, alumnos y profesores</a:t>
            </a:r>
            <a:endParaRPr/>
          </a:p>
        </p:txBody>
      </p:sp>
      <p:sp>
        <p:nvSpPr>
          <p:cNvPr id="290" name="Google Shape;290;p27"/>
          <p:cNvSpPr txBox="1"/>
          <p:nvPr/>
        </p:nvSpPr>
        <p:spPr>
          <a:xfrm>
            <a:off x="8353425" y="2434762"/>
            <a:ext cx="3838500" cy="207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50" u="none" cap="none" strike="noStrike">
                <a:solidFill>
                  <a:srgbClr val="0F172A"/>
                </a:solidFill>
                <a:latin typeface="Work Sans"/>
                <a:ea typeface="Work Sans"/>
                <a:cs typeface="Work Sans"/>
                <a:sym typeface="Work Sans"/>
              </a:rPr>
              <a:t>Hosting &amp; Dominio</a:t>
            </a:r>
            <a:endParaRPr/>
          </a:p>
        </p:txBody>
      </p:sp>
      <p:sp>
        <p:nvSpPr>
          <p:cNvPr id="291" name="Google Shape;291;p27"/>
          <p:cNvSpPr txBox="1"/>
          <p:nvPr/>
        </p:nvSpPr>
        <p:spPr>
          <a:xfrm>
            <a:off x="8343900" y="3161962"/>
            <a:ext cx="3048000" cy="346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125" u="none" cap="none" strike="noStrike">
                <a:solidFill>
                  <a:srgbClr val="475569"/>
                </a:solidFill>
                <a:latin typeface="Work Sans"/>
                <a:ea typeface="Work Sans"/>
                <a:cs typeface="Work Sans"/>
                <a:sym typeface="Work Sans"/>
              </a:rPr>
              <a:t>Despliegue y pruebas ejecutados exclusivamente en entorno local.</a:t>
            </a:r>
            <a:endParaRPr/>
          </a:p>
        </p:txBody>
      </p:sp>
      <p:sp>
        <p:nvSpPr>
          <p:cNvPr id="292" name="Google Shape;292;p27"/>
          <p:cNvSpPr/>
          <p:nvPr/>
        </p:nvSpPr>
        <p:spPr>
          <a:xfrm>
            <a:off x="1692025" y="4448750"/>
            <a:ext cx="3624600" cy="1609800"/>
          </a:xfrm>
          <a:prstGeom prst="roundRect">
            <a:avLst>
              <a:gd fmla="val 7100" name="adj"/>
            </a:avLst>
          </a:prstGeom>
          <a:solidFill>
            <a:srgbClr val="FFFFFF"/>
          </a:solidFill>
          <a:ln cap="flat" cmpd="sng" w="952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3" name="Google Shape;293;p27"/>
          <p:cNvSpPr txBox="1"/>
          <p:nvPr/>
        </p:nvSpPr>
        <p:spPr>
          <a:xfrm>
            <a:off x="1958713" y="4991687"/>
            <a:ext cx="3067200" cy="2310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Font typeface="Arial"/>
              <a:buNone/>
            </a:pPr>
            <a:r>
              <a:rPr b="1" lang="en-US" sz="1500">
                <a:solidFill>
                  <a:srgbClr val="0F172A"/>
                </a:solidFill>
                <a:latin typeface="Work Sans"/>
                <a:ea typeface="Work Sans"/>
                <a:cs typeface="Work Sans"/>
                <a:sym typeface="Work Sans"/>
              </a:rPr>
              <a:t>120 €/año</a:t>
            </a:r>
            <a:endParaRPr/>
          </a:p>
        </p:txBody>
      </p:sp>
      <p:sp>
        <p:nvSpPr>
          <p:cNvPr id="294" name="Google Shape;294;p27"/>
          <p:cNvSpPr txBox="1"/>
          <p:nvPr/>
        </p:nvSpPr>
        <p:spPr>
          <a:xfrm>
            <a:off x="1881238" y="4620137"/>
            <a:ext cx="38754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Font typeface="Arial"/>
              <a:buNone/>
            </a:pPr>
            <a:r>
              <a:rPr b="1" lang="en-US" sz="1350">
                <a:solidFill>
                  <a:srgbClr val="0F172A"/>
                </a:solidFill>
                <a:latin typeface="Work Sans"/>
                <a:ea typeface="Work Sans"/>
                <a:cs typeface="Work Sans"/>
                <a:sym typeface="Work Sans"/>
              </a:rPr>
              <a:t>Copias de seguridad y almacenamiento </a:t>
            </a:r>
            <a:endParaRPr sz="1000">
              <a:latin typeface="Times New Roman"/>
              <a:ea typeface="Times New Roman"/>
              <a:cs typeface="Times New Roman"/>
              <a:sym typeface="Times New Roman"/>
            </a:endParaRPr>
          </a:p>
          <a:p>
            <a:pPr indent="0" lvl="0" marL="0" marR="0" rtl="0" algn="l">
              <a:spcBef>
                <a:spcPts val="0"/>
              </a:spcBef>
              <a:spcAft>
                <a:spcPts val="0"/>
              </a:spcAft>
              <a:buNone/>
            </a:pPr>
            <a:r>
              <a:t/>
            </a:r>
            <a:endParaRPr b="1" sz="1350">
              <a:solidFill>
                <a:srgbClr val="0F172A"/>
              </a:solidFill>
              <a:latin typeface="Work Sans"/>
              <a:ea typeface="Work Sans"/>
              <a:cs typeface="Work Sans"/>
              <a:sym typeface="Work Sans"/>
            </a:endParaRPr>
          </a:p>
        </p:txBody>
      </p:sp>
      <p:sp>
        <p:nvSpPr>
          <p:cNvPr id="295" name="Google Shape;295;p27"/>
          <p:cNvSpPr/>
          <p:nvPr/>
        </p:nvSpPr>
        <p:spPr>
          <a:xfrm>
            <a:off x="5934050" y="4494275"/>
            <a:ext cx="3624600" cy="1609800"/>
          </a:xfrm>
          <a:prstGeom prst="roundRect">
            <a:avLst>
              <a:gd fmla="val 7100" name="adj"/>
            </a:avLst>
          </a:prstGeom>
          <a:solidFill>
            <a:srgbClr val="FFFFFF"/>
          </a:solidFill>
          <a:ln cap="flat" cmpd="sng" w="952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6" name="Google Shape;296;p27"/>
          <p:cNvSpPr txBox="1"/>
          <p:nvPr/>
        </p:nvSpPr>
        <p:spPr>
          <a:xfrm>
            <a:off x="6200738" y="5037212"/>
            <a:ext cx="3067200" cy="2310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US" sz="1500">
                <a:solidFill>
                  <a:srgbClr val="0F172A"/>
                </a:solidFill>
                <a:latin typeface="Work Sans"/>
                <a:ea typeface="Work Sans"/>
                <a:cs typeface="Work Sans"/>
                <a:sym typeface="Work Sans"/>
              </a:rPr>
              <a:t>1.080 €/año</a:t>
            </a:r>
            <a:endParaRPr/>
          </a:p>
        </p:txBody>
      </p:sp>
      <p:sp>
        <p:nvSpPr>
          <p:cNvPr id="297" name="Google Shape;297;p27"/>
          <p:cNvSpPr txBox="1"/>
          <p:nvPr/>
        </p:nvSpPr>
        <p:spPr>
          <a:xfrm>
            <a:off x="6123263" y="4665662"/>
            <a:ext cx="38754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1350">
                <a:solidFill>
                  <a:srgbClr val="0F172A"/>
                </a:solidFill>
                <a:latin typeface="Work Sans"/>
                <a:ea typeface="Work Sans"/>
                <a:cs typeface="Work Sans"/>
                <a:sym typeface="Work Sans"/>
              </a:rPr>
              <a:t>Mantenimiento anual</a:t>
            </a:r>
            <a:endParaRPr sz="1000">
              <a:latin typeface="Times New Roman"/>
              <a:ea typeface="Times New Roman"/>
              <a:cs typeface="Times New Roman"/>
              <a:sym typeface="Times New Roman"/>
            </a:endParaRPr>
          </a:p>
          <a:p>
            <a:pPr indent="0" lvl="0" marL="0" marR="0" rtl="0" algn="l">
              <a:spcBef>
                <a:spcPts val="0"/>
              </a:spcBef>
              <a:spcAft>
                <a:spcPts val="0"/>
              </a:spcAft>
              <a:buNone/>
            </a:pPr>
            <a:r>
              <a:t/>
            </a:r>
            <a:endParaRPr b="1" sz="1350">
              <a:solidFill>
                <a:srgbClr val="0F172A"/>
              </a:solidFill>
              <a:latin typeface="Work Sans"/>
              <a:ea typeface="Work Sans"/>
              <a:cs typeface="Work Sans"/>
              <a:sym typeface="Work Sans"/>
            </a:endParaRPr>
          </a:p>
        </p:txBody>
      </p:sp>
      <p:sp>
        <p:nvSpPr>
          <p:cNvPr id="298" name="Google Shape;298;p27"/>
          <p:cNvSpPr txBox="1"/>
          <p:nvPr/>
        </p:nvSpPr>
        <p:spPr>
          <a:xfrm>
            <a:off x="6210350" y="5411037"/>
            <a:ext cx="3048000" cy="519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125">
                <a:solidFill>
                  <a:srgbClr val="475569"/>
                </a:solidFill>
                <a:latin typeface="Work Sans"/>
                <a:ea typeface="Work Sans"/>
                <a:cs typeface="Work Sans"/>
                <a:sym typeface="Work Sans"/>
              </a:rPr>
              <a:t>Posibles mejoras, cambios tras errores expuestos por clientes y nuevas funciones y actualizaciones.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302" name="Shape 302"/>
        <p:cNvGrpSpPr/>
        <p:nvPr/>
      </p:nvGrpSpPr>
      <p:grpSpPr>
        <a:xfrm>
          <a:off x="0" y="0"/>
          <a:ext cx="0" cy="0"/>
          <a:chOff x="0" y="0"/>
          <a:chExt cx="0" cy="0"/>
        </a:xfrm>
      </p:grpSpPr>
      <p:sp>
        <p:nvSpPr>
          <p:cNvPr id="303" name="Google Shape;303;p28"/>
          <p:cNvSpPr/>
          <p:nvPr/>
        </p:nvSpPr>
        <p:spPr>
          <a:xfrm>
            <a:off x="609550" y="2198500"/>
            <a:ext cx="5334000" cy="2067000"/>
          </a:xfrm>
          <a:prstGeom prst="roundRect">
            <a:avLst>
              <a:gd fmla="val 7373" name="adj"/>
            </a:avLst>
          </a:prstGeom>
          <a:solidFill>
            <a:srgbClr val="FFFFFF"/>
          </a:solidFill>
          <a:ln cap="flat" cmpd="sng" w="952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4" name="Google Shape;304;p28"/>
          <p:cNvSpPr/>
          <p:nvPr/>
        </p:nvSpPr>
        <p:spPr>
          <a:xfrm>
            <a:off x="6248350" y="2198500"/>
            <a:ext cx="5334000" cy="2067000"/>
          </a:xfrm>
          <a:prstGeom prst="roundRect">
            <a:avLst>
              <a:gd fmla="val 7373" name="adj"/>
            </a:avLst>
          </a:prstGeom>
          <a:solidFill>
            <a:srgbClr val="FFFFFF"/>
          </a:solidFill>
          <a:ln cap="flat" cmpd="sng" w="952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5" name="Google Shape;305;p28"/>
          <p:cNvSpPr txBox="1"/>
          <p:nvPr/>
        </p:nvSpPr>
        <p:spPr>
          <a:xfrm>
            <a:off x="609600" y="457200"/>
            <a:ext cx="11582400" cy="171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2F91F9"/>
                </a:solidFill>
                <a:latin typeface="JetBrains Mono"/>
                <a:ea typeface="JetBrains Mono"/>
                <a:cs typeface="JetBrains Mono"/>
                <a:sym typeface="JetBrains Mono"/>
              </a:rPr>
              <a:t>4. PRESUPUESTO BÁSICO</a:t>
            </a:r>
            <a:endParaRPr/>
          </a:p>
        </p:txBody>
      </p:sp>
      <p:sp>
        <p:nvSpPr>
          <p:cNvPr id="306" name="Google Shape;306;p28"/>
          <p:cNvSpPr txBox="1"/>
          <p:nvPr/>
        </p:nvSpPr>
        <p:spPr>
          <a:xfrm>
            <a:off x="609600" y="704850"/>
            <a:ext cx="11582400" cy="3619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400" u="none" cap="none" strike="noStrike">
                <a:solidFill>
                  <a:srgbClr val="0F172A"/>
                </a:solidFill>
                <a:latin typeface="Work Sans"/>
                <a:ea typeface="Work Sans"/>
                <a:cs typeface="Work Sans"/>
                <a:sym typeface="Work Sans"/>
              </a:rPr>
              <a:t>Resumen del Presupuesto</a:t>
            </a:r>
            <a:endParaRPr/>
          </a:p>
        </p:txBody>
      </p:sp>
      <p:sp>
        <p:nvSpPr>
          <p:cNvPr id="307" name="Google Shape;307;p28"/>
          <p:cNvSpPr txBox="1"/>
          <p:nvPr/>
        </p:nvSpPr>
        <p:spPr>
          <a:xfrm>
            <a:off x="430956" y="2589025"/>
            <a:ext cx="5691300" cy="1731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125" u="none" cap="none" strike="noStrike">
                <a:solidFill>
                  <a:srgbClr val="64748B"/>
                </a:solidFill>
                <a:latin typeface="Work Sans"/>
                <a:ea typeface="Work Sans"/>
                <a:cs typeface="Work Sans"/>
                <a:sym typeface="Work Sans"/>
              </a:rPr>
              <a:t>COSTE DIRECTO REAL</a:t>
            </a:r>
            <a:endParaRPr/>
          </a:p>
        </p:txBody>
      </p:sp>
      <p:sp>
        <p:nvSpPr>
          <p:cNvPr id="308" name="Google Shape;308;p28"/>
          <p:cNvSpPr txBox="1"/>
          <p:nvPr/>
        </p:nvSpPr>
        <p:spPr>
          <a:xfrm>
            <a:off x="430956" y="2874775"/>
            <a:ext cx="5691300" cy="646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4200" u="none" cap="none" strike="noStrike">
                <a:solidFill>
                  <a:srgbClr val="0F172A"/>
                </a:solidFill>
                <a:latin typeface="JetBrains Mono"/>
                <a:ea typeface="JetBrains Mono"/>
                <a:cs typeface="JetBrains Mono"/>
                <a:sym typeface="JetBrains Mono"/>
              </a:rPr>
              <a:t>0 €</a:t>
            </a:r>
            <a:endParaRPr/>
          </a:p>
        </p:txBody>
      </p:sp>
      <p:sp>
        <p:nvSpPr>
          <p:cNvPr id="309" name="Google Shape;309;p28"/>
          <p:cNvSpPr txBox="1"/>
          <p:nvPr/>
        </p:nvSpPr>
        <p:spPr>
          <a:xfrm>
            <a:off x="430956" y="3693925"/>
            <a:ext cx="5691300" cy="1848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200" u="none" cap="none" strike="noStrike">
                <a:solidFill>
                  <a:srgbClr val="475569"/>
                </a:solidFill>
                <a:latin typeface="Work Sans"/>
                <a:ea typeface="Work Sans"/>
                <a:cs typeface="Work Sans"/>
                <a:sym typeface="Work Sans"/>
              </a:rPr>
              <a:t>Proyecto académico apoyado en software libre.</a:t>
            </a:r>
            <a:endParaRPr/>
          </a:p>
        </p:txBody>
      </p:sp>
      <p:sp>
        <p:nvSpPr>
          <p:cNvPr id="310" name="Google Shape;310;p28"/>
          <p:cNvSpPr txBox="1"/>
          <p:nvPr/>
        </p:nvSpPr>
        <p:spPr>
          <a:xfrm>
            <a:off x="6069756" y="2589025"/>
            <a:ext cx="5691300" cy="1731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125" u="none" cap="none" strike="noStrike">
                <a:solidFill>
                  <a:srgbClr val="64748B"/>
                </a:solidFill>
                <a:latin typeface="Work Sans"/>
                <a:ea typeface="Work Sans"/>
                <a:cs typeface="Work Sans"/>
                <a:sym typeface="Work Sans"/>
              </a:rPr>
              <a:t>VALOR ESTIMADO DEL PROYECTO</a:t>
            </a:r>
            <a:endParaRPr/>
          </a:p>
        </p:txBody>
      </p:sp>
      <p:sp>
        <p:nvSpPr>
          <p:cNvPr id="311" name="Google Shape;311;p28"/>
          <p:cNvSpPr txBox="1"/>
          <p:nvPr/>
        </p:nvSpPr>
        <p:spPr>
          <a:xfrm>
            <a:off x="6069756" y="2874775"/>
            <a:ext cx="5691300" cy="646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4200">
                <a:solidFill>
                  <a:srgbClr val="2F91F9"/>
                </a:solidFill>
                <a:latin typeface="JetBrains Mono"/>
                <a:ea typeface="JetBrains Mono"/>
                <a:cs typeface="JetBrains Mono"/>
                <a:sym typeface="JetBrains Mono"/>
              </a:rPr>
              <a:t>10</a:t>
            </a:r>
            <a:r>
              <a:rPr b="1" i="0" lang="en-US" sz="4200" u="none" cap="none" strike="noStrike">
                <a:solidFill>
                  <a:srgbClr val="2F91F9"/>
                </a:solidFill>
                <a:latin typeface="JetBrains Mono"/>
                <a:ea typeface="JetBrains Mono"/>
                <a:cs typeface="JetBrains Mono"/>
                <a:sym typeface="JetBrains Mono"/>
              </a:rPr>
              <a:t>.</a:t>
            </a:r>
            <a:r>
              <a:rPr b="1" lang="en-US" sz="4200">
                <a:solidFill>
                  <a:srgbClr val="2F91F9"/>
                </a:solidFill>
                <a:latin typeface="JetBrains Mono"/>
                <a:ea typeface="JetBrains Mono"/>
                <a:cs typeface="JetBrains Mono"/>
                <a:sym typeface="JetBrains Mono"/>
              </a:rPr>
              <a:t>8</a:t>
            </a:r>
            <a:r>
              <a:rPr b="1" i="0" lang="en-US" sz="4200" u="none" cap="none" strike="noStrike">
                <a:solidFill>
                  <a:srgbClr val="2F91F9"/>
                </a:solidFill>
                <a:latin typeface="JetBrains Mono"/>
                <a:ea typeface="JetBrains Mono"/>
                <a:cs typeface="JetBrains Mono"/>
                <a:sym typeface="JetBrains Mono"/>
              </a:rPr>
              <a:t>00 €</a:t>
            </a:r>
            <a:endParaRPr/>
          </a:p>
        </p:txBody>
      </p:sp>
      <p:sp>
        <p:nvSpPr>
          <p:cNvPr id="312" name="Google Shape;312;p28"/>
          <p:cNvSpPr txBox="1"/>
          <p:nvPr/>
        </p:nvSpPr>
        <p:spPr>
          <a:xfrm>
            <a:off x="6069756" y="3693925"/>
            <a:ext cx="5691300" cy="1848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200" u="none" cap="none" strike="noStrike">
                <a:solidFill>
                  <a:srgbClr val="475569"/>
                </a:solidFill>
                <a:latin typeface="Work Sans"/>
                <a:ea typeface="Work Sans"/>
                <a:cs typeface="Work Sans"/>
                <a:sym typeface="Work Sans"/>
              </a:rPr>
              <a:t>Valoración del tiempo de trabajo del equipo.</a:t>
            </a:r>
            <a:endParaRPr/>
          </a:p>
        </p:txBody>
      </p:sp>
      <p:sp>
        <p:nvSpPr>
          <p:cNvPr id="313" name="Google Shape;313;p28"/>
          <p:cNvSpPr/>
          <p:nvPr/>
        </p:nvSpPr>
        <p:spPr>
          <a:xfrm>
            <a:off x="3480700" y="4542562"/>
            <a:ext cx="5334000" cy="2067000"/>
          </a:xfrm>
          <a:prstGeom prst="roundRect">
            <a:avLst>
              <a:gd fmla="val 7373" name="adj"/>
            </a:avLst>
          </a:prstGeom>
          <a:solidFill>
            <a:srgbClr val="FFFFFF"/>
          </a:solidFill>
          <a:ln cap="flat" cmpd="sng" w="952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4" name="Google Shape;314;p28"/>
          <p:cNvSpPr txBox="1"/>
          <p:nvPr/>
        </p:nvSpPr>
        <p:spPr>
          <a:xfrm>
            <a:off x="3302106" y="4933087"/>
            <a:ext cx="5691300" cy="1731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125" u="none" cap="none" strike="noStrike">
                <a:solidFill>
                  <a:srgbClr val="64748B"/>
                </a:solidFill>
                <a:latin typeface="Work Sans"/>
                <a:ea typeface="Work Sans"/>
                <a:cs typeface="Work Sans"/>
                <a:sym typeface="Work Sans"/>
              </a:rPr>
              <a:t>VALOR ESTIMADO </a:t>
            </a:r>
            <a:r>
              <a:rPr b="1" lang="en-US" sz="1125">
                <a:solidFill>
                  <a:srgbClr val="64748B"/>
                </a:solidFill>
                <a:latin typeface="Work Sans"/>
                <a:ea typeface="Work Sans"/>
                <a:cs typeface="Work Sans"/>
                <a:sym typeface="Work Sans"/>
              </a:rPr>
              <a:t>PARA </a:t>
            </a:r>
            <a:r>
              <a:rPr b="1" lang="en-US" sz="1125">
                <a:solidFill>
                  <a:srgbClr val="64748B"/>
                </a:solidFill>
                <a:latin typeface="Work Sans"/>
                <a:ea typeface="Work Sans"/>
                <a:cs typeface="Work Sans"/>
                <a:sym typeface="Work Sans"/>
              </a:rPr>
              <a:t>PRODUCCIÓN</a:t>
            </a:r>
            <a:endParaRPr/>
          </a:p>
        </p:txBody>
      </p:sp>
      <p:sp>
        <p:nvSpPr>
          <p:cNvPr id="315" name="Google Shape;315;p28"/>
          <p:cNvSpPr txBox="1"/>
          <p:nvPr/>
        </p:nvSpPr>
        <p:spPr>
          <a:xfrm>
            <a:off x="3302106" y="5218837"/>
            <a:ext cx="5691300" cy="646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4200">
                <a:solidFill>
                  <a:srgbClr val="2F91F9"/>
                </a:solidFill>
                <a:latin typeface="JetBrains Mono"/>
                <a:ea typeface="JetBrains Mono"/>
                <a:cs typeface="JetBrains Mono"/>
                <a:sym typeface="JetBrains Mono"/>
              </a:rPr>
              <a:t>11</a:t>
            </a:r>
            <a:r>
              <a:rPr b="1" i="0" lang="en-US" sz="4200" u="none" cap="none" strike="noStrike">
                <a:solidFill>
                  <a:srgbClr val="2F91F9"/>
                </a:solidFill>
                <a:latin typeface="JetBrains Mono"/>
                <a:ea typeface="JetBrains Mono"/>
                <a:cs typeface="JetBrains Mono"/>
                <a:sym typeface="JetBrains Mono"/>
              </a:rPr>
              <a:t>.</a:t>
            </a:r>
            <a:r>
              <a:rPr b="1" lang="en-US" sz="4200">
                <a:solidFill>
                  <a:srgbClr val="2F91F9"/>
                </a:solidFill>
                <a:latin typeface="JetBrains Mono"/>
                <a:ea typeface="JetBrains Mono"/>
                <a:cs typeface="JetBrains Mono"/>
                <a:sym typeface="JetBrains Mono"/>
              </a:rPr>
              <a:t>235</a:t>
            </a:r>
            <a:r>
              <a:rPr b="1" i="0" lang="en-US" sz="4200" u="none" cap="none" strike="noStrike">
                <a:solidFill>
                  <a:srgbClr val="2F91F9"/>
                </a:solidFill>
                <a:latin typeface="JetBrains Mono"/>
                <a:ea typeface="JetBrains Mono"/>
                <a:cs typeface="JetBrains Mono"/>
                <a:sym typeface="JetBrains Mono"/>
              </a:rPr>
              <a:t>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117"/>
        </a:solidFill>
      </p:bgPr>
    </p:bg>
    <p:spTree>
      <p:nvGrpSpPr>
        <p:cNvPr id="319" name="Shape 319"/>
        <p:cNvGrpSpPr/>
        <p:nvPr/>
      </p:nvGrpSpPr>
      <p:grpSpPr>
        <a:xfrm>
          <a:off x="0" y="0"/>
          <a:ext cx="0" cy="0"/>
          <a:chOff x="0" y="0"/>
          <a:chExt cx="0" cy="0"/>
        </a:xfrm>
      </p:grpSpPr>
      <p:sp>
        <p:nvSpPr>
          <p:cNvPr id="320" name="Google Shape;320;p29"/>
          <p:cNvSpPr txBox="1"/>
          <p:nvPr/>
        </p:nvSpPr>
        <p:spPr>
          <a:xfrm>
            <a:off x="4655343" y="2728912"/>
            <a:ext cx="2881200" cy="1848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200" u="none" cap="none" strike="noStrike">
                <a:solidFill>
                  <a:srgbClr val="2F91F9"/>
                </a:solidFill>
                <a:latin typeface="JetBrains Mono"/>
                <a:ea typeface="JetBrains Mono"/>
                <a:cs typeface="JetBrains Mono"/>
                <a:sym typeface="JetBrains Mono"/>
              </a:rPr>
              <a:t>STOCKLINK · </a:t>
            </a:r>
            <a:r>
              <a:rPr lang="en-US" sz="1200">
                <a:solidFill>
                  <a:srgbClr val="2F91F9"/>
                </a:solidFill>
                <a:latin typeface="JetBrains Mono"/>
                <a:ea typeface="JetBrains Mono"/>
                <a:cs typeface="JetBrains Mono"/>
                <a:sym typeface="JetBrains Mono"/>
              </a:rPr>
              <a:t>FINAL</a:t>
            </a:r>
            <a:endParaRPr/>
          </a:p>
        </p:txBody>
      </p:sp>
      <p:sp>
        <p:nvSpPr>
          <p:cNvPr id="321" name="Google Shape;321;p29"/>
          <p:cNvSpPr txBox="1"/>
          <p:nvPr/>
        </p:nvSpPr>
        <p:spPr>
          <a:xfrm>
            <a:off x="1326653" y="3081337"/>
            <a:ext cx="9538692" cy="6286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4200" u="none" cap="none" strike="noStrike">
                <a:solidFill>
                  <a:srgbClr val="FFFFFF"/>
                </a:solidFill>
                <a:latin typeface="Work Sans"/>
                <a:ea typeface="Work Sans"/>
                <a:cs typeface="Work Sans"/>
                <a:sym typeface="Work Sans"/>
              </a:rPr>
              <a:t>¿Preguntas o Comentarios?</a:t>
            </a:r>
            <a:endParaRPr/>
          </a:p>
        </p:txBody>
      </p:sp>
      <p:sp>
        <p:nvSpPr>
          <p:cNvPr id="322" name="Google Shape;322;p29"/>
          <p:cNvSpPr txBox="1"/>
          <p:nvPr/>
        </p:nvSpPr>
        <p:spPr>
          <a:xfrm>
            <a:off x="4720828" y="3900487"/>
            <a:ext cx="2750343" cy="2286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500" u="none" cap="none" strike="noStrike">
                <a:solidFill>
                  <a:srgbClr val="94A3B8"/>
                </a:solidFill>
                <a:latin typeface="Work Sans"/>
                <a:ea typeface="Work Sans"/>
                <a:cs typeface="Work Sans"/>
                <a:sym typeface="Work Sans"/>
              </a:rPr>
              <a:t>Gracias por su atención</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